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16bac1c34d4aa2" /><Relationship Type="http://schemas.openxmlformats.org/officeDocument/2006/relationships/extended-properties" Target="/docProps/app.xml" Id="Rab399d488c014621" /><Relationship Type="http://schemas.openxmlformats.org/officeDocument/2006/relationships/officeDocument" Target="/ppt/presentation.xml" Id="Rd6af480cb19c47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a0a7b1ab824d30"/>
  </p:sldMasterIdLst>
  <p:notesMasterIdLst>
    <p:notesMasterId xmlns:r="http://schemas.openxmlformats.org/officeDocument/2006/relationships" r:id="R9e0365558c774391"/>
  </p:notesMasterIdLst>
  <p:sldIdLst>
    <p:sldId xmlns:r="http://schemas.openxmlformats.org/officeDocument/2006/relationships" id="256" r:id="R820603fc9e124bc1"/>
    <p:sldId xmlns:r="http://schemas.openxmlformats.org/officeDocument/2006/relationships" id="257" r:id="Raa300a73acc7419f"/>
    <p:sldId xmlns:r="http://schemas.openxmlformats.org/officeDocument/2006/relationships" id="258" r:id="R9abf6e441ecb40e3"/>
    <p:sldId xmlns:r="http://schemas.openxmlformats.org/officeDocument/2006/relationships" id="259" r:id="Re5de3dbe9ad94c04"/>
    <p:sldId xmlns:r="http://schemas.openxmlformats.org/officeDocument/2006/relationships" id="260" r:id="R3120ddd44606428c"/>
    <p:sldId xmlns:r="http://schemas.openxmlformats.org/officeDocument/2006/relationships" id="261" r:id="R3d574ad5244d43c3"/>
    <p:sldId xmlns:r="http://schemas.openxmlformats.org/officeDocument/2006/relationships" id="262" r:id="R486078896c9e482d"/>
    <p:sldId xmlns:r="http://schemas.openxmlformats.org/officeDocument/2006/relationships" id="263" r:id="R924ee04418c544a1"/>
    <p:sldId xmlns:r="http://schemas.openxmlformats.org/officeDocument/2006/relationships" id="264" r:id="Rea28f877ee7e473a"/>
    <p:sldId xmlns:r="http://schemas.openxmlformats.org/officeDocument/2006/relationships" id="265" r:id="Rf0d470224b084484"/>
    <p:sldId xmlns:r="http://schemas.openxmlformats.org/officeDocument/2006/relationships" id="266" r:id="R9850166bbc1c421b"/>
    <p:sldId xmlns:r="http://schemas.openxmlformats.org/officeDocument/2006/relationships" id="267" r:id="Rb44c86b7d1c645c5"/>
    <p:sldId xmlns:r="http://schemas.openxmlformats.org/officeDocument/2006/relationships" id="268" r:id="Rf4f614f884494d95"/>
    <p:sldId xmlns:r="http://schemas.openxmlformats.org/officeDocument/2006/relationships" id="269" r:id="Rb52044ec4c7a474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e26901baf54a81" /><Relationship Type="http://schemas.openxmlformats.org/officeDocument/2006/relationships/slideMaster" Target="/ppt/slideMasters/slideMaster1.xml" Id="R0aa0a7b1ab824d30" /><Relationship Type="http://schemas.openxmlformats.org/officeDocument/2006/relationships/notesMaster" Target="/ppt/notesMasters/notesMaster1.xml" Id="R9e0365558c774391" /><Relationship Type="http://schemas.openxmlformats.org/officeDocument/2006/relationships/presProps" Target="/ppt/presProps.xml" Id="Rcc9c556060b84487" /><Relationship Type="http://schemas.openxmlformats.org/officeDocument/2006/relationships/tableStyles" Target="/ppt/tableStyles.xml" Id="R87a7af6b3aa3462d" /><Relationship Type="http://schemas.openxmlformats.org/officeDocument/2006/relationships/slide" Target="/ppt/slides/slide1.xml" Id="R820603fc9e124bc1" /><Relationship Type="http://schemas.openxmlformats.org/officeDocument/2006/relationships/slide" Target="/ppt/slides/slide2.xml" Id="Raa300a73acc7419f" /><Relationship Type="http://schemas.openxmlformats.org/officeDocument/2006/relationships/slide" Target="/ppt/slides/slide3.xml" Id="R9abf6e441ecb40e3" /><Relationship Type="http://schemas.openxmlformats.org/officeDocument/2006/relationships/slide" Target="/ppt/slides/slide4.xml" Id="Re5de3dbe9ad94c04" /><Relationship Type="http://schemas.openxmlformats.org/officeDocument/2006/relationships/slide" Target="/ppt/slides/slide5.xml" Id="R3120ddd44606428c" /><Relationship Type="http://schemas.openxmlformats.org/officeDocument/2006/relationships/slide" Target="/ppt/slides/slide6.xml" Id="R3d574ad5244d43c3" /><Relationship Type="http://schemas.openxmlformats.org/officeDocument/2006/relationships/slide" Target="/ppt/slides/slide7.xml" Id="R486078896c9e482d" /><Relationship Type="http://schemas.openxmlformats.org/officeDocument/2006/relationships/slide" Target="/ppt/slides/slide8.xml" Id="R924ee04418c544a1" /><Relationship Type="http://schemas.openxmlformats.org/officeDocument/2006/relationships/slide" Target="/ppt/slides/slide9.xml" Id="Rea28f877ee7e473a" /><Relationship Type="http://schemas.openxmlformats.org/officeDocument/2006/relationships/slide" Target="/ppt/slides/slide10.xml" Id="Rf0d470224b084484" /><Relationship Type="http://schemas.openxmlformats.org/officeDocument/2006/relationships/slide" Target="/ppt/slides/slide11.xml" Id="R9850166bbc1c421b" /><Relationship Type="http://schemas.openxmlformats.org/officeDocument/2006/relationships/slide" Target="/ppt/slides/slide12.xml" Id="Rb44c86b7d1c645c5" /><Relationship Type="http://schemas.openxmlformats.org/officeDocument/2006/relationships/slide" Target="/ppt/slides/slide13.xml" Id="Rf4f614f884494d95" /><Relationship Type="http://schemas.openxmlformats.org/officeDocument/2006/relationships/slide" Target="/ppt/slides/slide14.xml" Id="Rb52044ec4c7a47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0bf48f6c344f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d508db8ddb457a" /><Relationship Type="http://schemas.openxmlformats.org/officeDocument/2006/relationships/notesMaster" Target="/ppt/notesMasters/notesMaster1.xml" Id="R2ac4068bd3d542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6bf992b7ec40f7" /><Relationship Type="http://schemas.openxmlformats.org/officeDocument/2006/relationships/notesMaster" Target="/ppt/notesMasters/notesMaster1.xml" Id="Reda3acc8a94a43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99097146004354" /><Relationship Type="http://schemas.openxmlformats.org/officeDocument/2006/relationships/notesMaster" Target="/ppt/notesMasters/notesMaster1.xml" Id="Rd1c724d17bb947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508c93b7a04f29" /><Relationship Type="http://schemas.openxmlformats.org/officeDocument/2006/relationships/notesMaster" Target="/ppt/notesMasters/notesMaster1.xml" Id="Ra210efd7b27e4a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d3b6b3789d4da5" /><Relationship Type="http://schemas.openxmlformats.org/officeDocument/2006/relationships/notesMaster" Target="/ppt/notesMasters/notesMaster1.xml" Id="R83d7d704cb934f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97d120ec694cfc" /><Relationship Type="http://schemas.openxmlformats.org/officeDocument/2006/relationships/notesMaster" Target="/ppt/notesMasters/notesMaster1.xml" Id="Rf9e93a730e8343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88a7faa7734a47" /><Relationship Type="http://schemas.openxmlformats.org/officeDocument/2006/relationships/notesMaster" Target="/ppt/notesMasters/notesMaster1.xml" Id="Rfef73e2145764e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3715d3478b4d20" /><Relationship Type="http://schemas.openxmlformats.org/officeDocument/2006/relationships/notesMaster" Target="/ppt/notesMasters/notesMaster1.xml" Id="R730e7c76b6ef4a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4f8a1658fc42f6" /><Relationship Type="http://schemas.openxmlformats.org/officeDocument/2006/relationships/notesMaster" Target="/ppt/notesMasters/notesMaster1.xml" Id="R17c59d9f6be142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49d68a6a804af5" /><Relationship Type="http://schemas.openxmlformats.org/officeDocument/2006/relationships/notesMaster" Target="/ppt/notesMasters/notesMaster1.xml" Id="Rdc06ad0bc13245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095a7241bb4b8b" /><Relationship Type="http://schemas.openxmlformats.org/officeDocument/2006/relationships/notesMaster" Target="/ppt/notesMasters/notesMaster1.xml" Id="R733ae8c25d344e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37fcab4be74ad7" /><Relationship Type="http://schemas.openxmlformats.org/officeDocument/2006/relationships/notesMaster" Target="/ppt/notesMasters/notesMaster1.xml" Id="R36bec4bbfbc743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fec29ec0a2488d" /><Relationship Type="http://schemas.openxmlformats.org/officeDocument/2006/relationships/notesMaster" Target="/ppt/notesMasters/notesMaster1.xml" Id="R2d7c611c7b9d49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83029466194a68" /><Relationship Type="http://schemas.openxmlformats.org/officeDocument/2006/relationships/notesMaster" Target="/ppt/notesMasters/notesMaster1.xml" Id="Rb5459d6ad74e4b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central message: PantryPilot is useful only if the intelligent parts are bounded by traceable and testable quality controls.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previews exactly how the deck answers the prompt.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from the user's point of view and then bridge into quality concerns.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Distinguish the completed course baseline from future intelligent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most important design choice is the separation of nondeterministic AI suggestions from deterministic safety gates.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satisfies the group-member role requirement while being transparent that the submission is individual.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risk management is not a one-time list. The report keeps historical weekly records and changes status when a risk is controlled or retired.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bar chart supports the risk discussion with the scores from the risk management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connects risk tracking to concrete changes and test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CM as a controlled lifecycle, not just a file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gives the concrete evidence expected by the CM assignment.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system tests were chosen around release-level behavior and the most important risks from the risk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proof point for the final system-testing requirement.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tying the semester project back to the CISC 594 course themes: risk, configuration control, and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4b60961c764d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0b90194c7349b4" /><Relationship Type="http://schemas.openxmlformats.org/officeDocument/2006/relationships/slideLayout" Target="/ppt/slideLayouts/slideLayout1.xml" Id="R3f754808cfba4d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754808cfba4d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90a78e22d4f4b" /><Relationship Type="http://schemas.openxmlformats.org/officeDocument/2006/relationships/notesSlide" Target="/ppt/notesSlides/notesSlide1.xml" Id="Rbd7295887c4542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efad60e8045a4" /><Relationship Type="http://schemas.openxmlformats.org/officeDocument/2006/relationships/notesSlide" Target="/ppt/notesSlides/notesSlide2.xml" Id="R0cd0ccc2f0fc4f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81093ff6f45bf" /><Relationship Type="http://schemas.openxmlformats.org/officeDocument/2006/relationships/notesSlide" Target="/ppt/notesSlides/notesSlide3.xml" Id="R80cff96b4bf349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ee66d5d8c4f55" /><Relationship Type="http://schemas.openxmlformats.org/officeDocument/2006/relationships/notesSlide" Target="/ppt/notesSlides/notesSlide4.xml" Id="Rd57514fb559d45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b2d7cfe7b4974" /><Relationship Type="http://schemas.openxmlformats.org/officeDocument/2006/relationships/notesSlide" Target="/ppt/notesSlides/notesSlide5.xml" Id="Ra0c4f6b924cf42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4c4d3daf046eb" /><Relationship Type="http://schemas.openxmlformats.org/officeDocument/2006/relationships/notesSlide" Target="/ppt/notesSlides/notesSlide6.xml" Id="R7632dd61806a42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29ba8d0b04d9c" /><Relationship Type="http://schemas.openxmlformats.org/officeDocument/2006/relationships/notesSlide" Target="/ppt/notesSlides/notesSlide7.xml" Id="Rb5a87b773b1446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e4d2200964f36" /><Relationship Type="http://schemas.openxmlformats.org/officeDocument/2006/relationships/chart" Target="/ppt/slides/charts/chart1.xml" Id="R3f831585ce764d51" /><Relationship Type="http://schemas.openxmlformats.org/officeDocument/2006/relationships/notesSlide" Target="/ppt/notesSlides/notesSlide8.xml" Id="R759fc1ea39f542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93bb561f34ed9" /><Relationship Type="http://schemas.openxmlformats.org/officeDocument/2006/relationships/notesSlide" Target="/ppt/notesSlides/notesSlide9.xml" Id="R34f38e75996a45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d3bb8b50e4828" /><Relationship Type="http://schemas.openxmlformats.org/officeDocument/2006/relationships/notesSlide" Target="/ppt/notesSlides/notesSlide10.xml" Id="Rb79273c9269c46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cbacd76bc49e2" /><Relationship Type="http://schemas.openxmlformats.org/officeDocument/2006/relationships/notesSlide" Target="/ppt/notesSlides/notesSlide11.xml" Id="Re6edb85b9bfe41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b3656175e4d49" /><Relationship Type="http://schemas.openxmlformats.org/officeDocument/2006/relationships/notesSlide" Target="/ppt/notesSlides/notesSlide12.xml" Id="R2d3167e2443f4d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e42c35fc04773" /><Relationship Type="http://schemas.openxmlformats.org/officeDocument/2006/relationships/notesSlide" Target="/ppt/notesSlides/notesSlide13.xml" Id="R98a6445158e241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0e4264bad49e3" /><Relationship Type="http://schemas.openxmlformats.org/officeDocument/2006/relationships/notesSlide" Target="/ppt/notesSlides/notesSlide14.xml" Id="R4ff9b528944d4340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Risk score</c:v>
          </c:tx>
          <c:spPr>
            <a:solidFill xmlns:a="http://schemas.openxmlformats.org/drawingml/2006/main">
              <a:srgbClr val="161616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Unsafe allergen output</c:v>
              </c:pt>
              <c:pt idx="1">
                <c:v>Optimizer infeasibility</c:v>
              </c:pt>
              <c:pt idx="2">
                <c:v>API instability</c:v>
              </c:pt>
              <c:pt idx="3">
                <c:v>Pantry expiry boundary</c:v>
              </c:pt>
              <c:pt idx="4">
                <c:v>Profile data exposure</c:v>
              </c:pt>
              <c:pt idx="5">
                <c:v>Grocery aggregation</c:v>
              </c:pt>
              <c:pt idx="6">
                <c:v>V2 scope expansion</c:v>
              </c:pt>
            </c:strLit>
          </c:cat>
          <c:val>
            <c:numLit>
              <c:formatCode>General</c:formatCode>
              <c:ptCount val="7"/>
              <c:pt idx="0">
                <c:v>25</c:v>
              </c:pt>
              <c:pt idx="1">
                <c:v>20</c:v>
              </c:pt>
              <c:pt idx="2">
                <c:v>16</c:v>
              </c:pt>
              <c:pt idx="3">
                <c:v>15</c:v>
              </c:pt>
              <c:pt idx="4">
                <c:v>12</c:v>
              </c:pt>
              <c:pt idx="5">
                <c:v>9</c:v>
              </c:pt>
              <c:pt idx="6">
                <c:v>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6161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16B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6161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BBFE39-56BF-4BE4-A196-5EAE064B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61616"/>
                </a:solidFill>
              </a:defRPr>
            </a:pPr>
            <a:r>
              <a:rPr sz="4950" b="1">
                <a:solidFill>
                  <a:srgbClr val="161616"/>
                </a:solidFill>
              </a:rPr>
              <a:t>PantryPilot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37238-5EC5-409A-B4C6-C7C23E21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6B2A"/>
                </a:solidFill>
              </a:defRPr>
            </a:pPr>
            <a:r>
              <a:rPr sz="2250" b="1">
                <a:solidFill>
                  <a:srgbClr val="F36B2A"/>
                </a:solidFill>
              </a:rPr>
              <a:t>Final Project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D86D6-1862-4CC4-8224-CFC152C2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16B"/>
                </a:solidFill>
              </a:defRPr>
            </a:pPr>
            <a:r>
              <a:rPr sz="1875" b="0">
                <a:solidFill>
                  <a:srgbClr val="5B616B"/>
                </a:solidFill>
              </a:rPr>
              <a:t>Smart meal and grocery planning with safety-aware software quality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BCA03-41D6-45CB-A705-7DEDBB0F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32575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61FA9-7A9E-42ED-B4D0-B4209364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62300"/>
            <a:ext cx="32575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4A7B5-98E1-408C-89C2-673BD6DA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62300"/>
            <a:ext cx="32575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A4110-C107-4FC7-8D13-CB2CE8AE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16B"/>
                </a:solidFill>
              </a:defRPr>
            </a:pPr>
            <a:r>
              <a:rPr sz="1350" b="1">
                <a:solidFill>
                  <a:srgbClr val="5B616B"/>
                </a:solidFill>
              </a:rPr>
              <a:t>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B487B-6F18-4AAE-8E3C-CA8C6DD5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616"/>
                </a:solidFill>
              </a:defRPr>
            </a:pPr>
            <a:r>
              <a:rPr sz="1425" b="1">
                <a:solidFill>
                  <a:srgbClr val="161616"/>
                </a:solidFill>
              </a:rPr>
              <a:t>Meal plans, substitutions, pantry use, and grocery lists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13F99-B3AE-4BB3-B648-3E61636D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909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16B"/>
                </a:solidFill>
              </a:defRPr>
            </a:pPr>
            <a:r>
              <a:rPr sz="1350" b="1">
                <a:solidFill>
                  <a:srgbClr val="5B616B"/>
                </a:solidFill>
              </a:rPr>
              <a:t>Quality focus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49060-AFA9-44AC-AF9E-4CD65F5F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528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616"/>
                </a:solidFill>
              </a:defRPr>
            </a:pPr>
            <a:r>
              <a:rPr sz="1425" b="1">
                <a:solidFill>
                  <a:srgbClr val="161616"/>
                </a:solidFill>
              </a:rPr>
              <a:t>Risk, CM, traceability, and system-level testing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3E942-BCD1-4282-9379-35CC3C1F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909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16B"/>
                </a:solidFill>
              </a:defRPr>
            </a:pPr>
            <a:r>
              <a:rPr sz="1350" b="1">
                <a:solidFill>
                  <a:srgbClr val="5B616B"/>
                </a:solidFill>
              </a:rPr>
              <a:t>Prepared by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53CC6-E6D8-4D47-B47A-8E97585E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528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1616"/>
                </a:solidFill>
              </a:defRPr>
            </a:pPr>
            <a:r>
              <a:rPr sz="1725" b="1">
                <a:solidFill>
                  <a:srgbClr val="161616"/>
                </a:solidFill>
              </a:rPr>
              <a:t>Zixuan Liang</a:t>
            </a:r>
          </a:p>
          <a:p xmlns:a="http://schemas.openxmlformats.org/drawingml/2006/main">
            <a:pPr algn="l">
              <a:defRPr sz="1725" b="1">
                <a:solidFill>
                  <a:srgbClr val="161616"/>
                </a:solidFill>
              </a:defRPr>
            </a:pPr>
            <a:r>
              <a:rPr sz="1725" b="1">
                <a:solidFill>
                  <a:srgbClr val="161616"/>
                </a:solidFill>
              </a:rPr>
              <a:t>CISC 594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F2210B-F4DE-4E9F-A57C-9245366A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Prepared by Zixuan Liang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19844C-543D-44AF-87DA-D2628619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00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</a:defRPr>
            </a:pPr>
            <a:r>
              <a:rPr sz="975" b="0">
                <a:solidFill>
                  <a:srgbClr val="5B616B"/>
                </a:solidFill>
              </a:rPr>
              <a:t>CISC 594 - Final Project Presentation - 1/14</a:t>
            </a:r>
          </a:p>
        </p:txBody>
      </p:sp>
    </p:spTree>
    <p:extLst>
      <p:ext uri="{BB962C8B-B14F-4D97-AF65-F5344CB8AC3E}">
        <p14:creationId xmlns:p14="http://schemas.microsoft.com/office/powerpoint/2010/main" val="9401510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633E8C-4679-4DAC-AECE-F7B38E18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</a:defRPr>
            </a:pPr>
            <a:r>
              <a:rPr sz="1050" b="1">
                <a:solidFill>
                  <a:srgbClr val="5B616B"/>
                </a:solidFill>
              </a:rPr>
              <a:t>Required final presentation sections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F5F18-1C2E-4780-B0F7-7BBB9FC5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61616"/>
                </a:solidFill>
              </a:defRPr>
            </a:pPr>
            <a:r>
              <a:rPr sz="2775" b="1">
                <a:solidFill>
                  <a:srgbClr val="161616"/>
                </a:solidFill>
              </a:rPr>
              <a:t>Assignment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DB6D3-519F-433D-8CB5-5D45836A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0CA"/>
          </a:solidFill>
          <a:ln xmlns:a="http://schemas.openxmlformats.org/drawingml/2006/main" w="0">
            <a:solidFill>
              <a:srgbClr val="B9C0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692FE-6E7E-468D-9200-5334E235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36B2A"/>
                </a:solidFill>
              </a:defRPr>
            </a:pPr>
            <a:r>
              <a:rPr sz="2025" b="1">
                <a:solidFill>
                  <a:srgbClr val="F36B2A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00ED1-7453-4882-8118-39C77122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85950"/>
            <a:ext cx="99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0CA"/>
          </a:solidFill>
          <a:ln xmlns:a="http://schemas.openxmlformats.org/drawingml/2006/main" w="0">
            <a:solidFill>
              <a:srgbClr val="B9C0C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B183F-DA5B-4BA5-B325-D57D72B5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954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1616"/>
                </a:solidFill>
              </a:defRPr>
            </a:pPr>
            <a:r>
              <a:rPr sz="1875" b="1">
                <a:solidFill>
                  <a:srgbClr val="161616"/>
                </a:solidFill>
              </a:rPr>
              <a:t>Project introduction and system 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4A8D7-B6B3-43A9-956B-3FA66CBD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38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36B2A"/>
                </a:solidFill>
              </a:defRPr>
            </a:pPr>
            <a:r>
              <a:rPr sz="2025" b="1">
                <a:solidFill>
                  <a:srgbClr val="F36B2A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8455E-78DC-40A0-AC45-40E35DAB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99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0CA"/>
          </a:solidFill>
          <a:ln xmlns:a="http://schemas.openxmlformats.org/drawingml/2006/main" w="0">
            <a:solidFill>
              <a:srgbClr val="B9C0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645E1-3BDE-41D3-B81A-8EFD60EA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4384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1616"/>
                </a:solidFill>
              </a:defRPr>
            </a:pPr>
            <a:r>
              <a:rPr sz="1875" b="1">
                <a:solidFill>
                  <a:srgbClr val="161616"/>
                </a:solidFill>
              </a:rPr>
              <a:t>Role of each group member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36F55-3C5D-47F1-89B3-8983989F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36B2A"/>
                </a:solidFill>
              </a:defRPr>
            </a:pPr>
            <a:r>
              <a:rPr sz="2025" b="1">
                <a:solidFill>
                  <a:srgbClr val="F36B2A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3353C-3C30-49AF-9DD6-44960C48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99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0CA"/>
          </a:solidFill>
          <a:ln xmlns:a="http://schemas.openxmlformats.org/drawingml/2006/main" w="0">
            <a:solidFill>
              <a:srgbClr val="B9C0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14859-372F-4909-86EF-C4347F9C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813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1616"/>
                </a:solidFill>
              </a:defRPr>
            </a:pPr>
            <a:r>
              <a:rPr sz="1875" b="1">
                <a:solidFill>
                  <a:srgbClr val="161616"/>
                </a:solidFill>
              </a:rPr>
              <a:t>Risk identification and tracking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E3ACA-607C-419C-8779-D18C4D4B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24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36B2A"/>
                </a:solidFill>
              </a:defRPr>
            </a:pPr>
            <a:r>
              <a:rPr sz="2025" b="1">
                <a:solidFill>
                  <a:srgbClr val="F36B2A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7196D6-B699-4893-98CB-A8D7B8E9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99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0CA"/>
          </a:solidFill>
          <a:ln xmlns:a="http://schemas.openxmlformats.org/drawingml/2006/main" w="0">
            <a:solidFill>
              <a:srgbClr val="B9C0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4F06C-CE1A-40B7-B30D-7DDFFA2A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243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1616"/>
                </a:solidFill>
              </a:defRPr>
            </a:pPr>
            <a:r>
              <a:rPr sz="1875" b="1">
                <a:solidFill>
                  <a:srgbClr val="161616"/>
                </a:solidFill>
              </a:rPr>
              <a:t>Configuration management approach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EF1741-0AFA-4B01-9F8E-5215666B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36B2A"/>
                </a:solidFill>
              </a:defRPr>
            </a:pPr>
            <a:r>
              <a:rPr sz="2025" b="1">
                <a:solidFill>
                  <a:srgbClr val="F36B2A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CB2E5D-53A3-4DFC-9596-BCC42826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99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0CA"/>
          </a:solidFill>
          <a:ln xmlns:a="http://schemas.openxmlformats.org/drawingml/2006/main" w="0">
            <a:solidFill>
              <a:srgbClr val="B9C0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570057-5D49-4A36-A819-C1A856D6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1616"/>
                </a:solidFill>
              </a:defRPr>
            </a:pPr>
            <a:r>
              <a:rPr sz="1875" b="1">
                <a:solidFill>
                  <a:srgbClr val="161616"/>
                </a:solidFill>
              </a:rPr>
              <a:t>System testing approach and outcome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DC6D64-F1E6-4E8B-8839-B6F29CE8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95450"/>
            <a:ext cx="21526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75AAC8-672B-43D7-B2EF-1E90DFD7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62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616"/>
                </a:solidFill>
              </a:defRPr>
            </a:pPr>
            <a:r>
              <a:rPr sz="1425" b="1">
                <a:solidFill>
                  <a:srgbClr val="161616"/>
                </a:solidFill>
              </a:rPr>
              <a:t>Central message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74757-8CA8-4A72-AE73-B7495C73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38400"/>
            <a:ext cx="16383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1616"/>
                </a:solidFill>
              </a:defRPr>
            </a:pPr>
            <a:r>
              <a:rPr sz="1500" b="0">
                <a:solidFill>
                  <a:srgbClr val="161616"/>
                </a:solidFill>
              </a:rPr>
              <a:t>PantryPilot combines useful automation with disciplined SQA: high-risk behavior is identified, controlled, versioned, and tested.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6B8F31-BD8F-41B3-B5D9-FCF238AD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Prepared by Zixuan Liang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E2AD7A-A887-4DA5-AF65-006C6A3A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00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</a:defRPr>
            </a:pPr>
            <a:r>
              <a:rPr sz="975" b="0">
                <a:solidFill>
                  <a:srgbClr val="5B616B"/>
                </a:solidFill>
              </a:rPr>
              <a:t>CISC 594 - Final Project Presentation - 2/14</a:t>
            </a:r>
          </a:p>
        </p:txBody>
      </p:sp>
    </p:spTree>
    <p:extLst>
      <p:ext uri="{BB962C8B-B14F-4D97-AF65-F5344CB8AC3E}">
        <p14:creationId xmlns:p14="http://schemas.microsoft.com/office/powerpoint/2010/main" val="15911723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86A6DF-1F94-40B8-8745-40AD2E26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</a:defRPr>
            </a:pPr>
            <a:r>
              <a:rPr sz="1050" b="1">
                <a:solidFill>
                  <a:srgbClr val="5B616B"/>
                </a:solidFill>
              </a:rPr>
              <a:t>Zixuan Liang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BB748-3D72-4B74-8E6C-9FCC83C8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61616"/>
                </a:solidFill>
              </a:defRPr>
            </a:pPr>
            <a:r>
              <a:rPr sz="2775" b="1">
                <a:solidFill>
                  <a:srgbClr val="161616"/>
                </a:solidFill>
              </a:rPr>
              <a:t>Project introduction: why PantryPilot exists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FD395-076F-47CB-88CB-ACC24FE6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0CA"/>
          </a:solidFill>
          <a:ln xmlns:a="http://schemas.openxmlformats.org/drawingml/2006/main" w="0">
            <a:solidFill>
              <a:srgbClr val="B9C0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FA0D3-3610-41D2-AE37-19400407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32575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7CE23-B449-4249-82E2-EAF199D6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B2A"/>
          </a:solidFill>
          <a:ln xmlns:a="http://schemas.openxmlformats.org/drawingml/2006/main" w="0">
            <a:solidFill>
              <a:srgbClr val="F36B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40FBA-7602-41C7-86E4-51E0E5D3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6"/>
                </a:solidFill>
              </a:defRPr>
            </a:pPr>
            <a:r>
              <a:rPr sz="1500" b="1">
                <a:solidFill>
                  <a:srgbClr val="161616"/>
                </a:solidFill>
              </a:rPr>
              <a:t>Planning friction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B43B4-51C1-4770-B969-66547EA5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9146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Users often decide meals, check ingredients, and build grocery lists in separate tools.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69611-63CA-4CDE-B93B-03BEC21A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71650"/>
            <a:ext cx="32575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7A180-DBE4-4AE8-8A91-CA967AED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7165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 w="0">
            <a:solidFill>
              <a:srgbClr val="1D4E8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A9C83-B735-4142-9B94-79BDCDCA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431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6"/>
                </a:solidFill>
              </a:defRPr>
            </a:pPr>
            <a:r>
              <a:rPr sz="1500" b="1">
                <a:solidFill>
                  <a:srgbClr val="161616"/>
                </a:solidFill>
              </a:rPr>
              <a:t>Constraint complexity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5C617-25BB-44FD-A5FF-9DBBFF59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86000"/>
            <a:ext cx="29146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Allergies, disliked ingredients, budgets, nutrition goals, and preferences can conflict.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2FD4C-23F3-45A1-B232-D3C92357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71650"/>
            <a:ext cx="32575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C37BDD-A549-42D6-BDEF-1CFA9DE4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7165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5"/>
          </a:solidFill>
          <a:ln xmlns:a="http://schemas.openxmlformats.org/drawingml/2006/main" w="0">
            <a:solidFill>
              <a:srgbClr val="147A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AF47DA-A2F2-4546-AD3E-1E0541D3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431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6"/>
                </a:solidFill>
              </a:defRPr>
            </a:pPr>
            <a:r>
              <a:rPr sz="1500" b="1">
                <a:solidFill>
                  <a:srgbClr val="161616"/>
                </a:solidFill>
              </a:rPr>
              <a:t>Food waste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5D675-3B8B-4CF3-B77C-C251CBD3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86000"/>
            <a:ext cx="29146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Pantry items expire while shopping decisions ignore what is already available at home.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A41CBF-5D8F-4EC9-960F-DFEFD8D9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33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1616"/>
                </a:solidFill>
              </a:defRPr>
            </a:pPr>
            <a:r>
              <a:rPr sz="1875" b="1">
                <a:solidFill>
                  <a:srgbClr val="161616"/>
                </a:solidFill>
              </a:rPr>
              <a:t>PantryPilot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772179-CB89-4C5A-8CD2-37F6C568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1616"/>
                </a:solidFill>
              </a:defRPr>
            </a:pPr>
            <a:r>
              <a:rPr sz="1875" b="0">
                <a:solidFill>
                  <a:srgbClr val="161616"/>
                </a:solidFill>
              </a:rPr>
              <a:t>A smart meal and grocery planning system that maintains profiles, recipes, pantry inventory, weekly meal plans, AI substitutions, and consolidated grocery lists.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6C9C4E-D93B-454D-8052-EE44EBB6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Prepared by Zixuan Liang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34D471-ACC8-4F23-A109-E783B26A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00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</a:defRPr>
            </a:pPr>
            <a:r>
              <a:rPr sz="975" b="0">
                <a:solidFill>
                  <a:srgbClr val="5B616B"/>
                </a:solidFill>
              </a:rPr>
              <a:t>CISC 594 - Final Project Presentation - 3/14</a:t>
            </a:r>
          </a:p>
        </p:txBody>
      </p:sp>
    </p:spTree>
    <p:extLst>
      <p:ext uri="{BB962C8B-B14F-4D97-AF65-F5344CB8AC3E}">
        <p14:creationId xmlns:p14="http://schemas.microsoft.com/office/powerpoint/2010/main" val="11798907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6CF0A5-FD90-44BF-A4E9-E5E9B805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</a:defRPr>
            </a:pPr>
            <a:r>
              <a:rPr sz="1050" b="1">
                <a:solidFill>
                  <a:srgbClr val="5B616B"/>
                </a:solidFill>
              </a:rPr>
              <a:t>Project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922D6-1AB7-4F68-9B13-78CFD043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61616"/>
                </a:solidFill>
              </a:defRPr>
            </a:pPr>
            <a:r>
              <a:rPr sz="2775" b="1">
                <a:solidFill>
                  <a:srgbClr val="161616"/>
                </a:solidFill>
              </a:rPr>
              <a:t>System features and release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5234C-B07C-4B5F-8201-8F20C263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0CA"/>
          </a:solidFill>
          <a:ln xmlns:a="http://schemas.openxmlformats.org/drawingml/2006/main" w="0">
            <a:solidFill>
              <a:srgbClr val="B9C0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42B21-B556-456B-A20E-F9AB0021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52197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52338-A03A-44B0-83F1-5BB5FE5B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1616"/>
                </a:solidFill>
              </a:defRPr>
            </a:pPr>
            <a:r>
              <a:rPr sz="2025" b="1">
                <a:solidFill>
                  <a:srgbClr val="161616"/>
                </a:solidFill>
              </a:rPr>
              <a:t>V1.0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02B98-64B4-4A6B-9779-687F1A82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43434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1616"/>
                </a:solidFill>
              </a:defRPr>
            </a:pPr>
            <a:r>
              <a:rPr sz="1575" b="0">
                <a:solidFill>
                  <a:srgbClr val="161616"/>
                </a:solidFill>
              </a:rPr>
              <a:t>- Profile and dietary constraints</a:t>
            </a:r>
          </a:p>
          <a:p xmlns:a="http://schemas.openxmlformats.org/drawingml/2006/main">
            <a:pPr algn="l">
              <a:defRPr sz="1575" b="0">
                <a:solidFill>
                  <a:srgbClr val="161616"/>
                </a:solidFill>
              </a:defRPr>
            </a:pPr>
            <a:r>
              <a:rPr sz="1575" b="0">
                <a:solidFill>
                  <a:srgbClr val="161616"/>
                </a:solidFill>
              </a:rPr>
              <a:t>- Recipe library and normalized ingredients</a:t>
            </a:r>
          </a:p>
          <a:p xmlns:a="http://schemas.openxmlformats.org/drawingml/2006/main">
            <a:pPr algn="l">
              <a:defRPr sz="1575" b="0">
                <a:solidFill>
                  <a:srgbClr val="161616"/>
                </a:solidFill>
              </a:defRPr>
            </a:pPr>
            <a:r>
              <a:rPr sz="1575" b="0">
                <a:solidFill>
                  <a:srgbClr val="161616"/>
                </a:solidFill>
              </a:rPr>
              <a:t>- Weekly meal planning</a:t>
            </a:r>
          </a:p>
          <a:p xmlns:a="http://schemas.openxmlformats.org/drawingml/2006/main">
            <a:pPr algn="l">
              <a:defRPr sz="1575" b="0">
                <a:solidFill>
                  <a:srgbClr val="161616"/>
                </a:solidFill>
              </a:defRPr>
            </a:pPr>
            <a:r>
              <a:rPr sz="1575" b="0">
                <a:solidFill>
                  <a:srgbClr val="161616"/>
                </a:solidFill>
              </a:rPr>
              <a:t>- Consolidated grocery aggregation</a:t>
            </a:r>
          </a:p>
          <a:p xmlns:a="http://schemas.openxmlformats.org/drawingml/2006/main">
            <a:pPr algn="l">
              <a:defRPr sz="1575" b="0">
                <a:solidFill>
                  <a:srgbClr val="161616"/>
                </a:solidFill>
              </a:defRPr>
            </a:pPr>
            <a:r>
              <a:rPr sz="1575" b="0">
                <a:solidFill>
                  <a:srgbClr val="161616"/>
                </a:solidFill>
              </a:rPr>
              <a:t>- Basic pantry-aware planning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375E5-F52B-4902-8D91-8FD5EF97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52197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AC2DB-6760-414C-B8B7-5B3B9693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193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1616"/>
                </a:solidFill>
              </a:defRPr>
            </a:pPr>
            <a:r>
              <a:rPr sz="2025" b="1">
                <a:solidFill>
                  <a:srgbClr val="161616"/>
                </a:solidFill>
              </a:rPr>
              <a:t>V1.1 safety and grocery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7BF18F-C316-49BF-A5D2-5ED76A55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71750"/>
            <a:ext cx="43434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1616"/>
                </a:solidFill>
              </a:defRPr>
            </a:pPr>
            <a:r>
              <a:rPr sz="1575" b="0">
                <a:solidFill>
                  <a:srgbClr val="161616"/>
                </a:solidFill>
              </a:rPr>
              <a:t>- Deterministic allergen conflict detection</a:t>
            </a:r>
          </a:p>
          <a:p xmlns:a="http://schemas.openxmlformats.org/drawingml/2006/main">
            <a:pPr algn="l">
              <a:defRPr sz="1575" b="0">
                <a:solidFill>
                  <a:srgbClr val="161616"/>
                </a:solidFill>
              </a:defRPr>
            </a:pPr>
            <a:r>
              <a:rPr sz="1575" b="0">
                <a:solidFill>
                  <a:srgbClr val="161616"/>
                </a:solidFill>
              </a:rPr>
              <a:t>- Safety gate before AI output reaches the user</a:t>
            </a:r>
          </a:p>
          <a:p xmlns:a="http://schemas.openxmlformats.org/drawingml/2006/main">
            <a:pPr algn="l">
              <a:defRPr sz="1575" b="0">
                <a:solidFill>
                  <a:srgbClr val="161616"/>
                </a:solidFill>
              </a:defRPr>
            </a:pPr>
            <a:r>
              <a:rPr sz="1575" b="0">
                <a:solidFill>
                  <a:srgbClr val="161616"/>
                </a:solidFill>
              </a:rPr>
              <a:t>- Expiry-window logic for pantry items</a:t>
            </a:r>
          </a:p>
          <a:p xmlns:a="http://schemas.openxmlformats.org/drawingml/2006/main">
            <a:pPr algn="l">
              <a:defRPr sz="1575" b="0">
                <a:solidFill>
                  <a:srgbClr val="161616"/>
                </a:solidFill>
              </a:defRPr>
            </a:pPr>
            <a:r>
              <a:rPr sz="1575" b="0">
                <a:solidFill>
                  <a:srgbClr val="161616"/>
                </a:solidFill>
              </a:rPr>
              <a:t>- Grocery unit aggregation regression coverage</a:t>
            </a:r>
          </a:p>
          <a:p xmlns:a="http://schemas.openxmlformats.org/drawingml/2006/main">
            <a:pPr algn="l">
              <a:defRPr sz="1575" b="0">
                <a:solidFill>
                  <a:srgbClr val="161616"/>
                </a:solidFill>
              </a:defRPr>
            </a:pPr>
            <a:r>
              <a:rPr sz="1575" b="0">
                <a:solidFill>
                  <a:srgbClr val="161616"/>
                </a:solidFill>
              </a:rPr>
              <a:t>- CI workflow for repeatable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553E2-4C1F-4671-A628-DC11D548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626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B616B"/>
                </a:solidFill>
              </a:defRPr>
            </a:pPr>
            <a:r>
              <a:rPr sz="1575" b="1">
                <a:solidFill>
                  <a:srgbClr val="5B616B"/>
                </a:solidFill>
              </a:rPr>
              <a:t>Future V2 scope: nutrition optimizer, pantry-aware ranking, and generated recipes after the safety baseline is stable.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9C8A7A-74DD-4535-86D5-86704A3F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Prepared by Zixuan Liang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7D8C29-22B9-4006-9767-E8B6E1AF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00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</a:defRPr>
            </a:pPr>
            <a:r>
              <a:rPr sz="975" b="0">
                <a:solidFill>
                  <a:srgbClr val="5B616B"/>
                </a:solidFill>
              </a:rPr>
              <a:t>CISC 594 - Final Project Presentation - 4/14</a:t>
            </a:r>
          </a:p>
        </p:txBody>
      </p:sp>
    </p:spTree>
    <p:extLst>
      <p:ext uri="{BB962C8B-B14F-4D97-AF65-F5344CB8AC3E}">
        <p14:creationId xmlns:p14="http://schemas.microsoft.com/office/powerpoint/2010/main" val="14669723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1E3032-28AD-4C77-8684-307B7801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</a:defRPr>
            </a:pPr>
            <a:r>
              <a:rPr sz="1050" b="1">
                <a:solidFill>
                  <a:srgbClr val="5B616B"/>
                </a:solidFill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7DB5A-F591-4286-A4E1-D779C19D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61616"/>
                </a:solidFill>
              </a:defRPr>
            </a:pPr>
            <a:r>
              <a:rPr sz="2775" b="1">
                <a:solidFill>
                  <a:srgbClr val="161616"/>
                </a:solidFill>
              </a:rPr>
              <a:t>Software design: safety-aware planning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9390B-72DD-4946-887D-82B4779A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0CA"/>
          </a:solidFill>
          <a:ln xmlns:a="http://schemas.openxmlformats.org/drawingml/2006/main" w="0">
            <a:solidFill>
              <a:srgbClr val="B9C0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39B2C-627B-4536-8A4D-F85D29B9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1524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8D7A1-6314-45D4-B11B-ED5A926E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1616"/>
                </a:solidFill>
              </a:defRPr>
            </a:pPr>
            <a:r>
              <a:rPr sz="1425" b="1">
                <a:solidFill>
                  <a:srgbClr val="161616"/>
                </a:solidFill>
              </a:rPr>
              <a:t>User profile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1A9C2-6A91-4686-B246-78940262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125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16B"/>
                </a:solidFill>
              </a:defRPr>
            </a:pPr>
            <a:r>
              <a:rPr sz="1125" b="0">
                <a:solidFill>
                  <a:srgbClr val="5B616B"/>
                </a:solidFill>
              </a:rPr>
              <a:t>Allergies, dislikes, nutrition targets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EE7A9-D71B-4A60-B398-54C321F4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8765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C0CA"/>
                </a:solidFill>
              </a:defRPr>
            </a:pPr>
            <a:r>
              <a:rPr sz="1575" b="1">
                <a:solidFill>
                  <a:srgbClr val="B9C0CA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A9DBC-A8A0-4BBA-A672-45BD9663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52650"/>
            <a:ext cx="1524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359F7-65B6-49BC-8524-F9B65051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431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1616"/>
                </a:solidFill>
              </a:defRPr>
            </a:pPr>
            <a:r>
              <a:rPr sz="1425" b="1">
                <a:solidFill>
                  <a:srgbClr val="161616"/>
                </a:solidFill>
              </a:rPr>
              <a:t>Recipe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F938B-6A48-4FB8-ACCD-E891855B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38450"/>
            <a:ext cx="125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16B"/>
                </a:solidFill>
              </a:defRPr>
            </a:pPr>
            <a:r>
              <a:rPr sz="1125" b="0">
                <a:solidFill>
                  <a:srgbClr val="5B616B"/>
                </a:solidFill>
              </a:rPr>
              <a:t>Manual and external recipe inputs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194AB6-BFAB-48F7-87C3-C94D8645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765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C0CA"/>
                </a:solidFill>
              </a:defRPr>
            </a:pPr>
            <a:r>
              <a:rPr sz="1575" b="1">
                <a:solidFill>
                  <a:srgbClr val="B9C0CA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245B3F-8A06-48FE-BB02-BBC92405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52650"/>
            <a:ext cx="1524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26472-5850-48A2-991E-033125A5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1616"/>
                </a:solidFill>
              </a:defRPr>
            </a:pPr>
            <a:r>
              <a:rPr sz="1425" b="1">
                <a:solidFill>
                  <a:srgbClr val="161616"/>
                </a:solidFill>
              </a:rPr>
              <a:t>Normalize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16C0A-26D4-46EF-BA56-E097331F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38450"/>
            <a:ext cx="125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16B"/>
                </a:solidFill>
              </a:defRPr>
            </a:pPr>
            <a:r>
              <a:rPr sz="1125" b="0">
                <a:solidFill>
                  <a:srgbClr val="5B616B"/>
                </a:solidFill>
              </a:rPr>
              <a:t>Ingredient names, quantities, units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3AA22-D733-4017-89D0-0B0543D2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765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C0CA"/>
                </a:solidFill>
              </a:defRPr>
            </a:pPr>
            <a:r>
              <a:rPr sz="1575" b="1">
                <a:solidFill>
                  <a:srgbClr val="B9C0CA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AC5A75-268A-435D-BA61-DB438775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52650"/>
            <a:ext cx="1524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64AD00-6B18-4A85-B1A2-094B01B1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431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1616"/>
                </a:solidFill>
              </a:defRPr>
            </a:pPr>
            <a:r>
              <a:rPr sz="1425" b="1">
                <a:solidFill>
                  <a:srgbClr val="161616"/>
                </a:solidFill>
              </a:rPr>
              <a:t>Plan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902AF6-790B-47A6-8316-6B414431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38450"/>
            <a:ext cx="125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16B"/>
                </a:solidFill>
              </a:defRPr>
            </a:pPr>
            <a:r>
              <a:rPr sz="1125" b="0">
                <a:solidFill>
                  <a:srgbClr val="5B616B"/>
                </a:solidFill>
              </a:rPr>
              <a:t>Meals and grocery aggregation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31431A-AB8E-4DAA-B55B-0099E3C1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765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C0CA"/>
                </a:solidFill>
              </a:defRPr>
            </a:pPr>
            <a:r>
              <a:rPr sz="1575" b="1">
                <a:solidFill>
                  <a:srgbClr val="B9C0CA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624A61-A8A7-417E-967F-25A9CFB6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52650"/>
            <a:ext cx="1524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36B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4FDE8E-AA32-4AB4-9585-8FEE78FE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431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36B2A"/>
                </a:solidFill>
              </a:defRPr>
            </a:pPr>
            <a:r>
              <a:rPr sz="1425" b="1">
                <a:solidFill>
                  <a:srgbClr val="F36B2A"/>
                </a:solidFill>
              </a:rPr>
              <a:t>Safety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C347BA-B992-434F-8469-2964DEA8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38450"/>
            <a:ext cx="125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16B"/>
                </a:solidFill>
              </a:defRPr>
            </a:pPr>
            <a:r>
              <a:rPr sz="1125" b="0">
                <a:solidFill>
                  <a:srgbClr val="5B616B"/>
                </a:solidFill>
              </a:rPr>
              <a:t>Allergen and expiry checks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277B8C-5C79-4DF8-A1EB-03622F20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765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C0CA"/>
                </a:solidFill>
              </a:defRPr>
            </a:pPr>
            <a:r>
              <a:rPr sz="1575" b="1">
                <a:solidFill>
                  <a:srgbClr val="B9C0CA"/>
                </a:solidFill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1CDDDB-1DAF-43B4-83D0-79314BD2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52650"/>
            <a:ext cx="1524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5F63F1-A402-416C-8BF0-7206CCA9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431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1616"/>
                </a:solidFill>
              </a:defRPr>
            </a:pPr>
            <a:r>
              <a:rPr sz="1425" b="1">
                <a:solidFill>
                  <a:srgbClr val="161616"/>
                </a:solidFill>
              </a:rPr>
              <a:t>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C86E5C-C5F8-4CB6-92AC-CEAFDCAC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38450"/>
            <a:ext cx="125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16B"/>
                </a:solidFill>
              </a:defRPr>
            </a:pPr>
            <a:r>
              <a:rPr sz="1125" b="0">
                <a:solidFill>
                  <a:srgbClr val="5B616B"/>
                </a:solidFill>
              </a:rPr>
              <a:t>Meal plan and grocery list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28B502-8186-470F-82AD-D9AF0A3B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616"/>
                </a:solidFill>
              </a:defRPr>
            </a:pPr>
            <a:r>
              <a:rPr sz="1650" b="1">
                <a:solidFill>
                  <a:srgbClr val="161616"/>
                </a:solidFill>
              </a:rPr>
              <a:t>Design decision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40ED8C-CF42-4B2D-91FA-43668C6B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5148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1616"/>
                </a:solidFill>
              </a:defRPr>
            </a:pPr>
            <a:r>
              <a:rPr sz="1875" b="1">
                <a:solidFill>
                  <a:srgbClr val="161616"/>
                </a:solidFill>
              </a:rPr>
              <a:t>Use AI only for suggestion value; keep safety decisions deterministic, reviewable, and testable.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E0E97A-34BE-4263-B0B5-6B4FA7D3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Prepared by Zixuan Liang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397771-D996-4368-9B6C-F0BC8EFD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00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</a:defRPr>
            </a:pPr>
            <a:r>
              <a:rPr sz="975" b="0">
                <a:solidFill>
                  <a:srgbClr val="5B616B"/>
                </a:solidFill>
              </a:rPr>
              <a:t>CISC 594 - Final Project Presentation - 5/14</a:t>
            </a:r>
          </a:p>
        </p:txBody>
      </p:sp>
    </p:spTree>
    <p:extLst>
      <p:ext uri="{BB962C8B-B14F-4D97-AF65-F5344CB8AC3E}">
        <p14:creationId xmlns:p14="http://schemas.microsoft.com/office/powerpoint/2010/main" val="9337577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0D401B-0AB9-4819-B845-782CD969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</a:defRPr>
            </a:pPr>
            <a:r>
              <a:rPr sz="1050" b="1">
                <a:solidFill>
                  <a:srgbClr val="5B616B"/>
                </a:solidFill>
              </a:rPr>
              <a:t>Prepared by Zixuan Liang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C7422-8357-4DDA-979E-9D3241D4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61616"/>
                </a:solidFill>
              </a:defRPr>
            </a:pPr>
            <a:r>
              <a:rPr sz="2775" b="1">
                <a:solidFill>
                  <a:srgbClr val="161616"/>
                </a:solidFill>
              </a:rPr>
              <a:t>Role of each group member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386B0-CE20-4572-A646-B6105D18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0CA"/>
          </a:solidFill>
          <a:ln xmlns:a="http://schemas.openxmlformats.org/drawingml/2006/main" w="0">
            <a:solidFill>
              <a:srgbClr val="B9C0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F5FCB-05A5-4D4B-89B1-7ADD33A8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16B"/>
                </a:solidFill>
              </a:defRPr>
            </a:pPr>
            <a:r>
              <a:rPr sz="1725" b="0">
                <a:solidFill>
                  <a:srgbClr val="5B616B"/>
                </a:solidFill>
              </a:rPr>
              <a:t>This was completed as an individual project, so Zixuan Liang owned each presentation section and project artifact.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B861E-FD5F-4BD9-9794-7F92792D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4953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0A99E-4B94-49BC-B37E-FB3F7948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 w="0">
            <a:solidFill>
              <a:srgbClr val="1D4E8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918B5-36D8-44D0-B3AD-30E42EB7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6"/>
                </a:solidFill>
              </a:defRPr>
            </a:pPr>
            <a:r>
              <a:rPr sz="1500" b="1">
                <a:solidFill>
                  <a:srgbClr val="161616"/>
                </a:solidFill>
              </a:rPr>
              <a:t>Project and requirements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17382-5773-4698-A04D-098EC0F7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61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Defined the PantryPilot concept, V1/V1.1 scope, requirements, adverse conditions, and quality goals.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C0A66-84CC-4021-AB57-D324688E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95550"/>
            <a:ext cx="4953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2FF3E-1E6F-4A84-B077-9D595CD2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9555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B2A"/>
          </a:solidFill>
          <a:ln xmlns:a="http://schemas.openxmlformats.org/drawingml/2006/main" w="0">
            <a:solidFill>
              <a:srgbClr val="F36B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0C637F-35E8-4A50-874D-7F080602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670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6"/>
                </a:solidFill>
              </a:defRPr>
            </a:pPr>
            <a:r>
              <a:rPr sz="1500" b="1">
                <a:solidFill>
                  <a:srgbClr val="161616"/>
                </a:solidFill>
              </a:rPr>
              <a:t>Risk management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504708-1214-407B-9C09-C1D3D531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9900"/>
            <a:ext cx="461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Built and updated the risk table, likelihood-impact scores, mitigation strategy, and weekly tracking history.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CD3B21-EE0C-4A62-93EC-F62CA8B6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52900"/>
            <a:ext cx="4953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9447FE-D5DA-42EB-B9EF-0F2BE2CA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529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5"/>
          </a:solidFill>
          <a:ln xmlns:a="http://schemas.openxmlformats.org/drawingml/2006/main" w="0">
            <a:solidFill>
              <a:srgbClr val="147A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92A5E-13F3-4B83-8640-EFFCBD43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6"/>
                </a:solidFill>
              </a:defRPr>
            </a:pPr>
            <a:r>
              <a:rPr sz="1500" b="1">
                <a:solidFill>
                  <a:srgbClr val="161616"/>
                </a:solidFill>
              </a:rPr>
              <a:t>Configuration management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338549-F4C9-4D4A-80BB-2A3E4F1F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461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Created the generic Git repository package, branch model, release tags, changelog, CI workflow, and CM report.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AC1BE8-AA42-489A-99D0-C74F93C1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52900"/>
            <a:ext cx="4953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9A764-922D-42DA-9746-44070CCF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529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solidFill>
              <a:srgbClr val="16161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ACA645-714B-4F6B-84FF-470829A5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243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6"/>
                </a:solidFill>
              </a:defRPr>
            </a:pPr>
            <a:r>
              <a:rPr sz="1500" b="1">
                <a:solidFill>
                  <a:srgbClr val="161616"/>
                </a:solidFill>
              </a:rPr>
              <a:t>System testing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0527AA-F74D-4E33-A923-2ED0DEAB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67250"/>
            <a:ext cx="461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Designed six system-level tests, executed the runner, captured results, and documented environment/setup details.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699F25-099A-4CAC-9B81-B232138F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Prepared by Zixuan Liang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1A71FC-C7D9-4383-B8B9-E12F0975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00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</a:defRPr>
            </a:pPr>
            <a:r>
              <a:rPr sz="975" b="0">
                <a:solidFill>
                  <a:srgbClr val="5B616B"/>
                </a:solidFill>
              </a:rPr>
              <a:t>CISC 594 - Final Project Presentation - 6/14</a:t>
            </a:r>
          </a:p>
        </p:txBody>
      </p:sp>
    </p:spTree>
    <p:extLst>
      <p:ext uri="{BB962C8B-B14F-4D97-AF65-F5344CB8AC3E}">
        <p14:creationId xmlns:p14="http://schemas.microsoft.com/office/powerpoint/2010/main" val="128584815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C19A9E-D116-412E-8CCB-B0FEF18F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</a:defRPr>
            </a:pPr>
            <a:r>
              <a:rPr sz="1050" b="1">
                <a:solidFill>
                  <a:srgbClr val="5B616B"/>
                </a:solidFill>
              </a:rPr>
              <a:t>Risk score = likelihood x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0640A-3CB5-44F1-B377-F867108C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61616"/>
                </a:solidFill>
              </a:defRPr>
            </a:pPr>
            <a:r>
              <a:rPr sz="2775" b="1">
                <a:solidFill>
                  <a:srgbClr val="161616"/>
                </a:solidFill>
              </a:rPr>
              <a:t>Risk identification and tracking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27193-27E7-41E2-A5AD-2F1D82FE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0CA"/>
          </a:solidFill>
          <a:ln xmlns:a="http://schemas.openxmlformats.org/drawingml/2006/main" w="0">
            <a:solidFill>
              <a:srgbClr val="B9C0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B2A2D-BE17-4E28-85E8-6EFFB3FA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200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2303D-B9E3-4F89-B1B1-E70DE671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 w="0">
            <a:solidFill>
              <a:srgbClr val="1D4E8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86B6D-2321-442D-9E81-9C8218BD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6"/>
                </a:solidFill>
              </a:defRPr>
            </a:pPr>
            <a:r>
              <a:rPr sz="1500" b="1">
                <a:solidFill>
                  <a:srgbClr val="161616"/>
                </a:solidFill>
              </a:rPr>
              <a:t>Identification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35557-6D29-4536-B255-F362A05E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Risks were identified from safety-sensitive outputs, external dependencies, optimization complexity, data handling, and release scope.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27B9B-B833-45C6-B1DA-11BA54A4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09750"/>
            <a:ext cx="3200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586A9-3A9F-4B1B-879F-14B4886D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09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B2A"/>
          </a:solidFill>
          <a:ln xmlns:a="http://schemas.openxmlformats.org/drawingml/2006/main" w="0">
            <a:solidFill>
              <a:srgbClr val="F36B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52491-A0F0-4007-B615-4B294DAA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81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6"/>
                </a:solidFill>
              </a:defRPr>
            </a:pPr>
            <a:r>
              <a:rPr sz="1500" b="1">
                <a:solidFill>
                  <a:srgbClr val="161616"/>
                </a:solidFill>
              </a:rPr>
              <a:t>Scoring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8130B-0154-447F-AF3E-27823723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2410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Each risk received a probability score and an impact score from 1 to 5; total priority equals probability times impact.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15A629-8F1D-4881-B137-F6E2597A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09750"/>
            <a:ext cx="3200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4F3483-B341-46D2-85A6-DEC8F9DE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09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5"/>
          </a:solidFill>
          <a:ln xmlns:a="http://schemas.openxmlformats.org/drawingml/2006/main" w="0">
            <a:solidFill>
              <a:srgbClr val="147A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45362-D416-44D9-963D-8CF8ADC1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81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6"/>
                </a:solidFill>
              </a:defRPr>
            </a:pPr>
            <a:r>
              <a:rPr sz="1500" b="1">
                <a:solidFill>
                  <a:srgbClr val="161616"/>
                </a:solidFill>
              </a:rPr>
              <a:t>Tracking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D8C309-D65F-4800-A7C5-17661FAD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2410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Risk status was reviewed weekly and linked to controls, tests, CI checks, release notes, or retirement rationale.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019C31-3CAA-4325-AE44-13909346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48100"/>
            <a:ext cx="10096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F3942-F2F3-4D61-B5F1-0FC2FE54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616"/>
                </a:solidFill>
              </a:defRPr>
            </a:pPr>
            <a:r>
              <a:rPr sz="1650" b="1">
                <a:solidFill>
                  <a:srgbClr val="161616"/>
                </a:solidFill>
              </a:rPr>
              <a:t>Current risk posture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EFDA47-5D75-42C3-8C25-A39027D1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38600"/>
            <a:ext cx="704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1616"/>
                </a:solidFill>
              </a:defRPr>
            </a:pPr>
            <a:r>
              <a:rPr sz="1725" b="1">
                <a:solidFill>
                  <a:srgbClr val="161616"/>
                </a:solidFill>
              </a:rPr>
              <a:t>R1-R5 remain active and controlled; R6 is monitored; R7 scope expansion was reduced and retired after the V1.1 boundary was clarified.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07A17D-05CE-4BDC-ACD7-2F7D812C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Prepared by Zixuan Liang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8E0DED-C67D-4192-81F0-9FF9BD13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00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</a:defRPr>
            </a:pPr>
            <a:r>
              <a:rPr sz="975" b="0">
                <a:solidFill>
                  <a:srgbClr val="5B616B"/>
                </a:solidFill>
              </a:rPr>
              <a:t>CISC 594 - Final Project Presentation - 7/14</a:t>
            </a:r>
          </a:p>
        </p:txBody>
      </p:sp>
    </p:spTree>
    <p:extLst>
      <p:ext uri="{BB962C8B-B14F-4D97-AF65-F5344CB8AC3E}">
        <p14:creationId xmlns:p14="http://schemas.microsoft.com/office/powerpoint/2010/main" val="47068718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8D6A67-C6D9-45F7-956D-8DC2A484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</a:defRPr>
            </a:pPr>
            <a:r>
              <a:rPr sz="1050" b="1">
                <a:solidFill>
                  <a:srgbClr val="5B616B"/>
                </a:solidFill>
              </a:rPr>
              <a:t>Risk identification and tracking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F7D6D-E407-4533-954C-DBAA6117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61616"/>
                </a:solidFill>
              </a:defRPr>
            </a:pPr>
            <a:r>
              <a:rPr sz="2775" b="1">
                <a:solidFill>
                  <a:srgbClr val="161616"/>
                </a:solidFill>
              </a:rPr>
              <a:t>Top project risks by score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19413-9C47-4C05-A243-C6BCC589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0CA"/>
          </a:solidFill>
          <a:ln xmlns:a="http://schemas.openxmlformats.org/drawingml/2006/main" w="0">
            <a:solidFill>
              <a:srgbClr val="B9C0CA"/>
            </a:solidFill>
            <a:prstDash val="solid"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14350" y="1790700"/>
          <a:ext xmlns:a="http://schemas.openxmlformats.org/drawingml/2006/main" cx="6191250" cy="3562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831585ce764d5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9DC1A1-229D-445D-ACFD-FECE496E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7909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6AB53-5705-470E-97F0-ED7289AA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616"/>
                </a:solidFill>
              </a:defRPr>
            </a:pPr>
            <a:r>
              <a:rPr sz="1800" b="1">
                <a:solidFill>
                  <a:srgbClr val="161616"/>
                </a:solidFill>
              </a:rPr>
              <a:t>Priority conclusion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EB9A4-6698-42F2-90B5-18DB38FA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90800"/>
            <a:ext cx="30480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616"/>
                </a:solidFill>
              </a:defRPr>
            </a:pPr>
            <a:r>
              <a:rPr sz="1425" b="0">
                <a:solidFill>
                  <a:srgbClr val="161616"/>
                </a:solidFill>
              </a:rPr>
              <a:t>- Highest risk: unsafe LLM output reaching an allergic user</a:t>
            </a:r>
          </a:p>
          <a:p xmlns:a="http://schemas.openxmlformats.org/drawingml/2006/main">
            <a:pPr algn="l">
              <a:defRPr sz="1425" b="0">
                <a:solidFill>
                  <a:srgbClr val="161616"/>
                </a:solidFill>
              </a:defRPr>
            </a:pPr>
            <a:r>
              <a:rPr sz="1425" b="0">
                <a:solidFill>
                  <a:srgbClr val="161616"/>
                </a:solidFill>
              </a:rPr>
              <a:t>- Critical technical risk: optimizer infeasibility or runtime failure</a:t>
            </a:r>
          </a:p>
          <a:p xmlns:a="http://schemas.openxmlformats.org/drawingml/2006/main">
            <a:pPr algn="l">
              <a:defRPr sz="1425" b="0">
                <a:solidFill>
                  <a:srgbClr val="161616"/>
                </a:solidFill>
              </a:defRPr>
            </a:pPr>
            <a:r>
              <a:rPr sz="1425" b="0">
                <a:solidFill>
                  <a:srgbClr val="161616"/>
                </a:solidFill>
              </a:rPr>
              <a:t>- High operational risks: unstable external recipe data and pantry date boundaries</a:t>
            </a:r>
          </a:p>
          <a:p xmlns:a="http://schemas.openxmlformats.org/drawingml/2006/main">
            <a:pPr algn="l">
              <a:defRPr sz="1425" b="0">
                <a:solidFill>
                  <a:srgbClr val="161616"/>
                </a:solidFill>
              </a:defRPr>
            </a:pPr>
            <a:r>
              <a:rPr sz="1425" b="0">
                <a:solidFill>
                  <a:srgbClr val="161616"/>
                </a:solidFill>
              </a:rPr>
              <a:t>- Privacy risk remains active because profiles contain sensitive preferences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E969B-7BAE-448E-904D-6AE27452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Prepared by Zixuan Liang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9A6F0-FC2E-47AD-ABF7-011AE5D8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00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</a:defRPr>
            </a:pPr>
            <a:r>
              <a:rPr sz="975" b="0">
                <a:solidFill>
                  <a:srgbClr val="5B616B"/>
                </a:solidFill>
              </a:rPr>
              <a:t>CISC 594 - Final Project Presentation - 8/14</a:t>
            </a:r>
          </a:p>
        </p:txBody>
      </p:sp>
    </p:spTree>
    <p:extLst>
      <p:ext uri="{BB962C8B-B14F-4D97-AF65-F5344CB8AC3E}">
        <p14:creationId xmlns:p14="http://schemas.microsoft.com/office/powerpoint/2010/main" val="66717796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5AA440-E3EA-4CE7-B9D0-A04E63BA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</a:defRPr>
            </a:pPr>
            <a:r>
              <a:rPr sz="1050" b="1">
                <a:solidFill>
                  <a:srgbClr val="5B616B"/>
                </a:solidFill>
              </a:rPr>
              <a:t>Risk mitigation and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2E72B-A4D6-4513-BE45-86C5E4DE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61616"/>
                </a:solidFill>
              </a:defRPr>
            </a:pPr>
            <a:r>
              <a:rPr sz="2775" b="1">
                <a:solidFill>
                  <a:srgbClr val="161616"/>
                </a:solidFill>
              </a:rPr>
              <a:t>How the main risks were reduced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AB784-6417-43C0-A04F-5EE20C44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0CA"/>
          </a:solidFill>
          <a:ln xmlns:a="http://schemas.openxmlformats.org/drawingml/2006/main" w="0">
            <a:solidFill>
              <a:srgbClr val="B9C0CA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14350" y="1733550"/>
          <a:ext xmlns:a="http://schemas.openxmlformats.org/drawingml/2006/main" cx="10668000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67000"/>
                <a:gridCol w="3867150"/>
                <a:gridCol w="4133850"/>
              </a:tblGrid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61616"/>
                          </a:solidFill>
                        </a:rPr>
                        <a:t>Risk</a:t>
                      </a:r>
                    </a:p>
                  </a:txBody>
                  <a:tcPr marL="91440" marR="91440" marT="45720" marB="45720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61616"/>
                          </a:solidFill>
                        </a:rPr>
                        <a:t>Reduction control</a:t>
                      </a:r>
                    </a:p>
                  </a:txBody>
                  <a:tcPr marL="91440" marR="91440" marT="45720" marB="45720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61616"/>
                          </a:solidFill>
                        </a:rPr>
                        <a:t>Verification evidence</a:t>
                      </a:r>
                    </a:p>
                  </a:txBody>
                  <a:tcPr marL="91440" marR="91440" marT="45720" marB="45720">
                    <a:solidFill>
                      <a:srgbClr val="ECEFF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616"/>
                          </a:solidFill>
                        </a:rPr>
                        <a:t>Unsafe allergen output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616"/>
                          </a:solidFill>
                        </a:rPr>
                        <a:t>Deterministic allergen filter blocks conflict before display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616"/>
                          </a:solidFill>
                        </a:rPr>
                        <a:t>System test V1.1-ST-01 returned safe=false for soy conflict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616"/>
                          </a:solidFill>
                        </a:rPr>
                        <a:t>Optimizer failure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616"/>
                          </a:solidFill>
                        </a:rPr>
                        <a:t>Bounded solver concept and explicit future relaxation order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616"/>
                          </a:solidFill>
                        </a:rPr>
                        <a:t>Kept out of V1.1 release baseline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616"/>
                          </a:solidFill>
                        </a:rPr>
                        <a:t>Recipe API instability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616"/>
                          </a:solidFill>
                        </a:rPr>
                        <a:t>Offline fixtures/cache strategy and normalized ingredient model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616"/>
                          </a:solidFill>
                        </a:rPr>
                        <a:t>System tests avoid external network dependency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616"/>
                          </a:solidFill>
                        </a:rPr>
                        <a:t>Pantry expiry boundary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616"/>
                          </a:solidFill>
                        </a:rPr>
                        <a:t>Inclusive 3-day rule; expired items excluded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616"/>
                          </a:solidFill>
                        </a:rPr>
                        <a:t>V1.1-ST-03 passed today/+3/+4/yesterday boundary checks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616"/>
                          </a:solidFill>
                        </a:rPr>
                        <a:t>Grocery aggregation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616"/>
                          </a:solidFill>
                        </a:rPr>
                        <a:t>Canonical unit aggregation by ingredient name and unit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1616"/>
                          </a:solidFill>
                        </a:rPr>
                        <a:t>V1-ST-03 produced rice quantity 3.0 cup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32617-C77E-4F6E-9027-76AAE640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531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B616B"/>
                </a:solidFill>
              </a:defRPr>
            </a:pPr>
            <a:r>
              <a:rPr sz="1575" b="1">
                <a:solidFill>
                  <a:srgbClr val="5B616B"/>
                </a:solidFill>
              </a:rPr>
              <a:t>Mitigation rule: a major risk is not considered controlled until it has a design control and testable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0A1B5-1DD3-4008-9261-5CFBBE3F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Prepared by Zixuan Liang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F54D6-A4DE-42CF-8B4B-3D30B5DA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00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</a:defRPr>
            </a:pPr>
            <a:r>
              <a:rPr sz="975" b="0">
                <a:solidFill>
                  <a:srgbClr val="5B616B"/>
                </a:solidFill>
              </a:rPr>
              <a:t>CISC 594 - Final Project Presentation - 9/14</a:t>
            </a:r>
          </a:p>
        </p:txBody>
      </p:sp>
    </p:spTree>
    <p:extLst>
      <p:ext uri="{BB962C8B-B14F-4D97-AF65-F5344CB8AC3E}">
        <p14:creationId xmlns:p14="http://schemas.microsoft.com/office/powerpoint/2010/main" val="13648977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2E1683-5D69-4739-8F57-827A5EA3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</a:defRPr>
            </a:pPr>
            <a:r>
              <a:rPr sz="1050" b="1">
                <a:solidFill>
                  <a:srgbClr val="5B616B"/>
                </a:solidFill>
              </a:rPr>
              <a:t>GitHub-based CM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8A9C1-D932-49D1-9FE1-FC1C06F8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61616"/>
                </a:solidFill>
              </a:defRPr>
            </a:pPr>
            <a:r>
              <a:rPr sz="2775" b="1">
                <a:solidFill>
                  <a:srgbClr val="161616"/>
                </a:solidFill>
              </a:rPr>
              <a:t>Configuration management 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16065-491E-46A0-8CC2-7AD67899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0CA"/>
          </a:solidFill>
          <a:ln xmlns:a="http://schemas.openxmlformats.org/drawingml/2006/main" w="0">
            <a:solidFill>
              <a:srgbClr val="B9C0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88C9C-EBAA-41D4-BD8E-4B41B098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17716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1B2E4-1F0C-4D36-B016-A75591CF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6B2A"/>
                </a:solidFill>
              </a:defRPr>
            </a:pPr>
            <a:r>
              <a:rPr sz="2550" b="1">
                <a:solidFill>
                  <a:srgbClr val="F36B2A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D22D4-C54C-459E-BBED-58B4A921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616"/>
                </a:solidFill>
              </a:defRPr>
            </a:pPr>
            <a:r>
              <a:rPr sz="1650" b="1">
                <a:solidFill>
                  <a:srgbClr val="161616"/>
                </a:solidFill>
              </a:rPr>
              <a:t>Main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D3978-1A5B-40B5-9898-71EEF28E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Stable release branch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C4552-D310-419C-BD1A-EE3F5B3C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95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C0CA"/>
                </a:solidFill>
              </a:defRPr>
            </a:pPr>
            <a:r>
              <a:rPr sz="1575" b="1">
                <a:solidFill>
                  <a:srgbClr val="B9C0CA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C31DD-51C5-4F34-AED1-38FB9AA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00250"/>
            <a:ext cx="17716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93B51-35F2-4106-953C-2797657F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71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6B2A"/>
                </a:solidFill>
              </a:defRPr>
            </a:pPr>
            <a:r>
              <a:rPr sz="2550" b="1">
                <a:solidFill>
                  <a:srgbClr val="F36B2A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27E2C-6B1A-4B04-B446-76D7083E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813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616"/>
                </a:solidFill>
              </a:defRPr>
            </a:pPr>
            <a:r>
              <a:rPr sz="1650" b="1">
                <a:solidFill>
                  <a:srgbClr val="161616"/>
                </a:solidFill>
              </a:rPr>
              <a:t>Feature branch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1D3D40-888F-4D48-BA7F-99D7058C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3850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feature/safety-grocery-controls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4DE42-2295-4910-BA97-0F6AD7B3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95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C0CA"/>
                </a:solidFill>
              </a:defRPr>
            </a:pPr>
            <a:r>
              <a:rPr sz="1575" b="1">
                <a:solidFill>
                  <a:srgbClr val="B9C0CA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9D6E2-AD69-4A00-BF34-8D242974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00250"/>
            <a:ext cx="17716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75447-92DC-4458-BFBD-9DB09939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71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6B2A"/>
                </a:solidFill>
              </a:defRPr>
            </a:pPr>
            <a:r>
              <a:rPr sz="2550" b="1">
                <a:solidFill>
                  <a:srgbClr val="F36B2A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B76045-3076-46E9-BE69-CA4730DE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813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616"/>
                </a:solidFill>
              </a:defRPr>
            </a:pPr>
            <a:r>
              <a:rPr sz="1650" b="1">
                <a:solidFill>
                  <a:srgbClr val="161616"/>
                </a:solidFill>
              </a:rPr>
              <a:t>Pull request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CC0440-D87B-42AD-8959-9D25EAC4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3850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Scope, tests, and review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B4812B-8BDD-47F8-9DB9-8EA54CCF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95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C0CA"/>
                </a:solidFill>
              </a:defRPr>
            </a:pPr>
            <a:r>
              <a:rPr sz="1575" b="1">
                <a:solidFill>
                  <a:srgbClr val="B9C0CA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A73D94-6659-4DB5-9AC1-234D279D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17716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524CD7-CDB8-48D5-8D17-5588DA43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6B2A"/>
                </a:solidFill>
              </a:defRPr>
            </a:pPr>
            <a:r>
              <a:rPr sz="2550" b="1">
                <a:solidFill>
                  <a:srgbClr val="F36B2A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E6BAF2-E9F7-4C91-B324-016729D3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813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616"/>
                </a:solidFill>
              </a:defRPr>
            </a:pPr>
            <a:r>
              <a:rPr sz="1650" b="1">
                <a:solidFill>
                  <a:srgbClr val="161616"/>
                </a:solidFill>
              </a:rPr>
              <a:t>CI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FC7CE2-0512-4E68-B8C7-EDAF0705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3850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Python 3.12 and pytest workflow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DEB925-4B0D-4081-BD5B-4256E9C5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95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C0CA"/>
                </a:solidFill>
              </a:defRPr>
            </a:pPr>
            <a:r>
              <a:rPr sz="1575" b="1">
                <a:solidFill>
                  <a:srgbClr val="B9C0CA"/>
                </a:solidFill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342A8E-C46F-454C-A7F8-50D0B7B5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00250"/>
            <a:ext cx="17716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F36958-37D6-4427-80D5-F775818E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71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6B2A"/>
                </a:solidFill>
              </a:defRPr>
            </a:pPr>
            <a:r>
              <a:rPr sz="2550" b="1">
                <a:solidFill>
                  <a:srgbClr val="F36B2A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021E42-6B75-4CEC-BD6A-98E5E91A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616"/>
                </a:solidFill>
              </a:defRPr>
            </a:pPr>
            <a:r>
              <a:rPr sz="1650" b="1">
                <a:solidFill>
                  <a:srgbClr val="161616"/>
                </a:solidFill>
              </a:rPr>
              <a:t>Release tag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ECC2E0-107F-417F-88D0-B3E63CB7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v1.0.0 and v1.1.0 baselines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3C55A8-7654-45BD-97B9-88F6F56C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1616"/>
                </a:solidFill>
              </a:defRPr>
            </a:pPr>
            <a:r>
              <a:rPr sz="1725" b="1">
                <a:solidFill>
                  <a:srgbClr val="161616"/>
                </a:solidFill>
              </a:rPr>
              <a:t>Controlled items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BBF9D7-56DE-4B5D-B4E5-21610E67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625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Source code, tests, configuration files, CI workflow, changelog, release notes, risk table, CM report, and system test report.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2A63F9-0B06-405F-8383-761320AB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Prepared by Zixuan Liang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9BCBA2-B3AE-4D44-9F85-118F6F6D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00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</a:defRPr>
            </a:pPr>
            <a:r>
              <a:rPr sz="975" b="0">
                <a:solidFill>
                  <a:srgbClr val="5B616B"/>
                </a:solidFill>
              </a:rPr>
              <a:t>CISC 594 - Final Project Presentation - 10/14</a:t>
            </a:r>
          </a:p>
        </p:txBody>
      </p:sp>
    </p:spTree>
    <p:extLst>
      <p:ext uri="{BB962C8B-B14F-4D97-AF65-F5344CB8AC3E}">
        <p14:creationId xmlns:p14="http://schemas.microsoft.com/office/powerpoint/2010/main" val="99202165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C0CE7D-BDD6-4648-B73F-43D76207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</a:defRPr>
            </a:pPr>
            <a:r>
              <a:rPr sz="1050" b="1">
                <a:solidFill>
                  <a:srgbClr val="5B616B"/>
                </a:solidFill>
              </a:rPr>
              <a:t>Repository and release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39A85-3F8E-4835-9EC3-D3F770EE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61616"/>
                </a:solidFill>
              </a:defRPr>
            </a:pPr>
            <a:r>
              <a:rPr sz="2775" b="1">
                <a:solidFill>
                  <a:srgbClr val="161616"/>
                </a:solidFill>
              </a:rPr>
              <a:t>Configuration management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BE28A-B6FE-40EB-ABCA-9403AADB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0CA"/>
          </a:solidFill>
          <a:ln xmlns:a="http://schemas.openxmlformats.org/drawingml/2006/main" w="0">
            <a:solidFill>
              <a:srgbClr val="B9C0CA"/>
            </a:solidFill>
            <a:prstDash val="solid"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14350" y="1695450"/>
          <a:ext xmlns:a="http://schemas.openxmlformats.org/drawingml/2006/main" cx="10668000" cy="37719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909455"/>
                <a:gridCol w="7758545"/>
              </a:tblGrid>
              <a:tr h="53884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1616"/>
                          </a:solidFill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1616"/>
                          </a:solidFill>
                        </a:rPr>
                        <a:t>Project record</a:t>
                      </a:r>
                    </a:p>
                  </a:txBody>
                  <a:tcPr marL="91440" marR="91440" marT="45720" marB="45720">
                    <a:solidFill>
                      <a:srgbClr val="ECEFF3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1616"/>
                          </a:solidFill>
                        </a:rPr>
                        <a:t>Repository package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1616"/>
                          </a:solidFill>
                        </a:rPr>
                        <a:t>PantryPilot_CM_Generic_Files</a:t>
                      </a:r>
                    </a:p>
                  </a:txBody>
                  <a:tcPr marL="91440" marR="91440" marT="45720" marB="45720"/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1616"/>
                          </a:solidFill>
                        </a:rPr>
                        <a:t>Branches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1616"/>
                          </a:solidFill>
                        </a:rPr>
                        <a:t>main; feature/safety-grocery-controls</a:t>
                      </a:r>
                    </a:p>
                  </a:txBody>
                  <a:tcPr marL="91440" marR="91440" marT="45720" marB="45720"/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1616"/>
                          </a:solidFill>
                        </a:rPr>
                        <a:t>Release tags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1616"/>
                          </a:solidFill>
                        </a:rPr>
                        <a:t>v1.0.0 baseline; v1.1.0 safety and grocery controls</a:t>
                      </a:r>
                    </a:p>
                  </a:txBody>
                  <a:tcPr marL="91440" marR="91440" marT="45720" marB="45720"/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1616"/>
                          </a:solidFill>
                        </a:rPr>
                        <a:t>Key commits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1616"/>
                          </a:solidFill>
                        </a:rPr>
                        <a:t>842ae5e baseline; 72a997e feature controls; 834e64e merge/release</a:t>
                      </a:r>
                    </a:p>
                  </a:txBody>
                  <a:tcPr marL="91440" marR="91440" marT="45720" marB="45720"/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1616"/>
                          </a:solidFill>
                        </a:rPr>
                        <a:t>CI workflow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1616"/>
                          </a:solidFill>
                        </a:rPr>
                        <a:t>.github/workflows/ci.yml installs requirements and runs pytest on Python 3.12</a:t>
                      </a:r>
                    </a:p>
                  </a:txBody>
                  <a:tcPr marL="91440" marR="91440" marT="45720" marB="45720"/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1616"/>
                          </a:solidFill>
                        </a:rPr>
                        <a:t>Traceability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1616"/>
                          </a:solidFill>
                        </a:rPr>
                        <a:t>CHANGELOG, release notes, tests, and CM report preserve change history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A648B-ADB6-41B8-901F-5127B17E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Prepared by Zixuan Liang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DEAFA-76AD-41FE-A872-57C0F30F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00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</a:defRPr>
            </a:pPr>
            <a:r>
              <a:rPr sz="975" b="0">
                <a:solidFill>
                  <a:srgbClr val="5B616B"/>
                </a:solidFill>
              </a:rPr>
              <a:t>CISC 594 - Final Project Presentation - 11/14</a:t>
            </a:r>
          </a:p>
        </p:txBody>
      </p:sp>
    </p:spTree>
    <p:extLst>
      <p:ext uri="{BB962C8B-B14F-4D97-AF65-F5344CB8AC3E}">
        <p14:creationId xmlns:p14="http://schemas.microsoft.com/office/powerpoint/2010/main" val="120034901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94533C-160D-47ED-8FAF-1D3916F5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</a:defRPr>
            </a:pPr>
            <a:r>
              <a:rPr sz="1050" b="1">
                <a:solidFill>
                  <a:srgbClr val="5B616B"/>
                </a:solidFill>
              </a:rPr>
              <a:t>Methodology and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DDBCB-7290-4CEA-AFDA-2F7CD2C5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61616"/>
                </a:solidFill>
              </a:defRPr>
            </a:pPr>
            <a:r>
              <a:rPr sz="2775" b="1">
                <a:solidFill>
                  <a:srgbClr val="161616"/>
                </a:solidFill>
              </a:rPr>
              <a:t>System testing 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1DED9-C168-4D06-B6D1-C35934C3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0CA"/>
          </a:solidFill>
          <a:ln xmlns:a="http://schemas.openxmlformats.org/drawingml/2006/main" w="0">
            <a:solidFill>
              <a:srgbClr val="B9C0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3AE00-5AA1-4221-8CAE-4E5B2F6E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32956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97E86-62A1-4BE8-A5F8-93CDD5A1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 w="0">
            <a:solidFill>
              <a:srgbClr val="1D4E8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01900-B8AD-436F-93C9-D9F253BD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6"/>
                </a:solidFill>
              </a:defRPr>
            </a:pPr>
            <a:r>
              <a:rPr sz="1500" b="1">
                <a:solidFill>
                  <a:srgbClr val="161616"/>
                </a:solidFill>
              </a:rPr>
              <a:t>Methodology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DBAAA-F99A-43B8-972A-28F93201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Manual/system-level scenarios exercise release identity, quality gates, grocery aggregation, safety controls, and pantry date boundaries.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CFFBF-BCDC-4BB6-8EC4-A51A51AE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14500"/>
            <a:ext cx="32956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3869E-8126-4F4E-889B-9D319394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145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5"/>
          </a:solidFill>
          <a:ln xmlns:a="http://schemas.openxmlformats.org/drawingml/2006/main" w="0">
            <a:solidFill>
              <a:srgbClr val="147A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A9336-C913-46AB-A38B-F4905D43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859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6"/>
                </a:solidFill>
              </a:defRPr>
            </a:pPr>
            <a:r>
              <a:rPr sz="1500" b="1">
                <a:solidFill>
                  <a:srgbClr val="161616"/>
                </a:solidFill>
              </a:rPr>
              <a:t>Environment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98D7E-A1C6-46FA-99E1-0C8AA36F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28850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macOS 26.5.1 arm64, local Python 3.11.15, CI Python 3.12, pytest 8.2.2 in requirements.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614751-BDE5-40B5-81B8-D80635BE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14500"/>
            <a:ext cx="32956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62EBC0-08C5-4D4F-905E-34097B01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145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B2A"/>
          </a:solidFill>
          <a:ln xmlns:a="http://schemas.openxmlformats.org/drawingml/2006/main" w="0">
            <a:solidFill>
              <a:srgbClr val="F36B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88C8A-9682-47C5-8D42-FEC951BD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859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6"/>
                </a:solidFill>
              </a:defRPr>
            </a:pPr>
            <a:r>
              <a:rPr sz="1500" b="1">
                <a:solidFill>
                  <a:srgbClr val="161616"/>
                </a:solidFill>
              </a:rPr>
              <a:t>Setup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1E6DBA-D764-4975-8229-B039985B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28850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</a:defRPr>
            </a:pPr>
            <a:r>
              <a:rPr sz="1200" b="0">
                <a:solidFill>
                  <a:srgbClr val="5B616B"/>
                </a:solidFill>
              </a:rPr>
              <a:t>Clone/source package, install requirements, run pytest in CI, and run python3 system_test_runner.py for system scenarios.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514350" y="3676650"/>
          <a:ext xmlns:a="http://schemas.openxmlformats.org/drawingml/2006/main" cx="10668000" cy="16954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37647"/>
                <a:gridCol w="7530353"/>
              </a:tblGrid>
              <a:tr h="33909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61616"/>
                          </a:solidFill>
                        </a:rPr>
                        <a:t>Test class</a:t>
                      </a:r>
                    </a:p>
                  </a:txBody>
                  <a:tcPr marL="91440" marR="91440" marT="45720" marB="45720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61616"/>
                          </a:solidFill>
                        </a:rPr>
                        <a:t>Coverage target</a:t>
                      </a:r>
                    </a:p>
                  </a:txBody>
                  <a:tcPr marL="91440" marR="91440" marT="45720" marB="45720">
                    <a:solidFill>
                      <a:srgbClr val="ECEFF3"/>
                    </a:solidFill>
                  </a:tcPr>
                </a:tc>
              </a:tr>
              <a:tr h="33909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1616"/>
                          </a:solidFill>
                        </a:rPr>
                        <a:t>Release readiness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1616"/>
                          </a:solidFill>
                        </a:rPr>
                        <a:t>Version identity and required quality gates</a:t>
                      </a:r>
                    </a:p>
                  </a:txBody>
                  <a:tcPr marL="91440" marR="91440" marT="45720" marB="45720"/>
                </a:tc>
              </a:tr>
              <a:tr h="33909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1616"/>
                          </a:solidFill>
                        </a:rPr>
                        <a:t>Core workflow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1616"/>
                          </a:solidFill>
                        </a:rPr>
                        <a:t>Grocery aggregation across recipes and normalized units</a:t>
                      </a:r>
                    </a:p>
                  </a:txBody>
                  <a:tcPr marL="91440" marR="91440" marT="45720" marB="45720"/>
                </a:tc>
              </a:tr>
              <a:tr h="33909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1616"/>
                          </a:solidFill>
                        </a:rPr>
                        <a:t>Safety behavior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1616"/>
                          </a:solidFill>
                        </a:rPr>
                        <a:t>Allergen conflict blocked; safe recipe allowed</a:t>
                      </a:r>
                    </a:p>
                  </a:txBody>
                  <a:tcPr marL="91440" marR="91440" marT="45720" marB="45720"/>
                </a:tc>
              </a:tr>
              <a:tr h="33909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1616"/>
                          </a:solidFill>
                        </a:rPr>
                        <a:t>Boundary conditions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1616"/>
                          </a:solidFill>
                        </a:rPr>
                        <a:t>Pantry item expires today, +3 days, +4 days, and yesterday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9FF242-6472-49D4-BD36-133BB6ED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Prepared by Zixuan Liang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9F3C2-62A3-48C8-984C-C37DEF3C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00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</a:defRPr>
            </a:pPr>
            <a:r>
              <a:rPr sz="975" b="0">
                <a:solidFill>
                  <a:srgbClr val="5B616B"/>
                </a:solidFill>
              </a:rPr>
              <a:t>CISC 594 - Final Project Presentation - 12/14</a:t>
            </a:r>
          </a:p>
        </p:txBody>
      </p:sp>
    </p:spTree>
    <p:extLst>
      <p:ext uri="{BB962C8B-B14F-4D97-AF65-F5344CB8AC3E}">
        <p14:creationId xmlns:p14="http://schemas.microsoft.com/office/powerpoint/2010/main" val="61984504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0D68CF-9020-405B-9F46-3CA5E34C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</a:defRPr>
            </a:pPr>
            <a:r>
              <a:rPr sz="1050" b="1">
                <a:solidFill>
                  <a:srgbClr val="5B616B"/>
                </a:solidFill>
              </a:rPr>
              <a:t>Actual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60918-1592-4ED5-9D5F-1E386884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61616"/>
                </a:solidFill>
              </a:defRPr>
            </a:pPr>
            <a:r>
              <a:rPr sz="2775" b="1">
                <a:solidFill>
                  <a:srgbClr val="161616"/>
                </a:solidFill>
              </a:rPr>
              <a:t>System testing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52B87-744D-4E94-BA47-1674FFC2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0CA"/>
          </a:solidFill>
          <a:ln xmlns:a="http://schemas.openxmlformats.org/drawingml/2006/main" w="0">
            <a:solidFill>
              <a:srgbClr val="B9C0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69B9B-8D63-4499-A05E-729C9310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47A55"/>
                </a:solidFill>
              </a:defRPr>
            </a:pPr>
            <a:r>
              <a:rPr sz="5100" b="1">
                <a:solidFill>
                  <a:srgbClr val="147A55"/>
                </a:solidFill>
              </a:rPr>
              <a:t>6 /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2E4B2-0125-47AE-A4F2-6E207945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9431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1616"/>
                </a:solidFill>
              </a:defRPr>
            </a:pPr>
            <a:r>
              <a:rPr sz="2175" b="1">
                <a:solidFill>
                  <a:srgbClr val="161616"/>
                </a:solidFill>
              </a:rPr>
              <a:t>system scenarios passed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3519E-FEB2-49AE-91BB-FB633CAF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003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16B"/>
                </a:solidFill>
              </a:defRPr>
            </a:pPr>
            <a:r>
              <a:rPr sz="1425" b="0">
                <a:solidFill>
                  <a:srgbClr val="5B616B"/>
                </a:solidFill>
              </a:rPr>
              <a:t>No defects were observed during the final local system-test execution.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14350" y="3028950"/>
          <a:ext xmlns:a="http://schemas.openxmlformats.org/drawingml/2006/main" cx="10668000" cy="25336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833813"/>
                <a:gridCol w="6834188"/>
              </a:tblGrid>
              <a:tr h="3619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616"/>
                          </a:solidFill>
                        </a:rPr>
                        <a:t>Scenario</a:t>
                      </a:r>
                    </a:p>
                  </a:txBody>
                  <a:tcPr marL="91440" marR="91440" marT="45720" marB="45720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616"/>
                          </a:solidFill>
                        </a:rPr>
                        <a:t>Actual result</a:t>
                      </a:r>
                    </a:p>
                  </a:txBody>
                  <a:tcPr marL="91440" marR="91440" marT="45720" marB="45720">
                    <a:solidFill>
                      <a:srgbClr val="ECEFF3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1616"/>
                          </a:solidFill>
                        </a:rPr>
                        <a:t>V1-ST-01 release identity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1616"/>
                          </a:solidFill>
                        </a:rPr>
                        <a:t>PantryPilot 1.1.0: Safety &amp; Grocery Controls</a:t>
                      </a:r>
                    </a:p>
                  </a:txBody>
                  <a:tcPr marL="91440" marR="91440" marT="45720" marB="45720"/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1616"/>
                          </a:solidFill>
                        </a:rPr>
                        <a:t>V1-ST-02 quality gates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1616"/>
                          </a:solidFill>
                        </a:rPr>
                        <a:t>ci_required, pull_request_required, review_required, unit_tests_required</a:t>
                      </a:r>
                    </a:p>
                  </a:txBody>
                  <a:tcPr marL="91440" marR="91440" marT="45720" marB="45720"/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1616"/>
                          </a:solidFill>
                        </a:rPr>
                        <a:t>V1-ST-03 grocery aggregation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1616"/>
                          </a:solidFill>
                        </a:rPr>
                        <a:t>rice quantity 3.0 cup</a:t>
                      </a:r>
                    </a:p>
                  </a:txBody>
                  <a:tcPr marL="91440" marR="91440" marT="45720" marB="45720"/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1616"/>
                          </a:solidFill>
                        </a:rPr>
                        <a:t>V1.1-ST-01 allergen conflict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1616"/>
                          </a:solidFill>
                        </a:rPr>
                        <a:t>soy conflict detected; safe=false</a:t>
                      </a:r>
                    </a:p>
                  </a:txBody>
                  <a:tcPr marL="91440" marR="91440" marT="45720" marB="45720"/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1616"/>
                          </a:solidFill>
                        </a:rPr>
                        <a:t>V1.1-ST-02 safe recipe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1616"/>
                          </a:solidFill>
                        </a:rPr>
                        <a:t>safe=true</a:t>
                      </a:r>
                    </a:p>
                  </a:txBody>
                  <a:tcPr marL="91440" marR="91440" marT="45720" marB="45720"/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1616"/>
                          </a:solidFill>
                        </a:rPr>
                        <a:t>V1.1-ST-03 expiry window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1616"/>
                          </a:solidFill>
                        </a:rPr>
                        <a:t>today=true, +3=true, +4=false, yesterday=false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F4DAF-67BF-42DB-983F-A66A147B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Prepared by Zixuan Liang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8683A-45BA-4AF9-A95D-5B024365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00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</a:defRPr>
            </a:pPr>
            <a:r>
              <a:rPr sz="975" b="0">
                <a:solidFill>
                  <a:srgbClr val="5B616B"/>
                </a:solidFill>
              </a:rPr>
              <a:t>CISC 594 - Final Project Presentation - 13/14</a:t>
            </a:r>
          </a:p>
        </p:txBody>
      </p:sp>
    </p:spTree>
    <p:extLst>
      <p:ext uri="{BB962C8B-B14F-4D97-AF65-F5344CB8AC3E}">
        <p14:creationId xmlns:p14="http://schemas.microsoft.com/office/powerpoint/2010/main" val="127824674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146A3C-FEA7-440B-8473-7F508B2D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16B"/>
                </a:solidFill>
              </a:defRPr>
            </a:pPr>
            <a:r>
              <a:rPr sz="1050" b="1">
                <a:solidFill>
                  <a:srgbClr val="5B616B"/>
                </a:solidFill>
              </a:rPr>
              <a:t>Closing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629B0-76DA-4729-97C4-60C77FA8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61616"/>
                </a:solidFill>
              </a:defRPr>
            </a:pPr>
            <a:r>
              <a:rPr sz="2775" b="1">
                <a:solidFill>
                  <a:srgbClr val="161616"/>
                </a:solidFill>
              </a:rPr>
              <a:t>Final takeaway and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B4254-7B5A-4C38-9BB8-E66D03DD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0CA"/>
          </a:solidFill>
          <a:ln xmlns:a="http://schemas.openxmlformats.org/drawingml/2006/main" w="0">
            <a:solidFill>
              <a:srgbClr val="B9C0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5F01E-583D-4116-BF51-2CB48DD4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1616"/>
                </a:solidFill>
              </a:defRPr>
            </a:pPr>
            <a:r>
              <a:rPr sz="2325" b="1">
                <a:solidFill>
                  <a:srgbClr val="161616"/>
                </a:solidFill>
              </a:rPr>
              <a:t>PantryPilot's quality story is not just adding intelligence to recipes.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2C11D-AFC6-49B1-958E-0FA1F5D7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990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6B2A"/>
                </a:solidFill>
              </a:defRPr>
            </a:pPr>
            <a:r>
              <a:rPr sz="2250" b="1">
                <a:solidFill>
                  <a:srgbClr val="F36B2A"/>
                </a:solidFill>
              </a:rPr>
              <a:t>It is a controlled system where risky outputs are bounded by deterministic checks, versioned baselines, risk tracking, and system-level test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DAB7F-8EC0-4BF3-A8FA-B1E23050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8600"/>
            <a:ext cx="1028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9C0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F769A-CC0B-43F1-B1C8-B7C59DFC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616"/>
                </a:solidFill>
              </a:defRPr>
            </a:pPr>
            <a:r>
              <a:rPr sz="1575" b="1">
                <a:solidFill>
                  <a:srgbClr val="161616"/>
                </a:solidFill>
              </a:rPr>
              <a:t>Project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F5031-233F-4D55-BD29-752CADBB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719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- PantryPilot Risk Management Report</a:t>
            </a:r>
          </a:p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- PantryPilot Final Configuration Management Report</a:t>
            </a:r>
          </a:p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- PantryPilot System Testing Report</a:t>
            </a:r>
          </a:p>
          <a:p xmlns:a="http://schemas.openxmlformats.org/drawingml/2006/main">
            <a:pPr algn="l">
              <a:defRPr sz="1350" b="0">
                <a:solidFill>
                  <a:srgbClr val="5B616B"/>
                </a:solidFill>
              </a:defRPr>
            </a:pPr>
            <a:r>
              <a:rPr sz="1350" b="0">
                <a:solidFill>
                  <a:srgbClr val="5B616B"/>
                </a:solidFill>
              </a:rPr>
              <a:t>- PantryPilot CM Generic Files source package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AC2C2-C415-44A0-8411-38835DC3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578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616"/>
                </a:solidFill>
              </a:defRPr>
            </a:pPr>
            <a:r>
              <a:rPr sz="2850" b="1">
                <a:solidFill>
                  <a:srgbClr val="161616"/>
                </a:solidFill>
              </a:rPr>
              <a:t>Questions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5B406-AA6E-4A7A-A4C5-5BC16F92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Prepared by Zixuan Liang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E54CB-843D-4FB2-BE69-4DA5F9DB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00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16B"/>
                </a:solidFill>
              </a:defRPr>
            </a:pPr>
            <a:r>
              <a:rPr sz="975" b="0">
                <a:solidFill>
                  <a:srgbClr val="5B616B"/>
                </a:solidFill>
              </a:rPr>
              <a:t>CISC 594 - Final Project Presentation - 14/14</a:t>
            </a:r>
          </a:p>
        </p:txBody>
      </p:sp>
    </p:spTree>
    <p:extLst>
      <p:ext uri="{BB962C8B-B14F-4D97-AF65-F5344CB8AC3E}">
        <p14:creationId xmlns:p14="http://schemas.microsoft.com/office/powerpoint/2010/main" val="12290811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2026-06-27T04:44:06.9770000Z</dcterms:created>
  <dcterms:modified xsi:type="dcterms:W3CDTF">2026-06-27T04:44:06.9770000Z</dcterms:modified>
</coreProperties>
</file>