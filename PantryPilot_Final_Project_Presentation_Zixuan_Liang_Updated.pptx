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aba7c0530143c2" /><Relationship Type="http://schemas.openxmlformats.org/officeDocument/2006/relationships/extended-properties" Target="/docProps/app.xml" Id="Rddd2a2173c394e02" /><Relationship Type="http://schemas.openxmlformats.org/officeDocument/2006/relationships/officeDocument" Target="/ppt/presentation.xml" Id="R0a8653ee633a40c3" /></Relationships>
</file>

<file path=ppt/presentation.xml><?xml version="1.0" encoding="utf-8"?>
<p:presentation xmlns:p="http://schemas.openxmlformats.org/presentationml/2006/main">
  <p:sldMasterIdLst>
    <p:sldMasterId xmlns:r="http://schemas.openxmlformats.org/officeDocument/2006/relationships" id="2147483648" r:id="Rc36ed3b202774618"/>
  </p:sldMasterIdLst>
  <p:notesMasterIdLst>
    <p:notesMasterId xmlns:r="http://schemas.openxmlformats.org/officeDocument/2006/relationships" r:id="R6b727b4722714076"/>
  </p:notesMasterIdLst>
  <p:sldIdLst>
    <p:sldId xmlns:r="http://schemas.openxmlformats.org/officeDocument/2006/relationships" id="256" r:id="R535565fdeabe4a3d"/>
    <p:sldId xmlns:r="http://schemas.openxmlformats.org/officeDocument/2006/relationships" id="257" r:id="R4821057e56514c20"/>
    <p:sldId xmlns:r="http://schemas.openxmlformats.org/officeDocument/2006/relationships" id="258" r:id="Rf5250f6bc2e043b6"/>
    <p:sldId xmlns:r="http://schemas.openxmlformats.org/officeDocument/2006/relationships" id="259" r:id="R5e99e217fe3a4a01"/>
    <p:sldId xmlns:r="http://schemas.openxmlformats.org/officeDocument/2006/relationships" id="260" r:id="R505f238f5b494301"/>
    <p:sldId xmlns:r="http://schemas.openxmlformats.org/officeDocument/2006/relationships" id="261" r:id="Rbdf9e9c0e76748da"/>
    <p:sldId xmlns:r="http://schemas.openxmlformats.org/officeDocument/2006/relationships" id="262" r:id="Recd2db2cbdfb4bbf"/>
    <p:sldId xmlns:r="http://schemas.openxmlformats.org/officeDocument/2006/relationships" id="263" r:id="Rb9ad3a9842c448ff"/>
    <p:sldId xmlns:r="http://schemas.openxmlformats.org/officeDocument/2006/relationships" id="264" r:id="R086902b3f5a44751"/>
    <p:sldId xmlns:r="http://schemas.openxmlformats.org/officeDocument/2006/relationships" id="265" r:id="R7b039a3c684f4a2f"/>
    <p:sldId xmlns:r="http://schemas.openxmlformats.org/officeDocument/2006/relationships" id="266" r:id="R8b830af1ca6e4a82"/>
    <p:sldId xmlns:r="http://schemas.openxmlformats.org/officeDocument/2006/relationships" id="267" r:id="R24e76a105da44137"/>
    <p:sldId xmlns:r="http://schemas.openxmlformats.org/officeDocument/2006/relationships" id="268" r:id="R2a8a3a32f42a4f67"/>
    <p:sldId xmlns:r="http://schemas.openxmlformats.org/officeDocument/2006/relationships" id="269" r:id="R5b511683de27410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19e4ad0541480e" /><Relationship Type="http://schemas.openxmlformats.org/officeDocument/2006/relationships/slideMaster" Target="/ppt/slideMasters/slideMaster1.xml" Id="Rc36ed3b202774618" /><Relationship Type="http://schemas.openxmlformats.org/officeDocument/2006/relationships/notesMaster" Target="/ppt/notesMasters/notesMaster1.xml" Id="R6b727b4722714076" /><Relationship Type="http://schemas.openxmlformats.org/officeDocument/2006/relationships/presProps" Target="/ppt/presProps.xml" Id="Ra162e3664c0142f0" /><Relationship Type="http://schemas.openxmlformats.org/officeDocument/2006/relationships/tableStyles" Target="/ppt/tableStyles.xml" Id="Reb46f57cc1374749" /><Relationship Type="http://schemas.openxmlformats.org/officeDocument/2006/relationships/slide" Target="/ppt/slides/slide1.xml" Id="R535565fdeabe4a3d" /><Relationship Type="http://schemas.openxmlformats.org/officeDocument/2006/relationships/slide" Target="/ppt/slides/slide2.xml" Id="R4821057e56514c20" /><Relationship Type="http://schemas.openxmlformats.org/officeDocument/2006/relationships/slide" Target="/ppt/slides/slide3.xml" Id="Rf5250f6bc2e043b6" /><Relationship Type="http://schemas.openxmlformats.org/officeDocument/2006/relationships/slide" Target="/ppt/slides/slide4.xml" Id="R5e99e217fe3a4a01" /><Relationship Type="http://schemas.openxmlformats.org/officeDocument/2006/relationships/slide" Target="/ppt/slides/slide5.xml" Id="R505f238f5b494301" /><Relationship Type="http://schemas.openxmlformats.org/officeDocument/2006/relationships/slide" Target="/ppt/slides/slide6.xml" Id="Rbdf9e9c0e76748da" /><Relationship Type="http://schemas.openxmlformats.org/officeDocument/2006/relationships/slide" Target="/ppt/slides/slide7.xml" Id="Recd2db2cbdfb4bbf" /><Relationship Type="http://schemas.openxmlformats.org/officeDocument/2006/relationships/slide" Target="/ppt/slides/slide8.xml" Id="Rb9ad3a9842c448ff" /><Relationship Type="http://schemas.openxmlformats.org/officeDocument/2006/relationships/slide" Target="/ppt/slides/slide9.xml" Id="R086902b3f5a44751" /><Relationship Type="http://schemas.openxmlformats.org/officeDocument/2006/relationships/slide" Target="/ppt/slides/slide10.xml" Id="R7b039a3c684f4a2f" /><Relationship Type="http://schemas.openxmlformats.org/officeDocument/2006/relationships/slide" Target="/ppt/slides/slide11.xml" Id="R8b830af1ca6e4a82" /><Relationship Type="http://schemas.openxmlformats.org/officeDocument/2006/relationships/slide" Target="/ppt/slides/slide12.xml" Id="R24e76a105da44137" /><Relationship Type="http://schemas.openxmlformats.org/officeDocument/2006/relationships/slide" Target="/ppt/slides/slide13.xml" Id="R2a8a3a32f42a4f67" /><Relationship Type="http://schemas.openxmlformats.org/officeDocument/2006/relationships/slide" Target="/ppt/slides/slide14.xml" Id="R5b511683de2741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eaf1216a6f4f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86d50d587f435e" /><Relationship Type="http://schemas.openxmlformats.org/officeDocument/2006/relationships/notesMaster" Target="/ppt/notesMasters/notesMaster1.xml" Id="Rccedc509f3e844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14d193bc5b4dba" /><Relationship Type="http://schemas.openxmlformats.org/officeDocument/2006/relationships/notesMaster" Target="/ppt/notesMasters/notesMaster1.xml" Id="R5f794d14430d4a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69926a152346a7" /><Relationship Type="http://schemas.openxmlformats.org/officeDocument/2006/relationships/notesMaster" Target="/ppt/notesMasters/notesMaster1.xml" Id="Rb1ccfe4cde814e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27afdc9c0944e0" /><Relationship Type="http://schemas.openxmlformats.org/officeDocument/2006/relationships/notesMaster" Target="/ppt/notesMasters/notesMaster1.xml" Id="Rf5a607d4ad934d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531ca95a3a4b63" /><Relationship Type="http://schemas.openxmlformats.org/officeDocument/2006/relationships/notesMaster" Target="/ppt/notesMasters/notesMaster1.xml" Id="R0b9a7ede3e1a49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f56bf1f5d5429d" /><Relationship Type="http://schemas.openxmlformats.org/officeDocument/2006/relationships/notesMaster" Target="/ppt/notesMasters/notesMaster1.xml" Id="R1fac4d3e67524b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014c4270d64708" /><Relationship Type="http://schemas.openxmlformats.org/officeDocument/2006/relationships/notesMaster" Target="/ppt/notesMasters/notesMaster1.xml" Id="R29c75cbdc09145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a930234e7c463f" /><Relationship Type="http://schemas.openxmlformats.org/officeDocument/2006/relationships/notesMaster" Target="/ppt/notesMasters/notesMaster1.xml" Id="R44c481e85c8249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eeccca61a3412e" /><Relationship Type="http://schemas.openxmlformats.org/officeDocument/2006/relationships/notesMaster" Target="/ppt/notesMasters/notesMaster1.xml" Id="Rc17f2b229a914c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68a51312c14bc7" /><Relationship Type="http://schemas.openxmlformats.org/officeDocument/2006/relationships/notesMaster" Target="/ppt/notesMasters/notesMaster1.xml" Id="R3f0f3d34524540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b2a0e29a4242b2" /><Relationship Type="http://schemas.openxmlformats.org/officeDocument/2006/relationships/notesMaster" Target="/ppt/notesMasters/notesMaster1.xml" Id="Radca72a65d764c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e9cf7fe1454e5c" /><Relationship Type="http://schemas.openxmlformats.org/officeDocument/2006/relationships/notesMaster" Target="/ppt/notesMasters/notesMaster1.xml" Id="R4f626ed11b5b4d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5fc0cbf71b4355" /><Relationship Type="http://schemas.openxmlformats.org/officeDocument/2006/relationships/notesMaster" Target="/ppt/notesMasters/notesMaster1.xml" Id="R5472a9556eff46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e560072ac7467b" /><Relationship Type="http://schemas.openxmlformats.org/officeDocument/2006/relationships/notesMaster" Target="/ppt/notesMasters/notesMaster1.xml" Id="R50426fcbb2db4c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message: PantryPilot is useful only when intelligent behavior is bounded by traceable, executable quality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five required presentation sections. Tell the audience that the live demo will connect features, risk controls, CM evidence, and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from the user's point of view and then bridge into quality concerns.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transition. Start the local server before presenting. Show the Plan view first and point to the soy conflict blocked by the deterministic safety gate. Then visit Grocery, Pantry, and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executable path: the browser calls Flask endpoints, Flask delegates to the same deterministic Python functions used by tests, and the Quality view exposes the six release scenarios.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individual project. Call out ownership of the web implementation, repository consolidation, updated risk register, and current verification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management is iterative. R8 was added only after the web presentation layer existed; it is monitored through endpoint tests, local assets, and browser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probability times impact. R8 scores 8, below safety and data risks, but it still matters because a UI/backend mismatch could misrepresent a safety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mitigation to evidence. For R8, the Flask API is the source of truth and WEB-01 through WEB-05 verify the browser-facing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CM as a release discipline. v1.1.0 remains the tagged backend baseline; the Flask demo is intentionally listed under [Unreleased] until it completes the same branch/review/tag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repository paths and preserved history. The complete CISC-594 folder is now the GitHub repository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Testing has two layers: six formal release scenarios and five Flask integration tests. Manual browser QA checks responsive presentation behavior that the API tests do not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both numbers precisely: 11 of 11 pytest tests passed, including five web/API regressions; 6 of 6 formal system scenarios also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thesis that the UI does not replace the reports. It makes the same controls and evidence observable in a short, repeatable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52ac849dce4c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2a56da1f43423a" /><Relationship Type="http://schemas.openxmlformats.org/officeDocument/2006/relationships/slideLayout" Target="/ppt/slideLayouts/slideLayout1.xml" Id="R1ae72f38887743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e72f38887743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365c607615409c" /><Relationship Type="http://schemas.openxmlformats.org/officeDocument/2006/relationships/notesSlide" Target="/ppt/notesSlides/notesSlide1.xml" Id="Rece9e5d1c8a741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1cf64f3f8a49bb" /><Relationship Type="http://schemas.openxmlformats.org/officeDocument/2006/relationships/notesSlide" Target="/ppt/notesSlides/notesSlide2.xml" Id="R66d2fcc7c8984e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95be23d9884dcf" /><Relationship Type="http://schemas.openxmlformats.org/officeDocument/2006/relationships/notesSlide" Target="/ppt/notesSlides/notesSlide3.xml" Id="R3c22a9562bc346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fc2db109d740d9" /><Relationship Type="http://schemas.openxmlformats.org/officeDocument/2006/relationships/image" Target="/ppt/media/image.png" Id="Rb1013f2ed12b4ca9" /><Relationship Type="http://schemas.openxmlformats.org/officeDocument/2006/relationships/notesSlide" Target="/ppt/notesSlides/notesSlide4.xml" Id="Rf45b397e0e9c45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feb174742649d5" /><Relationship Type="http://schemas.openxmlformats.org/officeDocument/2006/relationships/notesSlide" Target="/ppt/notesSlides/notesSlide5.xml" Id="R2c92900d4dd449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3fe30d0c3c49cd" /><Relationship Type="http://schemas.openxmlformats.org/officeDocument/2006/relationships/notesSlide" Target="/ppt/notesSlides/notesSlide6.xml" Id="R5d44e040fb0d47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a1c9f3c8ed452b" /><Relationship Type="http://schemas.openxmlformats.org/officeDocument/2006/relationships/notesSlide" Target="/ppt/notesSlides/notesSlide7.xml" Id="R9b404e981df440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e3be51ff1c4134" /><Relationship Type="http://schemas.openxmlformats.org/officeDocument/2006/relationships/chart" Target="/ppt/slides/charts/chart1.xml" Id="Ra6c3a63f06da443b" /><Relationship Type="http://schemas.openxmlformats.org/officeDocument/2006/relationships/notesSlide" Target="/ppt/notesSlides/notesSlide8.xml" Id="Re36477269a854f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75d7f6f6d467d" /><Relationship Type="http://schemas.openxmlformats.org/officeDocument/2006/relationships/notesSlide" Target="/ppt/notesSlides/notesSlide9.xml" Id="R534207611be747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fa80638c1346ae" /><Relationship Type="http://schemas.openxmlformats.org/officeDocument/2006/relationships/notesSlide" Target="/ppt/notesSlides/notesSlide10.xml" Id="R3d349a5588994a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a2019ea6644bf3" /><Relationship Type="http://schemas.openxmlformats.org/officeDocument/2006/relationships/notesSlide" Target="/ppt/notesSlides/notesSlide11.xml" Id="R548eed3f133849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7a0ab605b2447b1" /><Relationship Type="http://schemas.openxmlformats.org/officeDocument/2006/relationships/notesSlide" Target="/ppt/notesSlides/notesSlide12.xml" Id="R2cfe5d4ebf4540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2561f7b3fb4e56" /><Relationship Type="http://schemas.openxmlformats.org/officeDocument/2006/relationships/notesSlide" Target="/ppt/notesSlides/notesSlide13.xml" Id="R45f52af8485643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8a07438e0e046a0" /><Relationship Type="http://schemas.openxmlformats.org/officeDocument/2006/relationships/notesSlide" Target="/ppt/notesSlides/notesSlide14.xml" Id="Rc066854ad5f04f3d" /></Relationships>
</file>

<file path=ppt/slides/charts/chart1.xml><?xml version="1.0" encoding="utf-8"?>
<c:chartSpace xmlns:c="http://schemas.openxmlformats.org/drawingml/2006/chart">
  <c:lang val="en-US"/>
  <c:roundedCorners val="0"/>
  <c:chart>
    <c:plotArea>
      <c:barChart>
        <c:barDir val="bar"/>
        <c:grouping val="clustered"/>
        <c:varyColors val="0"/>
        <c:ser>
          <c:idx val="0"/>
          <c:order val="0"/>
          <c:tx>
            <c:v>Risk score</c:v>
          </c:tx>
          <c:spPr>
            <a:solidFill xmlns:a="http://schemas.openxmlformats.org/drawingml/2006/main">
              <a:srgbClr val="161616"/>
            </a:solidFill>
          </c:spPr>
          <c:dLbls>
            <c:showLegendKey val="0"/>
            <c:showVal val="0"/>
            <c:showCatName val="0"/>
            <c:showSerName val="0"/>
            <c:showPercent val="0"/>
            <c:showBubbleSize val="0"/>
            <c:showLeaderLines val="0"/>
          </c:dLbls>
          <c:cat>
            <c:strLit>
              <c:ptCount val="8"/>
              <c:pt idx="0">
                <c:v>Unsafe allergen output</c:v>
              </c:pt>
              <c:pt idx="1">
                <c:v>Optimizer infeasibility</c:v>
              </c:pt>
              <c:pt idx="2">
                <c:v>API instability</c:v>
              </c:pt>
              <c:pt idx="3">
                <c:v>Pantry expiry boundary</c:v>
              </c:pt>
              <c:pt idx="4">
                <c:v>Profile data exposure</c:v>
              </c:pt>
              <c:pt idx="5">
                <c:v>Grocery aggregation</c:v>
              </c:pt>
              <c:pt idx="6">
                <c:v>V2 scope expansion</c:v>
              </c:pt>
              <c:pt idx="7">
                <c:v>UI/demo consistency</c:v>
              </c:pt>
            </c:strLit>
          </c:cat>
          <c:val>
            <c:numLit>
              <c:formatCode>General</c:formatCode>
              <c:ptCount val="8"/>
              <c:pt idx="0">
                <c:v>25</c:v>
              </c:pt>
              <c:pt idx="1">
                <c:v>20</c:v>
              </c:pt>
              <c:pt idx="2">
                <c:v>16</c:v>
              </c:pt>
              <c:pt idx="3">
                <c:v>15</c:v>
              </c:pt>
              <c:pt idx="4">
                <c:v>12</c:v>
              </c:pt>
              <c:pt idx="5">
                <c:v>9</c:v>
              </c:pt>
              <c:pt idx="6">
                <c:v>8</c:v>
              </c:pt>
              <c:pt idx="7">
                <c:v>8</c:v>
              </c:pt>
            </c:numLit>
          </c:val>
        </c:ser>
        <c:dLbls>
          <c:txPr>
            <a:bodyPr xmlns:a="http://schemas.openxmlformats.org/drawingml/2006/main" anchorCtr="1"/>
            <a:lstStyle xmlns:a="http://schemas.openxmlformats.org/drawingml/2006/main"/>
            <a:p xmlns:a="http://schemas.openxmlformats.org/drawingml/2006/main">
              <a:pPr>
                <a:defRPr sz="975">
                  <a:solidFill>
                    <a:srgbClr val="161616"/>
                  </a:solidFil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B616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61616"/>
                </a:solidFill>
              </a:defRPr>
            </a:pPr>
          </a:p>
        </c:txPr>
        <c:crossAx val="48650112"/>
        <c:crosses val="autoZero"/>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1BBFE39-56BF-4BE4-A196-5EAE064BA6AD}"/>
              </a:ext>
            </a:extLst>
          </p:cNvPr>
          <p:cNvSpPr>
            <a:spLocks xmlns:a="http://schemas.openxmlformats.org/drawingml/2006/main" noGrp="1"/>
          </p:cNvSpPr>
          <p:nvPr/>
        </p:nvSpPr>
        <p:spPr>
          <a:xfrm xmlns:a="http://schemas.openxmlformats.org/drawingml/2006/main">
            <a:off x="514350" y="723900"/>
            <a:ext cx="723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950" b="1">
                <a:solidFill>
                  <a:srgbClr val="161616"/>
                </a:solidFill>
              </a:defRPr>
            </a:pPr>
            <a:r>
              <a:rPr sz="4950" b="1">
                <a:solidFill>
                  <a:srgbClr val="161616"/>
                </a:solidFill>
              </a:rPr>
              <a:t>PantryPilot</a:t>
            </a:r>
          </a:p>
        </p:txBody>
      </p:sp>
      <p:sp>
        <p:nvSpPr>
          <p:cNvPr id="2" name="">
            <a:extLst xmlns:a="http://schemas.openxmlformats.org/drawingml/2006/main">
              <a:ext uri="{FF2B5EF4-FFF2-40B4-BE49-F238E27FC236}">
                <a16:creationId xmlns:a16="http://schemas.microsoft.com/office/drawing/2014/main" id="{37437238-5EC5-409A-B4C6-C7C23E21AC47}"/>
              </a:ext>
            </a:extLst>
          </p:cNvPr>
          <p:cNvSpPr>
            <a:spLocks xmlns:a="http://schemas.openxmlformats.org/drawingml/2006/main" noGrp="1"/>
          </p:cNvSpPr>
          <p:nvPr/>
        </p:nvSpPr>
        <p:spPr>
          <a:xfrm xmlns:a="http://schemas.openxmlformats.org/drawingml/2006/main">
            <a:off x="514350" y="16002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F36B2A"/>
                </a:solidFill>
              </a:defRPr>
            </a:pPr>
            <a:r>
              <a:rPr sz="2250" b="1">
                <a:solidFill>
                  <a:srgbClr val="F36B2A"/>
                </a:solidFill>
              </a:rPr>
              <a:t>Final Project Presentation</a:t>
            </a:r>
          </a:p>
        </p:txBody>
      </p:sp>
      <p:sp>
        <p:nvSpPr>
          <p:cNvPr id="3" name="">
            <a:extLst xmlns:a="http://schemas.openxmlformats.org/drawingml/2006/main">
              <a:ext uri="{FF2B5EF4-FFF2-40B4-BE49-F238E27FC236}">
                <a16:creationId xmlns:a16="http://schemas.microsoft.com/office/drawing/2014/main" id="{BA4D86D6-1862-4CC4-8224-CFC152C25341}"/>
              </a:ext>
            </a:extLst>
          </p:cNvPr>
          <p:cNvSpPr>
            <a:spLocks xmlns:a="http://schemas.openxmlformats.org/drawingml/2006/main" noGrp="1"/>
          </p:cNvSpPr>
          <p:nvPr/>
        </p:nvSpPr>
        <p:spPr>
          <a:xfrm xmlns:a="http://schemas.openxmlformats.org/drawingml/2006/main">
            <a:off x="514350" y="213360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5B616B"/>
                </a:solidFill>
              </a:defRPr>
            </a:pPr>
            <a:r>
              <a:rPr sz="1875" b="0">
                <a:solidFill>
                  <a:srgbClr val="5B616B"/>
                </a:solidFill>
              </a:rPr>
              <a:t>Smart meal and grocery planning with executable, safety-aware quality controls</a:t>
            </a:r>
          </a:p>
        </p:txBody>
      </p:sp>
      <p:sp>
        <p:nvSpPr>
          <p:cNvPr id="4" name="">
            <a:extLst xmlns:a="http://schemas.openxmlformats.org/drawingml/2006/main">
              <a:ext uri="{FF2B5EF4-FFF2-40B4-BE49-F238E27FC236}">
                <a16:creationId xmlns:a16="http://schemas.microsoft.com/office/drawing/2014/main" id="{D3CBCA03-41D6-45CB-A705-7DEDBB0FDC32}"/>
              </a:ext>
            </a:extLst>
          </p:cNvPr>
          <p:cNvSpPr>
            <a:spLocks xmlns:a="http://schemas.openxmlformats.org/drawingml/2006/main" noGrp="1"/>
          </p:cNvSpPr>
          <p:nvPr/>
        </p:nvSpPr>
        <p:spPr>
          <a:xfrm xmlns:a="http://schemas.openxmlformats.org/drawingml/2006/main">
            <a:off x="514350" y="3162300"/>
            <a:ext cx="3257550" cy="1314450"/>
          </a:xfrm>
          <a:prstGeom xmlns:a="http://schemas.openxmlformats.org/drawingml/2006/main" prst="rect">
            <a:avLst/>
          </a:prstGeom>
          <a:solidFill xmlns:a="http://schemas.openxmlformats.org/drawingml/2006/main">
            <a:srgbClr val="ECEFF3"/>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2FE61FA9-7A9E-42ED-B4D0-B4209364E127}"/>
              </a:ext>
            </a:extLst>
          </p:cNvPr>
          <p:cNvSpPr>
            <a:spLocks xmlns:a="http://schemas.openxmlformats.org/drawingml/2006/main" noGrp="1"/>
          </p:cNvSpPr>
          <p:nvPr/>
        </p:nvSpPr>
        <p:spPr>
          <a:xfrm xmlns:a="http://schemas.openxmlformats.org/drawingml/2006/main">
            <a:off x="4229100" y="3162300"/>
            <a:ext cx="3257550" cy="1314450"/>
          </a:xfrm>
          <a:prstGeom xmlns:a="http://schemas.openxmlformats.org/drawingml/2006/main" prst="rect">
            <a:avLst/>
          </a:prstGeom>
          <a:solidFill xmlns:a="http://schemas.openxmlformats.org/drawingml/2006/main">
            <a:srgbClr val="ECEFF3"/>
          </a:solidFill>
          <a:ln xmlns:a="http://schemas.openxmlformats.org/drawingml/2006/main" w="9525">
            <a:solidFill>
              <a:srgbClr val="B9C0CA"/>
            </a:solidFill>
            <a:prstDash val="solid"/>
          </a:ln>
        </p:spPr>
      </p:sp>
      <p:sp>
        <p:nvSpPr>
          <p:cNvPr id="6" name="">
            <a:extLst xmlns:a="http://schemas.openxmlformats.org/drawingml/2006/main">
              <a:ext uri="{FF2B5EF4-FFF2-40B4-BE49-F238E27FC236}">
                <a16:creationId xmlns:a16="http://schemas.microsoft.com/office/drawing/2014/main" id="{E144A7B5-98E1-408C-89C2-673BD6DA94A7}"/>
              </a:ext>
            </a:extLst>
          </p:cNvPr>
          <p:cNvSpPr>
            <a:spLocks xmlns:a="http://schemas.openxmlformats.org/drawingml/2006/main" noGrp="1"/>
          </p:cNvSpPr>
          <p:nvPr/>
        </p:nvSpPr>
        <p:spPr>
          <a:xfrm xmlns:a="http://schemas.openxmlformats.org/drawingml/2006/main">
            <a:off x="7943850" y="3162300"/>
            <a:ext cx="3257550" cy="1314450"/>
          </a:xfrm>
          <a:prstGeom xmlns:a="http://schemas.openxmlformats.org/drawingml/2006/main" prst="rect">
            <a:avLst/>
          </a:prstGeom>
          <a:solidFill xmlns:a="http://schemas.openxmlformats.org/drawingml/2006/main">
            <a:srgbClr val="ECEFF3"/>
          </a:solidFill>
          <a:ln xmlns:a="http://schemas.openxmlformats.org/drawingml/2006/main" w="9525">
            <a:solidFill>
              <a:srgbClr val="B9C0CA"/>
            </a:solidFill>
            <a:prstDash val="solid"/>
          </a:ln>
        </p:spPr>
      </p:sp>
      <p:sp>
        <p:nvSpPr>
          <p:cNvPr id="7" name="">
            <a:extLst xmlns:a="http://schemas.openxmlformats.org/drawingml/2006/main">
              <a:ext uri="{FF2B5EF4-FFF2-40B4-BE49-F238E27FC236}">
                <a16:creationId xmlns:a16="http://schemas.microsoft.com/office/drawing/2014/main" id="{2BBA4110-C107-4FC7-8D13-CB2CE8AE76E5}"/>
              </a:ext>
            </a:extLst>
          </p:cNvPr>
          <p:cNvSpPr>
            <a:spLocks xmlns:a="http://schemas.openxmlformats.org/drawingml/2006/main" noGrp="1"/>
          </p:cNvSpPr>
          <p:nvPr/>
        </p:nvSpPr>
        <p:spPr>
          <a:xfrm xmlns:a="http://schemas.openxmlformats.org/drawingml/2006/main">
            <a:off x="742950" y="33909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5B616B"/>
                </a:solidFill>
              </a:defRPr>
            </a:pPr>
            <a:r>
              <a:rPr sz="1350" b="1">
                <a:solidFill>
                  <a:srgbClr val="5B616B"/>
                </a:solidFill>
              </a:rPr>
              <a:t>System</a:t>
            </a:r>
          </a:p>
        </p:txBody>
      </p:sp>
      <p:sp>
        <p:nvSpPr>
          <p:cNvPr id="8" name="">
            <a:extLst xmlns:a="http://schemas.openxmlformats.org/drawingml/2006/main">
              <a:ext uri="{FF2B5EF4-FFF2-40B4-BE49-F238E27FC236}">
                <a16:creationId xmlns:a16="http://schemas.microsoft.com/office/drawing/2014/main" id="{55AB487B-6F18-4AAE-8E3C-CA8C6DD52B56}"/>
              </a:ext>
            </a:extLst>
          </p:cNvPr>
          <p:cNvSpPr>
            <a:spLocks xmlns:a="http://schemas.openxmlformats.org/drawingml/2006/main" noGrp="1"/>
          </p:cNvSpPr>
          <p:nvPr/>
        </p:nvSpPr>
        <p:spPr>
          <a:xfrm xmlns:a="http://schemas.openxmlformats.org/drawingml/2006/main">
            <a:off x="742950" y="37528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61616"/>
                </a:solidFill>
              </a:defRPr>
            </a:pPr>
            <a:r>
              <a:rPr sz="1425" b="1">
                <a:solidFill>
                  <a:srgbClr val="161616"/>
                </a:solidFill>
              </a:rPr>
              <a:t>Meal plans, substitutions, pantry use, and grocery lists</a:t>
            </a:r>
          </a:p>
        </p:txBody>
      </p:sp>
      <p:sp>
        <p:nvSpPr>
          <p:cNvPr id="9" name="">
            <a:extLst xmlns:a="http://schemas.openxmlformats.org/drawingml/2006/main">
              <a:ext uri="{FF2B5EF4-FFF2-40B4-BE49-F238E27FC236}">
                <a16:creationId xmlns:a16="http://schemas.microsoft.com/office/drawing/2014/main" id="{14713F99-B3AE-4BB3-B648-3E61636DED31}"/>
              </a:ext>
            </a:extLst>
          </p:cNvPr>
          <p:cNvSpPr>
            <a:spLocks xmlns:a="http://schemas.openxmlformats.org/drawingml/2006/main" noGrp="1"/>
          </p:cNvSpPr>
          <p:nvPr/>
        </p:nvSpPr>
        <p:spPr>
          <a:xfrm xmlns:a="http://schemas.openxmlformats.org/drawingml/2006/main">
            <a:off x="4457700" y="33909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5B616B"/>
                </a:solidFill>
              </a:defRPr>
            </a:pPr>
            <a:r>
              <a:rPr sz="1350" b="1">
                <a:solidFill>
                  <a:srgbClr val="5B616B"/>
                </a:solidFill>
              </a:rPr>
              <a:t>Quality focus</a:t>
            </a:r>
          </a:p>
        </p:txBody>
      </p:sp>
      <p:sp>
        <p:nvSpPr>
          <p:cNvPr id="10" name="">
            <a:extLst xmlns:a="http://schemas.openxmlformats.org/drawingml/2006/main">
              <a:ext uri="{FF2B5EF4-FFF2-40B4-BE49-F238E27FC236}">
                <a16:creationId xmlns:a16="http://schemas.microsoft.com/office/drawing/2014/main" id="{A1C49060-AFA9-44AC-AF9E-4CD65F5FB5DB}"/>
              </a:ext>
            </a:extLst>
          </p:cNvPr>
          <p:cNvSpPr>
            <a:spLocks xmlns:a="http://schemas.openxmlformats.org/drawingml/2006/main" noGrp="1"/>
          </p:cNvSpPr>
          <p:nvPr/>
        </p:nvSpPr>
        <p:spPr>
          <a:xfrm xmlns:a="http://schemas.openxmlformats.org/drawingml/2006/main">
            <a:off x="4457700" y="37528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61616"/>
                </a:solidFill>
              </a:defRPr>
            </a:pPr>
            <a:r>
              <a:rPr sz="1425" b="1">
                <a:solidFill>
                  <a:srgbClr val="161616"/>
                </a:solidFill>
              </a:rPr>
              <a:t>Risk, CM, traceability, and system-level testing</a:t>
            </a:r>
          </a:p>
        </p:txBody>
      </p:sp>
      <p:sp>
        <p:nvSpPr>
          <p:cNvPr id="11" name="">
            <a:extLst xmlns:a="http://schemas.openxmlformats.org/drawingml/2006/main">
              <a:ext uri="{FF2B5EF4-FFF2-40B4-BE49-F238E27FC236}">
                <a16:creationId xmlns:a16="http://schemas.microsoft.com/office/drawing/2014/main" id="{1683E942-BCD1-4282-9379-35CC3C1F2C82}"/>
              </a:ext>
            </a:extLst>
          </p:cNvPr>
          <p:cNvSpPr>
            <a:spLocks xmlns:a="http://schemas.openxmlformats.org/drawingml/2006/main" noGrp="1"/>
          </p:cNvSpPr>
          <p:nvPr/>
        </p:nvSpPr>
        <p:spPr>
          <a:xfrm xmlns:a="http://schemas.openxmlformats.org/drawingml/2006/main">
            <a:off x="8172450" y="33909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5B616B"/>
                </a:solidFill>
              </a:defRPr>
            </a:pPr>
            <a:r>
              <a:rPr sz="1350" b="1">
                <a:solidFill>
                  <a:srgbClr val="5B616B"/>
                </a:solidFill>
              </a:rPr>
              <a:t>Prepared by</a:t>
            </a:r>
          </a:p>
        </p:txBody>
      </p:sp>
      <p:sp>
        <p:nvSpPr>
          <p:cNvPr id="12" name="">
            <a:extLst xmlns:a="http://schemas.openxmlformats.org/drawingml/2006/main">
              <a:ext uri="{FF2B5EF4-FFF2-40B4-BE49-F238E27FC236}">
                <a16:creationId xmlns:a16="http://schemas.microsoft.com/office/drawing/2014/main" id="{15C53CC6-E6D8-4D47-B47A-8E97585EE06D}"/>
              </a:ext>
            </a:extLst>
          </p:cNvPr>
          <p:cNvSpPr>
            <a:spLocks xmlns:a="http://schemas.openxmlformats.org/drawingml/2006/main" noGrp="1"/>
          </p:cNvSpPr>
          <p:nvPr/>
        </p:nvSpPr>
        <p:spPr>
          <a:xfrm xmlns:a="http://schemas.openxmlformats.org/drawingml/2006/main">
            <a:off x="8172450" y="37528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61616"/>
                </a:solidFill>
              </a:defRPr>
            </a:pPr>
            <a:r>
              <a:rPr sz="1725" b="1">
                <a:solidFill>
                  <a:srgbClr val="161616"/>
                </a:solidFill>
              </a:rPr>
              <a:t>Zixuan Liang</a:t>
            </a:r>
          </a:p>
          <a:p xmlns:a="http://schemas.openxmlformats.org/drawingml/2006/main">
            <a:pPr algn="l">
              <a:buNone/>
              <a:defRPr sz="1725" b="1">
                <a:solidFill>
                  <a:srgbClr val="161616"/>
                </a:solidFill>
              </a:defRPr>
            </a:pPr>
            <a:r>
              <a:rPr sz="1725" b="1">
                <a:solidFill>
                  <a:srgbClr val="161616"/>
                </a:solidFill>
              </a:rPr>
              <a:t>CISC 594</a:t>
            </a:r>
          </a:p>
        </p:txBody>
      </p:sp>
      <p:sp>
        <p:nvSpPr>
          <p:cNvPr id="13" name="">
            <a:extLst xmlns:a="http://schemas.openxmlformats.org/drawingml/2006/main">
              <a:ext uri="{FF2B5EF4-FFF2-40B4-BE49-F238E27FC236}">
                <a16:creationId xmlns:a16="http://schemas.microsoft.com/office/drawing/2014/main" id="{ABF2210B-F4DE-4E9F-A57C-9245366AE711}"/>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14" name="">
            <a:extLst xmlns:a="http://schemas.openxmlformats.org/drawingml/2006/main">
              <a:ext uri="{FF2B5EF4-FFF2-40B4-BE49-F238E27FC236}">
                <a16:creationId xmlns:a16="http://schemas.microsoft.com/office/drawing/2014/main" id="{2619844C-543D-44AF-87DA-D262861962C2}"/>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- 1/14</a:t>
            </a:r>
          </a:p>
        </p:txBody>
      </p:sp>
    </p:spTree>
    <p:extLst>
      <p:ext uri="{BB962C8B-B14F-4D97-AF65-F5344CB8AC3E}">
        <p14:creationId xmlns:p14="http://schemas.microsoft.com/office/powerpoint/2010/main" val="94015105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633E8C-4679-4DAC-AECE-F7B38E18B500}"/>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Required final presentation sections</a:t>
            </a:r>
          </a:p>
        </p:txBody>
      </p:sp>
      <p:sp>
        <p:nvSpPr>
          <p:cNvPr id="2" name="">
            <a:extLst xmlns:a="http://schemas.openxmlformats.org/drawingml/2006/main">
              <a:ext uri="{FF2B5EF4-FFF2-40B4-BE49-F238E27FC236}">
                <a16:creationId xmlns:a16="http://schemas.microsoft.com/office/drawing/2014/main" id="{1A2F5F18-1C2E-4780-B0F7-7BBB9FC54B45}"/>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Assignment coverage map</a:t>
            </a:r>
          </a:p>
        </p:txBody>
      </p:sp>
      <p:sp>
        <p:nvSpPr>
          <p:cNvPr id="3" name="">
            <a:extLst xmlns:a="http://schemas.openxmlformats.org/drawingml/2006/main">
              <a:ext uri="{FF2B5EF4-FFF2-40B4-BE49-F238E27FC236}">
                <a16:creationId xmlns:a16="http://schemas.microsoft.com/office/drawing/2014/main" id="{8DBDB6D3-519F-433D-8CB5-5D45836A4A02}"/>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06F692FE-6E7E-468D-9200-5334E2353906}"/>
              </a:ext>
            </a:extLst>
          </p:cNvPr>
          <p:cNvSpPr>
            <a:spLocks xmlns:a="http://schemas.openxmlformats.org/drawingml/2006/main" noGrp="1"/>
          </p:cNvSpPr>
          <p:nvPr/>
        </p:nvSpPr>
        <p:spPr>
          <a:xfrm xmlns:a="http://schemas.openxmlformats.org/drawingml/2006/main">
            <a:off x="514350" y="1695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36B2A"/>
                </a:solidFill>
              </a:defRPr>
            </a:pPr>
            <a:r>
              <a:rPr sz="2025" b="1">
                <a:solidFill>
                  <a:srgbClr val="F36B2A"/>
                </a:solidFill>
              </a:rPr>
              <a:t>1</a:t>
            </a:r>
          </a:p>
        </p:txBody>
      </p:sp>
      <p:sp>
        <p:nvSpPr>
          <p:cNvPr id="5" name="">
            <a:extLst xmlns:a="http://schemas.openxmlformats.org/drawingml/2006/main">
              <a:ext uri="{FF2B5EF4-FFF2-40B4-BE49-F238E27FC236}">
                <a16:creationId xmlns:a16="http://schemas.microsoft.com/office/drawing/2014/main" id="{72A00ED1-7453-4882-8118-39C771221A58}"/>
              </a:ext>
            </a:extLst>
          </p:cNvPr>
          <p:cNvSpPr>
            <a:spLocks xmlns:a="http://schemas.openxmlformats.org/drawingml/2006/main" noGrp="1"/>
          </p:cNvSpPr>
          <p:nvPr/>
        </p:nvSpPr>
        <p:spPr>
          <a:xfrm xmlns:a="http://schemas.openxmlformats.org/drawingml/2006/main">
            <a:off x="1104900" y="1885950"/>
            <a:ext cx="9906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6" name="">
            <a:extLst xmlns:a="http://schemas.openxmlformats.org/drawingml/2006/main">
              <a:ext uri="{FF2B5EF4-FFF2-40B4-BE49-F238E27FC236}">
                <a16:creationId xmlns:a16="http://schemas.microsoft.com/office/drawing/2014/main" id="{819B183F-DA5B-4BA5-B325-D57D72B50F82}"/>
              </a:ext>
            </a:extLst>
          </p:cNvPr>
          <p:cNvSpPr>
            <a:spLocks xmlns:a="http://schemas.openxmlformats.org/drawingml/2006/main" noGrp="1"/>
          </p:cNvSpPr>
          <p:nvPr/>
        </p:nvSpPr>
        <p:spPr>
          <a:xfrm xmlns:a="http://schemas.openxmlformats.org/drawingml/2006/main">
            <a:off x="2343150" y="16954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Project introduction and system features</a:t>
            </a:r>
          </a:p>
        </p:txBody>
      </p:sp>
      <p:sp>
        <p:nvSpPr>
          <p:cNvPr id="7" name="">
            <a:extLst xmlns:a="http://schemas.openxmlformats.org/drawingml/2006/main">
              <a:ext uri="{FF2B5EF4-FFF2-40B4-BE49-F238E27FC236}">
                <a16:creationId xmlns:a16="http://schemas.microsoft.com/office/drawing/2014/main" id="{CA64A8D7-B6B3-43A9-956B-3FA66CBDE884}"/>
              </a:ext>
            </a:extLst>
          </p:cNvPr>
          <p:cNvSpPr>
            <a:spLocks xmlns:a="http://schemas.openxmlformats.org/drawingml/2006/main" noGrp="1"/>
          </p:cNvSpPr>
          <p:nvPr/>
        </p:nvSpPr>
        <p:spPr>
          <a:xfrm xmlns:a="http://schemas.openxmlformats.org/drawingml/2006/main">
            <a:off x="514350" y="24384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36B2A"/>
                </a:solidFill>
              </a:defRPr>
            </a:pPr>
            <a:r>
              <a:rPr sz="2025" b="1">
                <a:solidFill>
                  <a:srgbClr val="F36B2A"/>
                </a:solidFill>
              </a:rPr>
              <a:t>2</a:t>
            </a:r>
          </a:p>
        </p:txBody>
      </p:sp>
      <p:sp>
        <p:nvSpPr>
          <p:cNvPr id="8" name="">
            <a:extLst xmlns:a="http://schemas.openxmlformats.org/drawingml/2006/main">
              <a:ext uri="{FF2B5EF4-FFF2-40B4-BE49-F238E27FC236}">
                <a16:creationId xmlns:a16="http://schemas.microsoft.com/office/drawing/2014/main" id="{2E08455E-78DC-40A0-AC45-40E35DABF9CD}"/>
              </a:ext>
            </a:extLst>
          </p:cNvPr>
          <p:cNvSpPr>
            <a:spLocks xmlns:a="http://schemas.openxmlformats.org/drawingml/2006/main" noGrp="1"/>
          </p:cNvSpPr>
          <p:nvPr/>
        </p:nvSpPr>
        <p:spPr>
          <a:xfrm xmlns:a="http://schemas.openxmlformats.org/drawingml/2006/main">
            <a:off x="1104900" y="2628900"/>
            <a:ext cx="9906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9" name="">
            <a:extLst xmlns:a="http://schemas.openxmlformats.org/drawingml/2006/main">
              <a:ext uri="{FF2B5EF4-FFF2-40B4-BE49-F238E27FC236}">
                <a16:creationId xmlns:a16="http://schemas.microsoft.com/office/drawing/2014/main" id="{F91645E1-3BDE-41D3-B81A-8EFD60EA41A4}"/>
              </a:ext>
            </a:extLst>
          </p:cNvPr>
          <p:cNvSpPr>
            <a:spLocks xmlns:a="http://schemas.openxmlformats.org/drawingml/2006/main" noGrp="1"/>
          </p:cNvSpPr>
          <p:nvPr/>
        </p:nvSpPr>
        <p:spPr>
          <a:xfrm xmlns:a="http://schemas.openxmlformats.org/drawingml/2006/main">
            <a:off x="2343150" y="24384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Role of each group member</a:t>
            </a:r>
          </a:p>
        </p:txBody>
      </p:sp>
      <p:sp>
        <p:nvSpPr>
          <p:cNvPr id="10" name="">
            <a:extLst xmlns:a="http://schemas.openxmlformats.org/drawingml/2006/main">
              <a:ext uri="{FF2B5EF4-FFF2-40B4-BE49-F238E27FC236}">
                <a16:creationId xmlns:a16="http://schemas.microsoft.com/office/drawing/2014/main" id="{FCD36F55-3C5D-47F1-89B3-8983989FD2F5}"/>
              </a:ext>
            </a:extLst>
          </p:cNvPr>
          <p:cNvSpPr>
            <a:spLocks xmlns:a="http://schemas.openxmlformats.org/drawingml/2006/main" noGrp="1"/>
          </p:cNvSpPr>
          <p:nvPr/>
        </p:nvSpPr>
        <p:spPr>
          <a:xfrm xmlns:a="http://schemas.openxmlformats.org/drawingml/2006/main">
            <a:off x="514350" y="3181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36B2A"/>
                </a:solidFill>
              </a:defRPr>
            </a:pPr>
            <a:r>
              <a:rPr sz="2025" b="1">
                <a:solidFill>
                  <a:srgbClr val="F36B2A"/>
                </a:solidFill>
              </a:rPr>
              <a:t>3</a:t>
            </a:r>
          </a:p>
        </p:txBody>
      </p:sp>
      <p:sp>
        <p:nvSpPr>
          <p:cNvPr id="11" name="">
            <a:extLst xmlns:a="http://schemas.openxmlformats.org/drawingml/2006/main">
              <a:ext uri="{FF2B5EF4-FFF2-40B4-BE49-F238E27FC236}">
                <a16:creationId xmlns:a16="http://schemas.microsoft.com/office/drawing/2014/main" id="{56F3353C-3C30-49AF-9DD6-44960C48FD58}"/>
              </a:ext>
            </a:extLst>
          </p:cNvPr>
          <p:cNvSpPr>
            <a:spLocks xmlns:a="http://schemas.openxmlformats.org/drawingml/2006/main" noGrp="1"/>
          </p:cNvSpPr>
          <p:nvPr/>
        </p:nvSpPr>
        <p:spPr>
          <a:xfrm xmlns:a="http://schemas.openxmlformats.org/drawingml/2006/main">
            <a:off x="1104900" y="3371850"/>
            <a:ext cx="9906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12" name="">
            <a:extLst xmlns:a="http://schemas.openxmlformats.org/drawingml/2006/main">
              <a:ext uri="{FF2B5EF4-FFF2-40B4-BE49-F238E27FC236}">
                <a16:creationId xmlns:a16="http://schemas.microsoft.com/office/drawing/2014/main" id="{FD314859-372F-4909-86EF-C4347F9C48DB}"/>
              </a:ext>
            </a:extLst>
          </p:cNvPr>
          <p:cNvSpPr>
            <a:spLocks xmlns:a="http://schemas.openxmlformats.org/drawingml/2006/main" noGrp="1"/>
          </p:cNvSpPr>
          <p:nvPr/>
        </p:nvSpPr>
        <p:spPr>
          <a:xfrm xmlns:a="http://schemas.openxmlformats.org/drawingml/2006/main">
            <a:off x="2343150" y="31813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Risk identification and tracking</a:t>
            </a:r>
          </a:p>
        </p:txBody>
      </p:sp>
      <p:sp>
        <p:nvSpPr>
          <p:cNvPr id="13" name="">
            <a:extLst xmlns:a="http://schemas.openxmlformats.org/drawingml/2006/main">
              <a:ext uri="{FF2B5EF4-FFF2-40B4-BE49-F238E27FC236}">
                <a16:creationId xmlns:a16="http://schemas.microsoft.com/office/drawing/2014/main" id="{5D5E3ACA-607C-419C-8779-D18C4D4BB6B3}"/>
              </a:ext>
            </a:extLst>
          </p:cNvPr>
          <p:cNvSpPr>
            <a:spLocks xmlns:a="http://schemas.openxmlformats.org/drawingml/2006/main" noGrp="1"/>
          </p:cNvSpPr>
          <p:nvPr/>
        </p:nvSpPr>
        <p:spPr>
          <a:xfrm xmlns:a="http://schemas.openxmlformats.org/drawingml/2006/main">
            <a:off x="514350" y="3924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36B2A"/>
                </a:solidFill>
              </a:defRPr>
            </a:pPr>
            <a:r>
              <a:rPr sz="2025" b="1">
                <a:solidFill>
                  <a:srgbClr val="F36B2A"/>
                </a:solidFill>
              </a:rPr>
              <a:t>4</a:t>
            </a:r>
          </a:p>
        </p:txBody>
      </p:sp>
      <p:sp>
        <p:nvSpPr>
          <p:cNvPr id="14" name="">
            <a:extLst xmlns:a="http://schemas.openxmlformats.org/drawingml/2006/main">
              <a:ext uri="{FF2B5EF4-FFF2-40B4-BE49-F238E27FC236}">
                <a16:creationId xmlns:a16="http://schemas.microsoft.com/office/drawing/2014/main" id="{4A7196D6-B699-4893-98CB-A8D7B8E9D9DC}"/>
              </a:ext>
            </a:extLst>
          </p:cNvPr>
          <p:cNvSpPr>
            <a:spLocks xmlns:a="http://schemas.openxmlformats.org/drawingml/2006/main" noGrp="1"/>
          </p:cNvSpPr>
          <p:nvPr/>
        </p:nvSpPr>
        <p:spPr>
          <a:xfrm xmlns:a="http://schemas.openxmlformats.org/drawingml/2006/main">
            <a:off x="1104900" y="4114800"/>
            <a:ext cx="9906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15" name="">
            <a:extLst xmlns:a="http://schemas.openxmlformats.org/drawingml/2006/main">
              <a:ext uri="{FF2B5EF4-FFF2-40B4-BE49-F238E27FC236}">
                <a16:creationId xmlns:a16="http://schemas.microsoft.com/office/drawing/2014/main" id="{4924F06C-CE1A-40B7-B30D-7DDFFA2A8EB8}"/>
              </a:ext>
            </a:extLst>
          </p:cNvPr>
          <p:cNvSpPr>
            <a:spLocks xmlns:a="http://schemas.openxmlformats.org/drawingml/2006/main" noGrp="1"/>
          </p:cNvSpPr>
          <p:nvPr/>
        </p:nvSpPr>
        <p:spPr>
          <a:xfrm xmlns:a="http://schemas.openxmlformats.org/drawingml/2006/main">
            <a:off x="2343150" y="39243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Configuration management approach</a:t>
            </a:r>
          </a:p>
        </p:txBody>
      </p:sp>
      <p:sp>
        <p:nvSpPr>
          <p:cNvPr id="16" name="">
            <a:extLst xmlns:a="http://schemas.openxmlformats.org/drawingml/2006/main">
              <a:ext uri="{FF2B5EF4-FFF2-40B4-BE49-F238E27FC236}">
                <a16:creationId xmlns:a16="http://schemas.microsoft.com/office/drawing/2014/main" id="{08EF1741-0AFA-4B01-9F8E-5215666B8C2E}"/>
              </a:ext>
            </a:extLst>
          </p:cNvPr>
          <p:cNvSpPr>
            <a:spLocks xmlns:a="http://schemas.openxmlformats.org/drawingml/2006/main" noGrp="1"/>
          </p:cNvSpPr>
          <p:nvPr/>
        </p:nvSpPr>
        <p:spPr>
          <a:xfrm xmlns:a="http://schemas.openxmlformats.org/drawingml/2006/main">
            <a:off x="514350"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36B2A"/>
                </a:solidFill>
              </a:defRPr>
            </a:pPr>
            <a:r>
              <a:rPr sz="2025" b="1">
                <a:solidFill>
                  <a:srgbClr val="F36B2A"/>
                </a:solidFill>
              </a:rPr>
              <a:t>5</a:t>
            </a:r>
          </a:p>
        </p:txBody>
      </p:sp>
      <p:sp>
        <p:nvSpPr>
          <p:cNvPr id="17" name="">
            <a:extLst xmlns:a="http://schemas.openxmlformats.org/drawingml/2006/main">
              <a:ext uri="{FF2B5EF4-FFF2-40B4-BE49-F238E27FC236}">
                <a16:creationId xmlns:a16="http://schemas.microsoft.com/office/drawing/2014/main" id="{29CB2E5D-53A3-4DFC-9596-BCC428269F7E}"/>
              </a:ext>
            </a:extLst>
          </p:cNvPr>
          <p:cNvSpPr>
            <a:spLocks xmlns:a="http://schemas.openxmlformats.org/drawingml/2006/main" noGrp="1"/>
          </p:cNvSpPr>
          <p:nvPr/>
        </p:nvSpPr>
        <p:spPr>
          <a:xfrm xmlns:a="http://schemas.openxmlformats.org/drawingml/2006/main">
            <a:off x="1104900" y="4857750"/>
            <a:ext cx="9906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18" name="">
            <a:extLst xmlns:a="http://schemas.openxmlformats.org/drawingml/2006/main">
              <a:ext uri="{FF2B5EF4-FFF2-40B4-BE49-F238E27FC236}">
                <a16:creationId xmlns:a16="http://schemas.microsoft.com/office/drawing/2014/main" id="{69570057-5D49-4A36-A819-C1A856D625FF}"/>
              </a:ext>
            </a:extLst>
          </p:cNvPr>
          <p:cNvSpPr>
            <a:spLocks xmlns:a="http://schemas.openxmlformats.org/drawingml/2006/main" noGrp="1"/>
          </p:cNvSpPr>
          <p:nvPr/>
        </p:nvSpPr>
        <p:spPr>
          <a:xfrm xmlns:a="http://schemas.openxmlformats.org/drawingml/2006/main">
            <a:off x="2343150" y="46672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System testing approach and outcome</a:t>
            </a:r>
          </a:p>
        </p:txBody>
      </p:sp>
      <p:sp>
        <p:nvSpPr>
          <p:cNvPr id="19" name="">
            <a:extLst xmlns:a="http://schemas.openxmlformats.org/drawingml/2006/main">
              <a:ext uri="{FF2B5EF4-FFF2-40B4-BE49-F238E27FC236}">
                <a16:creationId xmlns:a16="http://schemas.microsoft.com/office/drawing/2014/main" id="{84DC6D64-F1E6-4E8B-8839-B6F29CE8E617}"/>
              </a:ext>
            </a:extLst>
          </p:cNvPr>
          <p:cNvSpPr>
            <a:spLocks xmlns:a="http://schemas.openxmlformats.org/drawingml/2006/main" noGrp="1"/>
          </p:cNvSpPr>
          <p:nvPr/>
        </p:nvSpPr>
        <p:spPr>
          <a:xfrm xmlns:a="http://schemas.openxmlformats.org/drawingml/2006/main">
            <a:off x="8953500" y="1695450"/>
            <a:ext cx="2152650" cy="361950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20" name="">
            <a:extLst xmlns:a="http://schemas.openxmlformats.org/drawingml/2006/main">
              <a:ext uri="{FF2B5EF4-FFF2-40B4-BE49-F238E27FC236}">
                <a16:creationId xmlns:a16="http://schemas.microsoft.com/office/drawing/2014/main" id="{B775AAC8-672B-43D7-B2EF-1E90DFD72BD5}"/>
              </a:ext>
            </a:extLst>
          </p:cNvPr>
          <p:cNvSpPr>
            <a:spLocks xmlns:a="http://schemas.openxmlformats.org/drawingml/2006/main" noGrp="1"/>
          </p:cNvSpPr>
          <p:nvPr/>
        </p:nvSpPr>
        <p:spPr>
          <a:xfrm xmlns:a="http://schemas.openxmlformats.org/drawingml/2006/main">
            <a:off x="9182100" y="1962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61616"/>
                </a:solidFill>
              </a:defRPr>
            </a:pPr>
            <a:r>
              <a:rPr sz="1425" b="1">
                <a:solidFill>
                  <a:srgbClr val="161616"/>
                </a:solidFill>
              </a:rPr>
              <a:t>Central message</a:t>
            </a:r>
          </a:p>
        </p:txBody>
      </p:sp>
      <p:sp>
        <p:nvSpPr>
          <p:cNvPr id="21" name="">
            <a:extLst xmlns:a="http://schemas.openxmlformats.org/drawingml/2006/main">
              <a:ext uri="{FF2B5EF4-FFF2-40B4-BE49-F238E27FC236}">
                <a16:creationId xmlns:a16="http://schemas.microsoft.com/office/drawing/2014/main" id="{BDA74757-8CA8-4A72-AE73-B7495C73A510}"/>
              </a:ext>
            </a:extLst>
          </p:cNvPr>
          <p:cNvSpPr>
            <a:spLocks xmlns:a="http://schemas.openxmlformats.org/drawingml/2006/main" noGrp="1"/>
          </p:cNvSpPr>
          <p:nvPr/>
        </p:nvSpPr>
        <p:spPr>
          <a:xfrm xmlns:a="http://schemas.openxmlformats.org/drawingml/2006/main">
            <a:off x="9182100" y="2438400"/>
            <a:ext cx="1638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61616"/>
                </a:solidFill>
              </a:defRPr>
            </a:pPr>
            <a:r>
              <a:rPr sz="1500" b="0">
                <a:solidFill>
                  <a:srgbClr val="161616"/>
                </a:solidFill>
              </a:rPr>
              <a:t>PantryPilot combines useful automation with disciplined SQA: risks are identified, controls are versioned and tested, and the same evidence is visible in a live web demo.</a:t>
            </a:r>
          </a:p>
        </p:txBody>
      </p:sp>
      <p:sp>
        <p:nvSpPr>
          <p:cNvPr id="22" name="">
            <a:extLst xmlns:a="http://schemas.openxmlformats.org/drawingml/2006/main">
              <a:ext uri="{FF2B5EF4-FFF2-40B4-BE49-F238E27FC236}">
                <a16:creationId xmlns:a16="http://schemas.microsoft.com/office/drawing/2014/main" id="{406B8F31-BD8F-41B3-B5D9-FCF238AD1174}"/>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23" name="">
            <a:extLst xmlns:a="http://schemas.openxmlformats.org/drawingml/2006/main">
              <a:ext uri="{FF2B5EF4-FFF2-40B4-BE49-F238E27FC236}">
                <a16:creationId xmlns:a16="http://schemas.microsoft.com/office/drawing/2014/main" id="{C5E2AD7A-A887-4DA5-AF65-006C6A3A8BB5}"/>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- 2/14</a:t>
            </a:r>
          </a:p>
        </p:txBody>
      </p:sp>
    </p:spTree>
    <p:extLst>
      <p:ext uri="{BB962C8B-B14F-4D97-AF65-F5344CB8AC3E}">
        <p14:creationId xmlns:p14="http://schemas.microsoft.com/office/powerpoint/2010/main" val="15911723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86A6DF-1F94-40B8-8745-40AD2E26F72D}"/>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Zixuan Liang</a:t>
            </a:r>
          </a:p>
        </p:txBody>
      </p:sp>
      <p:sp>
        <p:nvSpPr>
          <p:cNvPr id="2" name="">
            <a:extLst xmlns:a="http://schemas.openxmlformats.org/drawingml/2006/main">
              <a:ext uri="{FF2B5EF4-FFF2-40B4-BE49-F238E27FC236}">
                <a16:creationId xmlns:a16="http://schemas.microsoft.com/office/drawing/2014/main" id="{718BB748-3D72-4B74-8E6C-9FCC83C8ABA3}"/>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Project introduction: why PantryPilot exists</a:t>
            </a:r>
          </a:p>
        </p:txBody>
      </p:sp>
      <p:sp>
        <p:nvSpPr>
          <p:cNvPr id="3" name="">
            <a:extLst xmlns:a="http://schemas.openxmlformats.org/drawingml/2006/main">
              <a:ext uri="{FF2B5EF4-FFF2-40B4-BE49-F238E27FC236}">
                <a16:creationId xmlns:a16="http://schemas.microsoft.com/office/drawing/2014/main" id="{309FD395-076F-47CB-88CB-ACC24FE65ADA}"/>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66FFA0D3-3610-41D2-AE37-19400407D99B}"/>
              </a:ext>
            </a:extLst>
          </p:cNvPr>
          <p:cNvSpPr>
            <a:spLocks xmlns:a="http://schemas.openxmlformats.org/drawingml/2006/main" noGrp="1"/>
          </p:cNvSpPr>
          <p:nvPr/>
        </p:nvSpPr>
        <p:spPr>
          <a:xfrm xmlns:a="http://schemas.openxmlformats.org/drawingml/2006/main">
            <a:off x="514350" y="1771650"/>
            <a:ext cx="325755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E267CE23-B449-4249-82E2-EAF199D6BD17}"/>
              </a:ext>
            </a:extLst>
          </p:cNvPr>
          <p:cNvSpPr>
            <a:spLocks xmlns:a="http://schemas.openxmlformats.org/drawingml/2006/main" noGrp="1"/>
          </p:cNvSpPr>
          <p:nvPr/>
        </p:nvSpPr>
        <p:spPr>
          <a:xfrm xmlns:a="http://schemas.openxmlformats.org/drawingml/2006/main">
            <a:off x="514350" y="1771650"/>
            <a:ext cx="57150" cy="1752600"/>
          </a:xfrm>
          <a:prstGeom xmlns:a="http://schemas.openxmlformats.org/drawingml/2006/main" prst="rect">
            <a:avLst/>
          </a:prstGeom>
          <a:solidFill xmlns:a="http://schemas.openxmlformats.org/drawingml/2006/main">
            <a:srgbClr val="F36B2A"/>
          </a:solidFill>
          <a:ln xmlns:a="http://schemas.openxmlformats.org/drawingml/2006/main" w="0">
            <a:solidFill>
              <a:srgbClr val="F36B2A"/>
            </a:solidFill>
            <a:prstDash val="solid"/>
          </a:ln>
        </p:spPr>
      </p:sp>
      <p:sp>
        <p:nvSpPr>
          <p:cNvPr id="6" name="">
            <a:extLst xmlns:a="http://schemas.openxmlformats.org/drawingml/2006/main">
              <a:ext uri="{FF2B5EF4-FFF2-40B4-BE49-F238E27FC236}">
                <a16:creationId xmlns:a16="http://schemas.microsoft.com/office/drawing/2014/main" id="{13440FBA-7602-41C7-86E4-51E0E5D3DE48}"/>
              </a:ext>
            </a:extLst>
          </p:cNvPr>
          <p:cNvSpPr>
            <a:spLocks xmlns:a="http://schemas.openxmlformats.org/drawingml/2006/main" noGrp="1"/>
          </p:cNvSpPr>
          <p:nvPr/>
        </p:nvSpPr>
        <p:spPr>
          <a:xfrm xmlns:a="http://schemas.openxmlformats.org/drawingml/2006/main">
            <a:off x="685800" y="1943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Planning friction</a:t>
            </a:r>
          </a:p>
        </p:txBody>
      </p:sp>
      <p:sp>
        <p:nvSpPr>
          <p:cNvPr id="7" name="">
            <a:extLst xmlns:a="http://schemas.openxmlformats.org/drawingml/2006/main">
              <a:ext uri="{FF2B5EF4-FFF2-40B4-BE49-F238E27FC236}">
                <a16:creationId xmlns:a16="http://schemas.microsoft.com/office/drawing/2014/main" id="{BECB43B4-51C1-4770-B969-66547EA5D787}"/>
              </a:ext>
            </a:extLst>
          </p:cNvPr>
          <p:cNvSpPr>
            <a:spLocks xmlns:a="http://schemas.openxmlformats.org/drawingml/2006/main" noGrp="1"/>
          </p:cNvSpPr>
          <p:nvPr/>
        </p:nvSpPr>
        <p:spPr>
          <a:xfrm xmlns:a="http://schemas.openxmlformats.org/drawingml/2006/main">
            <a:off x="685800" y="2286000"/>
            <a:ext cx="2914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Users often decide meals, check ingredients, and build grocery lists in separate tools.</a:t>
            </a:r>
          </a:p>
        </p:txBody>
      </p:sp>
      <p:sp>
        <p:nvSpPr>
          <p:cNvPr id="8" name="">
            <a:extLst xmlns:a="http://schemas.openxmlformats.org/drawingml/2006/main">
              <a:ext uri="{FF2B5EF4-FFF2-40B4-BE49-F238E27FC236}">
                <a16:creationId xmlns:a16="http://schemas.microsoft.com/office/drawing/2014/main" id="{5AB69611-63CA-4CDE-B93B-03BEC21AEF5A}"/>
              </a:ext>
            </a:extLst>
          </p:cNvPr>
          <p:cNvSpPr>
            <a:spLocks xmlns:a="http://schemas.openxmlformats.org/drawingml/2006/main" noGrp="1"/>
          </p:cNvSpPr>
          <p:nvPr/>
        </p:nvSpPr>
        <p:spPr>
          <a:xfrm xmlns:a="http://schemas.openxmlformats.org/drawingml/2006/main">
            <a:off x="4229100" y="1771650"/>
            <a:ext cx="325755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9" name="">
            <a:extLst xmlns:a="http://schemas.openxmlformats.org/drawingml/2006/main">
              <a:ext uri="{FF2B5EF4-FFF2-40B4-BE49-F238E27FC236}">
                <a16:creationId xmlns:a16="http://schemas.microsoft.com/office/drawing/2014/main" id="{95F7A180-DBE4-4AE8-8A91-CA967AED8BDB}"/>
              </a:ext>
            </a:extLst>
          </p:cNvPr>
          <p:cNvSpPr>
            <a:spLocks xmlns:a="http://schemas.openxmlformats.org/drawingml/2006/main" noGrp="1"/>
          </p:cNvSpPr>
          <p:nvPr/>
        </p:nvSpPr>
        <p:spPr>
          <a:xfrm xmlns:a="http://schemas.openxmlformats.org/drawingml/2006/main">
            <a:off x="4229100" y="1771650"/>
            <a:ext cx="57150" cy="1752600"/>
          </a:xfrm>
          <a:prstGeom xmlns:a="http://schemas.openxmlformats.org/drawingml/2006/main" prst="rect">
            <a:avLst/>
          </a:prstGeom>
          <a:solidFill xmlns:a="http://schemas.openxmlformats.org/drawingml/2006/main">
            <a:srgbClr val="1D4E89"/>
          </a:solidFill>
          <a:ln xmlns:a="http://schemas.openxmlformats.org/drawingml/2006/main" w="0">
            <a:solidFill>
              <a:srgbClr val="1D4E89"/>
            </a:solidFill>
            <a:prstDash val="solid"/>
          </a:ln>
        </p:spPr>
      </p:sp>
      <p:sp>
        <p:nvSpPr>
          <p:cNvPr id="10" name="">
            <a:extLst xmlns:a="http://schemas.openxmlformats.org/drawingml/2006/main">
              <a:ext uri="{FF2B5EF4-FFF2-40B4-BE49-F238E27FC236}">
                <a16:creationId xmlns:a16="http://schemas.microsoft.com/office/drawing/2014/main" id="{EC9A9C83-B735-4142-9B94-79BDCDCA6544}"/>
              </a:ext>
            </a:extLst>
          </p:cNvPr>
          <p:cNvSpPr>
            <a:spLocks xmlns:a="http://schemas.openxmlformats.org/drawingml/2006/main" noGrp="1"/>
          </p:cNvSpPr>
          <p:nvPr/>
        </p:nvSpPr>
        <p:spPr>
          <a:xfrm xmlns:a="http://schemas.openxmlformats.org/drawingml/2006/main">
            <a:off x="4400550" y="1943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Constraint complexity</a:t>
            </a:r>
          </a:p>
        </p:txBody>
      </p:sp>
      <p:sp>
        <p:nvSpPr>
          <p:cNvPr id="11" name="">
            <a:extLst xmlns:a="http://schemas.openxmlformats.org/drawingml/2006/main">
              <a:ext uri="{FF2B5EF4-FFF2-40B4-BE49-F238E27FC236}">
                <a16:creationId xmlns:a16="http://schemas.microsoft.com/office/drawing/2014/main" id="{69C5C617-25BB-44FD-A5FF-9DBBFF595171}"/>
              </a:ext>
            </a:extLst>
          </p:cNvPr>
          <p:cNvSpPr>
            <a:spLocks xmlns:a="http://schemas.openxmlformats.org/drawingml/2006/main" noGrp="1"/>
          </p:cNvSpPr>
          <p:nvPr/>
        </p:nvSpPr>
        <p:spPr>
          <a:xfrm xmlns:a="http://schemas.openxmlformats.org/drawingml/2006/main">
            <a:off x="4400550" y="2286000"/>
            <a:ext cx="2914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Allergies, disliked ingredients, budgets, nutrition goals, and preferences can conflict.</a:t>
            </a:r>
          </a:p>
        </p:txBody>
      </p:sp>
      <p:sp>
        <p:nvSpPr>
          <p:cNvPr id="12" name="">
            <a:extLst xmlns:a="http://schemas.openxmlformats.org/drawingml/2006/main">
              <a:ext uri="{FF2B5EF4-FFF2-40B4-BE49-F238E27FC236}">
                <a16:creationId xmlns:a16="http://schemas.microsoft.com/office/drawing/2014/main" id="{B3A2FD4C-23F3-45A1-B232-D3C923574307}"/>
              </a:ext>
            </a:extLst>
          </p:cNvPr>
          <p:cNvSpPr>
            <a:spLocks xmlns:a="http://schemas.openxmlformats.org/drawingml/2006/main" noGrp="1"/>
          </p:cNvSpPr>
          <p:nvPr/>
        </p:nvSpPr>
        <p:spPr>
          <a:xfrm xmlns:a="http://schemas.openxmlformats.org/drawingml/2006/main">
            <a:off x="7943850" y="1771650"/>
            <a:ext cx="325755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3" name="">
            <a:extLst xmlns:a="http://schemas.openxmlformats.org/drawingml/2006/main">
              <a:ext uri="{FF2B5EF4-FFF2-40B4-BE49-F238E27FC236}">
                <a16:creationId xmlns:a16="http://schemas.microsoft.com/office/drawing/2014/main" id="{39C37BDD-A549-42D6-BDEF-1CFA9DE446E1}"/>
              </a:ext>
            </a:extLst>
          </p:cNvPr>
          <p:cNvSpPr>
            <a:spLocks xmlns:a="http://schemas.openxmlformats.org/drawingml/2006/main" noGrp="1"/>
          </p:cNvSpPr>
          <p:nvPr/>
        </p:nvSpPr>
        <p:spPr>
          <a:xfrm xmlns:a="http://schemas.openxmlformats.org/drawingml/2006/main">
            <a:off x="7943850" y="1771650"/>
            <a:ext cx="57150" cy="1752600"/>
          </a:xfrm>
          <a:prstGeom xmlns:a="http://schemas.openxmlformats.org/drawingml/2006/main" prst="rect">
            <a:avLst/>
          </a:prstGeom>
          <a:solidFill xmlns:a="http://schemas.openxmlformats.org/drawingml/2006/main">
            <a:srgbClr val="147A55"/>
          </a:solidFill>
          <a:ln xmlns:a="http://schemas.openxmlformats.org/drawingml/2006/main" w="0">
            <a:solidFill>
              <a:srgbClr val="147A55"/>
            </a:solidFill>
            <a:prstDash val="solid"/>
          </a:ln>
        </p:spPr>
      </p:sp>
      <p:sp>
        <p:nvSpPr>
          <p:cNvPr id="14" name="">
            <a:extLst xmlns:a="http://schemas.openxmlformats.org/drawingml/2006/main">
              <a:ext uri="{FF2B5EF4-FFF2-40B4-BE49-F238E27FC236}">
                <a16:creationId xmlns:a16="http://schemas.microsoft.com/office/drawing/2014/main" id="{48AF47DA-A2F2-4546-AD3E-1E0541D34062}"/>
              </a:ext>
            </a:extLst>
          </p:cNvPr>
          <p:cNvSpPr>
            <a:spLocks xmlns:a="http://schemas.openxmlformats.org/drawingml/2006/main" noGrp="1"/>
          </p:cNvSpPr>
          <p:nvPr/>
        </p:nvSpPr>
        <p:spPr>
          <a:xfrm xmlns:a="http://schemas.openxmlformats.org/drawingml/2006/main">
            <a:off x="8115300" y="1943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Food waste</a:t>
            </a:r>
          </a:p>
        </p:txBody>
      </p:sp>
      <p:sp>
        <p:nvSpPr>
          <p:cNvPr id="15" name="">
            <a:extLst xmlns:a="http://schemas.openxmlformats.org/drawingml/2006/main">
              <a:ext uri="{FF2B5EF4-FFF2-40B4-BE49-F238E27FC236}">
                <a16:creationId xmlns:a16="http://schemas.microsoft.com/office/drawing/2014/main" id="{7C75D675-3B8B-4CF3-B77C-C251CBD3CC92}"/>
              </a:ext>
            </a:extLst>
          </p:cNvPr>
          <p:cNvSpPr>
            <a:spLocks xmlns:a="http://schemas.openxmlformats.org/drawingml/2006/main" noGrp="1"/>
          </p:cNvSpPr>
          <p:nvPr/>
        </p:nvSpPr>
        <p:spPr>
          <a:xfrm xmlns:a="http://schemas.openxmlformats.org/drawingml/2006/main">
            <a:off x="8115300" y="2286000"/>
            <a:ext cx="2914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Pantry items expire while shopping decisions ignore what is already available at home.</a:t>
            </a:r>
          </a:p>
        </p:txBody>
      </p:sp>
      <p:sp>
        <p:nvSpPr>
          <p:cNvPr id="16" name="">
            <a:extLst xmlns:a="http://schemas.openxmlformats.org/drawingml/2006/main">
              <a:ext uri="{FF2B5EF4-FFF2-40B4-BE49-F238E27FC236}">
                <a16:creationId xmlns:a16="http://schemas.microsoft.com/office/drawing/2014/main" id="{11A41CBF-5D8F-4EC9-960F-DFEFD8D9086D}"/>
              </a:ext>
            </a:extLst>
          </p:cNvPr>
          <p:cNvSpPr>
            <a:spLocks xmlns:a="http://schemas.openxmlformats.org/drawingml/2006/main" noGrp="1"/>
          </p:cNvSpPr>
          <p:nvPr/>
        </p:nvSpPr>
        <p:spPr>
          <a:xfrm xmlns:a="http://schemas.openxmlformats.org/drawingml/2006/main">
            <a:off x="514350" y="4133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PantryPilot answer</a:t>
            </a:r>
          </a:p>
        </p:txBody>
      </p:sp>
      <p:sp>
        <p:nvSpPr>
          <p:cNvPr id="17" name="">
            <a:extLst xmlns:a="http://schemas.openxmlformats.org/drawingml/2006/main">
              <a:ext uri="{FF2B5EF4-FFF2-40B4-BE49-F238E27FC236}">
                <a16:creationId xmlns:a16="http://schemas.microsoft.com/office/drawing/2014/main" id="{69772179-CB89-4C5A-8CD2-37F6C5687BE2}"/>
              </a:ext>
            </a:extLst>
          </p:cNvPr>
          <p:cNvSpPr>
            <a:spLocks xmlns:a="http://schemas.openxmlformats.org/drawingml/2006/main" noGrp="1"/>
          </p:cNvSpPr>
          <p:nvPr/>
        </p:nvSpPr>
        <p:spPr>
          <a:xfrm xmlns:a="http://schemas.openxmlformats.org/drawingml/2006/main">
            <a:off x="514350" y="45720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161616"/>
                </a:solidFill>
              </a:defRPr>
            </a:pPr>
            <a:r>
              <a:rPr sz="1875" b="0">
                <a:solidFill>
                  <a:srgbClr val="161616"/>
                </a:solidFill>
              </a:rPr>
              <a:t>A smart meal and grocery planning system that maintains profiles, recipes, pantry inventory, weekly meal plans, AI substitutions, and consolidated grocery lists.</a:t>
            </a:r>
          </a:p>
        </p:txBody>
      </p:sp>
      <p:sp>
        <p:nvSpPr>
          <p:cNvPr id="18" name="">
            <a:extLst xmlns:a="http://schemas.openxmlformats.org/drawingml/2006/main">
              <a:ext uri="{FF2B5EF4-FFF2-40B4-BE49-F238E27FC236}">
                <a16:creationId xmlns:a16="http://schemas.microsoft.com/office/drawing/2014/main" id="{9C6C9C4E-D93B-454D-8052-EE44EBB65724}"/>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19" name="">
            <a:extLst xmlns:a="http://schemas.openxmlformats.org/drawingml/2006/main">
              <a:ext uri="{FF2B5EF4-FFF2-40B4-BE49-F238E27FC236}">
                <a16:creationId xmlns:a16="http://schemas.microsoft.com/office/drawing/2014/main" id="{5F34D471-ACC8-4F23-A109-E783B26A6A41}"/>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- 3/14</a:t>
            </a:r>
          </a:p>
        </p:txBody>
      </p:sp>
    </p:spTree>
    <p:extLst>
      <p:ext uri="{BB962C8B-B14F-4D97-AF65-F5344CB8AC3E}">
        <p14:creationId xmlns:p14="http://schemas.microsoft.com/office/powerpoint/2010/main" val="11798907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6CF0A5-FD90-44BF-A4E9-E5E9B80564AB}"/>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Project features</a:t>
            </a:r>
          </a:p>
        </p:txBody>
      </p:sp>
      <p:sp>
        <p:nvSpPr>
          <p:cNvPr id="2" name="">
            <a:extLst xmlns:a="http://schemas.openxmlformats.org/drawingml/2006/main">
              <a:ext uri="{FF2B5EF4-FFF2-40B4-BE49-F238E27FC236}">
                <a16:creationId xmlns:a16="http://schemas.microsoft.com/office/drawing/2014/main" id="{3D3922D6-1AB7-4F68-9B13-78CFD043496F}"/>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System features and live demonstration</a:t>
            </a:r>
          </a:p>
        </p:txBody>
      </p:sp>
      <p:sp>
        <p:nvSpPr>
          <p:cNvPr id="3" name="">
            <a:extLst xmlns:a="http://schemas.openxmlformats.org/drawingml/2006/main">
              <a:ext uri="{FF2B5EF4-FFF2-40B4-BE49-F238E27FC236}">
                <a16:creationId xmlns:a16="http://schemas.microsoft.com/office/drawing/2014/main" id="{D7A5234C-B07C-4B5F-8201-8F20C263EBC7}"/>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F8642B21-B556-456B-A20E-F9AB00210CC4}"/>
              </a:ext>
            </a:extLst>
          </p:cNvPr>
          <p:cNvSpPr>
            <a:spLocks xmlns:a="http://schemas.openxmlformats.org/drawingml/2006/main" noGrp="1"/>
          </p:cNvSpPr>
          <p:nvPr/>
        </p:nvSpPr>
        <p:spPr>
          <a:xfrm xmlns:a="http://schemas.openxmlformats.org/drawingml/2006/main">
            <a:off x="514350" y="1752600"/>
            <a:ext cx="5219700" cy="32956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8A152338-A03A-44B0-83F1-5BB5FE5BBF35}"/>
              </a:ext>
            </a:extLst>
          </p:cNvPr>
          <p:cNvSpPr>
            <a:spLocks xmlns:a="http://schemas.openxmlformats.org/drawingml/2006/main" noGrp="1"/>
          </p:cNvSpPr>
          <p:nvPr/>
        </p:nvSpPr>
        <p:spPr>
          <a:xfrm xmlns:a="http://schemas.openxmlformats.org/drawingml/2006/main">
            <a:off x="762000" y="20193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61616"/>
                </a:solidFill>
              </a:defRPr>
            </a:pPr>
            <a:r>
              <a:rPr sz="2025" b="1">
                <a:solidFill>
                  <a:srgbClr val="161616"/>
                </a:solidFill>
              </a:rPr>
              <a:t>Controlled v1.1.0 baseline</a:t>
            </a:r>
          </a:p>
        </p:txBody>
      </p:sp>
      <p:sp>
        <p:nvSpPr>
          <p:cNvPr id="6" name="">
            <a:extLst xmlns:a="http://schemas.openxmlformats.org/drawingml/2006/main">
              <a:ext uri="{FF2B5EF4-FFF2-40B4-BE49-F238E27FC236}">
                <a16:creationId xmlns:a16="http://schemas.microsoft.com/office/drawing/2014/main" id="{8D102B98-64B4-4A6B-9779-687F1A825BE0}"/>
              </a:ext>
            </a:extLst>
          </p:cNvPr>
          <p:cNvSpPr>
            <a:spLocks xmlns:a="http://schemas.openxmlformats.org/drawingml/2006/main" noGrp="1"/>
          </p:cNvSpPr>
          <p:nvPr/>
        </p:nvSpPr>
        <p:spPr>
          <a:xfrm xmlns:a="http://schemas.openxmlformats.org/drawingml/2006/main">
            <a:off x="800100" y="2571750"/>
            <a:ext cx="43434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61616"/>
                </a:solidFill>
              </a:defRPr>
            </a:pPr>
            <a:r>
              <a:rPr sz="1575" b="0">
                <a:solidFill>
                  <a:srgbClr val="161616"/>
                </a:solidFill>
              </a:rPr>
              <a:t>- Deterministic allergen conflict detection</a:t>
            </a:r>
          </a:p>
          <a:p xmlns:a="http://schemas.openxmlformats.org/drawingml/2006/main">
            <a:pPr algn="l">
              <a:buNone/>
              <a:defRPr sz="1575" b="0">
                <a:solidFill>
                  <a:srgbClr val="161616"/>
                </a:solidFill>
              </a:defRPr>
            </a:pPr>
            <a:r>
              <a:rPr sz="1575" b="0">
                <a:solidFill>
                  <a:srgbClr val="161616"/>
                </a:solidFill>
              </a:rPr>
              <a:t>- Grocery aggregation by canonical name and unit</a:t>
            </a:r>
          </a:p>
          <a:p xmlns:a="http://schemas.openxmlformats.org/drawingml/2006/main">
            <a:pPr algn="l">
              <a:buNone/>
              <a:defRPr sz="1575" b="0">
                <a:solidFill>
                  <a:srgbClr val="161616"/>
                </a:solidFill>
              </a:defRPr>
            </a:pPr>
            <a:r>
              <a:rPr sz="1575" b="0">
                <a:solidFill>
                  <a:srgbClr val="161616"/>
                </a:solidFill>
              </a:rPr>
              <a:t>- Inclusive pantry-expiry boundary logic</a:t>
            </a:r>
          </a:p>
          <a:p xmlns:a="http://schemas.openxmlformats.org/drawingml/2006/main">
            <a:pPr algn="l">
              <a:buNone/>
              <a:defRPr sz="1575" b="0">
                <a:solidFill>
                  <a:srgbClr val="161616"/>
                </a:solidFill>
              </a:defRPr>
            </a:pPr>
            <a:r>
              <a:rPr sz="1575" b="0">
                <a:solidFill>
                  <a:srgbClr val="161616"/>
                </a:solidFill>
              </a:rPr>
              <a:t>- Release identity and required quality gates</a:t>
            </a:r>
          </a:p>
          <a:p xmlns:a="http://schemas.openxmlformats.org/drawingml/2006/main">
            <a:pPr algn="l">
              <a:buNone/>
              <a:defRPr sz="1575" b="0">
                <a:solidFill>
                  <a:srgbClr val="161616"/>
                </a:solidFill>
              </a:defRPr>
            </a:pPr>
            <a:r>
              <a:rPr sz="1575" b="0">
                <a:solidFill>
                  <a:srgbClr val="161616"/>
                </a:solidFill>
              </a:rPr>
              <a:t>- Six repeatable release-level scenarios</a:t>
            </a:r>
          </a:p>
        </p:txBody>
      </p:sp>
      <p:sp>
        <p:nvSpPr>
          <p:cNvPr id="7" name="">
            <a:extLst xmlns:a="http://schemas.openxmlformats.org/drawingml/2006/main">
              <a:ext uri="{FF2B5EF4-FFF2-40B4-BE49-F238E27FC236}">
                <a16:creationId xmlns:a16="http://schemas.microsoft.com/office/drawing/2014/main" id="{A55375E5-F52B-4902-8D91-8FD5EF97C1C2}"/>
              </a:ext>
            </a:extLst>
          </p:cNvPr>
          <p:cNvSpPr>
            <a:spLocks xmlns:a="http://schemas.openxmlformats.org/drawingml/2006/main" noGrp="1"/>
          </p:cNvSpPr>
          <p:nvPr/>
        </p:nvSpPr>
        <p:spPr>
          <a:xfrm xmlns:a="http://schemas.openxmlformats.org/drawingml/2006/main">
            <a:off x="6267450" y="1752600"/>
            <a:ext cx="5219700" cy="32956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8" name="">
            <a:extLst xmlns:a="http://schemas.openxmlformats.org/drawingml/2006/main">
              <a:ext uri="{FF2B5EF4-FFF2-40B4-BE49-F238E27FC236}">
                <a16:creationId xmlns:a16="http://schemas.microsoft.com/office/drawing/2014/main" id="{E12AC2DB-6760-414C-B8B7-5B3B969368F9}"/>
              </a:ext>
            </a:extLst>
          </p:cNvPr>
          <p:cNvSpPr>
            <a:spLocks xmlns:a="http://schemas.openxmlformats.org/drawingml/2006/main" noGrp="1"/>
          </p:cNvSpPr>
          <p:nvPr/>
        </p:nvSpPr>
        <p:spPr>
          <a:xfrm xmlns:a="http://schemas.openxmlformats.org/drawingml/2006/main">
            <a:off x="6515100" y="20193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61616"/>
                </a:solidFill>
              </a:defRPr>
            </a:pPr>
            <a:r>
              <a:rPr sz="2025" b="1">
                <a:solidFill>
                  <a:srgbClr val="161616"/>
                </a:solidFill>
              </a:rPr>
              <a:t/>
            </a:r>
          </a:p>
        </p:txBody>
      </p:sp>
      <p:sp>
        <p:nvSpPr>
          <p:cNvPr id="9" name="">
            <a:extLst xmlns:a="http://schemas.openxmlformats.org/drawingml/2006/main">
              <a:ext uri="{FF2B5EF4-FFF2-40B4-BE49-F238E27FC236}">
                <a16:creationId xmlns:a16="http://schemas.microsoft.com/office/drawing/2014/main" id="{777BF18F-C316-49BF-A5D2-5ED76A558EFD}"/>
              </a:ext>
            </a:extLst>
          </p:cNvPr>
          <p:cNvSpPr>
            <a:spLocks xmlns:a="http://schemas.openxmlformats.org/drawingml/2006/main" noGrp="1"/>
          </p:cNvSpPr>
          <p:nvPr/>
        </p:nvSpPr>
        <p:spPr>
          <a:xfrm xmlns:a="http://schemas.openxmlformats.org/drawingml/2006/main">
            <a:off x="6553200" y="2571750"/>
            <a:ext cx="43434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61616"/>
                </a:solidFill>
              </a:defRPr>
            </a:pPr>
            <a:r>
              <a:rPr sz="1575" b="0">
                <a:solidFill>
                  <a:srgbClr val="161616"/>
                </a:solidFill>
              </a:rPr>
              <a:t/>
            </a:r>
          </a:p>
        </p:txBody>
      </p:sp>
      <p:sp>
        <p:nvSpPr>
          <p:cNvPr id="10" name="">
            <a:extLst xmlns:a="http://schemas.openxmlformats.org/drawingml/2006/main">
              <a:ext uri="{FF2B5EF4-FFF2-40B4-BE49-F238E27FC236}">
                <a16:creationId xmlns:a16="http://schemas.microsoft.com/office/drawing/2014/main" id="{8B5553E2-4C1F-4671-A628-DC11D5488858}"/>
              </a:ext>
            </a:extLst>
          </p:cNvPr>
          <p:cNvSpPr>
            <a:spLocks xmlns:a="http://schemas.openxmlformats.org/drawingml/2006/main" noGrp="1"/>
          </p:cNvSpPr>
          <p:nvPr/>
        </p:nvSpPr>
        <p:spPr>
          <a:xfrm xmlns:a="http://schemas.openxmlformats.org/drawingml/2006/main">
            <a:off x="514350" y="55626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5B616B"/>
                </a:solidFill>
              </a:defRPr>
            </a:pPr>
            <a:r>
              <a:rPr sz="1575" b="1">
                <a:solidFill>
                  <a:srgbClr val="5B616B"/>
                </a:solidFill>
              </a:rPr>
              <a:t>Live demo path: Plan safety gate -&gt; Grocery aggregation -&gt; Pantry expiry -&gt; Quality evidence.</a:t>
            </a:r>
          </a:p>
        </p:txBody>
      </p:sp>
      <p:sp>
        <p:nvSpPr>
          <p:cNvPr id="11" name="">
            <a:extLst xmlns:a="http://schemas.openxmlformats.org/drawingml/2006/main">
              <a:ext uri="{FF2B5EF4-FFF2-40B4-BE49-F238E27FC236}">
                <a16:creationId xmlns:a16="http://schemas.microsoft.com/office/drawing/2014/main" id="{FD9C8A7A-74DD-4535-86D5-86704A3FC481}"/>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12" name="">
            <a:extLst xmlns:a="http://schemas.openxmlformats.org/drawingml/2006/main">
              <a:ext uri="{FF2B5EF4-FFF2-40B4-BE49-F238E27FC236}">
                <a16:creationId xmlns:a16="http://schemas.microsoft.com/office/drawing/2014/main" id="{2E7D8C29-22B9-4006-9767-E8B6E1AF7BEE}"/>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- 4/14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1013f2ed12b4ca9"/>
          <a:srcRect xmlns:a="http://schemas.openxmlformats.org/drawingml/2006/main" l="0" t="1077" r="0" b="1077"/>
          <a:stretch xmlns:a="http://schemas.openxmlformats.org/drawingml/2006/main">
            <a:fillRect l="0" t="0" r="0" b="0"/>
          </a:stretch>
        </p:blipFill>
        <p:spPr>
          <a:xfrm xmlns:a="http://schemas.openxmlformats.org/drawingml/2006/main">
            <a:off x="6400800" y="1885950"/>
            <a:ext cx="4953000" cy="3028950"/>
          </a:xfrm>
          <a:prstGeom xmlns:a="http://schemas.openxmlformats.org/drawingml/2006/main" prst="rect">
            <a:avLst/>
          </a:prstGeom>
        </p:spPr>
      </p:pic>
    </p:spTree>
    <p:extLst>
      <p:ext uri="{BB962C8B-B14F-4D97-AF65-F5344CB8AC3E}">
        <p14:creationId xmlns:p14="http://schemas.microsoft.com/office/powerpoint/2010/main" val="14669723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11E3032-28AD-4C77-8684-307B7801E326}"/>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System architecture</a:t>
            </a:r>
          </a:p>
        </p:txBody>
      </p:sp>
      <p:sp>
        <p:nvSpPr>
          <p:cNvPr id="2" name="">
            <a:extLst xmlns:a="http://schemas.openxmlformats.org/drawingml/2006/main">
              <a:ext uri="{FF2B5EF4-FFF2-40B4-BE49-F238E27FC236}">
                <a16:creationId xmlns:a16="http://schemas.microsoft.com/office/drawing/2014/main" id="{BC97DB5A-F591-4286-A4E1-D779C19D8C6B}"/>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Executable design: browser to deterministic controls</a:t>
            </a:r>
          </a:p>
        </p:txBody>
      </p:sp>
      <p:sp>
        <p:nvSpPr>
          <p:cNvPr id="3" name="">
            <a:extLst xmlns:a="http://schemas.openxmlformats.org/drawingml/2006/main">
              <a:ext uri="{FF2B5EF4-FFF2-40B4-BE49-F238E27FC236}">
                <a16:creationId xmlns:a16="http://schemas.microsoft.com/office/drawing/2014/main" id="{E2E9390B-72DD-4946-887D-82B4779AFA00}"/>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BB039B2C-627B-4536-8A4D-F85D29B95F0D}"/>
              </a:ext>
            </a:extLst>
          </p:cNvPr>
          <p:cNvSpPr>
            <a:spLocks xmlns:a="http://schemas.openxmlformats.org/drawingml/2006/main" noGrp="1"/>
          </p:cNvSpPr>
          <p:nvPr/>
        </p:nvSpPr>
        <p:spPr>
          <a:xfrm xmlns:a="http://schemas.openxmlformats.org/drawingml/2006/main">
            <a:off x="514350" y="2152650"/>
            <a:ext cx="1524000" cy="1657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91F8D7A1-6314-45D4-B11B-ED5A926E2639}"/>
              </a:ext>
            </a:extLst>
          </p:cNvPr>
          <p:cNvSpPr>
            <a:spLocks xmlns:a="http://schemas.openxmlformats.org/drawingml/2006/main" noGrp="1"/>
          </p:cNvSpPr>
          <p:nvPr/>
        </p:nvSpPr>
        <p:spPr>
          <a:xfrm xmlns:a="http://schemas.openxmlformats.org/drawingml/2006/main">
            <a:off x="62865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61616"/>
                </a:solidFill>
              </a:defRPr>
            </a:pPr>
            <a:r>
              <a:rPr sz="1425" b="1">
                <a:solidFill>
                  <a:srgbClr val="161616"/>
                </a:solidFill>
              </a:rPr>
              <a:t>Household profile</a:t>
            </a:r>
          </a:p>
        </p:txBody>
      </p:sp>
      <p:sp>
        <p:nvSpPr>
          <p:cNvPr id="6" name="">
            <a:extLst xmlns:a="http://schemas.openxmlformats.org/drawingml/2006/main">
              <a:ext uri="{FF2B5EF4-FFF2-40B4-BE49-F238E27FC236}">
                <a16:creationId xmlns:a16="http://schemas.microsoft.com/office/drawing/2014/main" id="{EAD1A9C2-6A91-4686-B246-7894026288B7}"/>
              </a:ext>
            </a:extLst>
          </p:cNvPr>
          <p:cNvSpPr>
            <a:spLocks xmlns:a="http://schemas.openxmlformats.org/drawingml/2006/main" noGrp="1"/>
          </p:cNvSpPr>
          <p:nvPr/>
        </p:nvSpPr>
        <p:spPr>
          <a:xfrm xmlns:a="http://schemas.openxmlformats.org/drawingml/2006/main">
            <a:off x="64770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Allergens and preferences</a:t>
            </a:r>
          </a:p>
        </p:txBody>
      </p:sp>
      <p:sp>
        <p:nvSpPr>
          <p:cNvPr id="7" name="">
            <a:extLst xmlns:a="http://schemas.openxmlformats.org/drawingml/2006/main">
              <a:ext uri="{FF2B5EF4-FFF2-40B4-BE49-F238E27FC236}">
                <a16:creationId xmlns:a16="http://schemas.microsoft.com/office/drawing/2014/main" id="{1ACEE7A9-D71B-4A60-B398-54C321F46AAB}"/>
              </a:ext>
            </a:extLst>
          </p:cNvPr>
          <p:cNvSpPr>
            <a:spLocks xmlns:a="http://schemas.openxmlformats.org/drawingml/2006/main" noGrp="1"/>
          </p:cNvSpPr>
          <p:nvPr/>
        </p:nvSpPr>
        <p:spPr>
          <a:xfrm xmlns:a="http://schemas.openxmlformats.org/drawingml/2006/main">
            <a:off x="2057400" y="28765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8" name="">
            <a:extLst xmlns:a="http://schemas.openxmlformats.org/drawingml/2006/main">
              <a:ext uri="{FF2B5EF4-FFF2-40B4-BE49-F238E27FC236}">
                <a16:creationId xmlns:a16="http://schemas.microsoft.com/office/drawing/2014/main" id="{121A9DBC-A8A0-4BBA-A672-45BD9663C659}"/>
              </a:ext>
            </a:extLst>
          </p:cNvPr>
          <p:cNvSpPr>
            <a:spLocks xmlns:a="http://schemas.openxmlformats.org/drawingml/2006/main" noGrp="1"/>
          </p:cNvSpPr>
          <p:nvPr/>
        </p:nvSpPr>
        <p:spPr>
          <a:xfrm xmlns:a="http://schemas.openxmlformats.org/drawingml/2006/main">
            <a:off x="2324100" y="2152650"/>
            <a:ext cx="1524000" cy="1657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9" name="">
            <a:extLst xmlns:a="http://schemas.openxmlformats.org/drawingml/2006/main">
              <a:ext uri="{FF2B5EF4-FFF2-40B4-BE49-F238E27FC236}">
                <a16:creationId xmlns:a16="http://schemas.microsoft.com/office/drawing/2014/main" id="{423359F7-65B6-49BC-8524-F9B65051A7F4}"/>
              </a:ext>
            </a:extLst>
          </p:cNvPr>
          <p:cNvSpPr>
            <a:spLocks xmlns:a="http://schemas.openxmlformats.org/drawingml/2006/main" noGrp="1"/>
          </p:cNvSpPr>
          <p:nvPr/>
        </p:nvSpPr>
        <p:spPr>
          <a:xfrm xmlns:a="http://schemas.openxmlformats.org/drawingml/2006/main">
            <a:off x="243840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61616"/>
                </a:solidFill>
              </a:defRPr>
            </a:pPr>
            <a:r>
              <a:rPr sz="1425" b="1">
                <a:solidFill>
                  <a:srgbClr val="161616"/>
                </a:solidFill>
              </a:rPr>
              <a:t>Browser UI</a:t>
            </a:r>
          </a:p>
        </p:txBody>
      </p:sp>
      <p:sp>
        <p:nvSpPr>
          <p:cNvPr id="10" name="">
            <a:extLst xmlns:a="http://schemas.openxmlformats.org/drawingml/2006/main">
              <a:ext uri="{FF2B5EF4-FFF2-40B4-BE49-F238E27FC236}">
                <a16:creationId xmlns:a16="http://schemas.microsoft.com/office/drawing/2014/main" id="{482F938B-6A48-4FB8-ACCD-E891855BEC13}"/>
              </a:ext>
            </a:extLst>
          </p:cNvPr>
          <p:cNvSpPr>
            <a:spLocks xmlns:a="http://schemas.openxmlformats.org/drawingml/2006/main" noGrp="1"/>
          </p:cNvSpPr>
          <p:nvPr/>
        </p:nvSpPr>
        <p:spPr>
          <a:xfrm xmlns:a="http://schemas.openxmlformats.org/drawingml/2006/main">
            <a:off x="245745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Plan, Grocery, Pantry, Quality</a:t>
            </a:r>
          </a:p>
        </p:txBody>
      </p:sp>
      <p:sp>
        <p:nvSpPr>
          <p:cNvPr id="11" name="">
            <a:extLst xmlns:a="http://schemas.openxmlformats.org/drawingml/2006/main">
              <a:ext uri="{FF2B5EF4-FFF2-40B4-BE49-F238E27FC236}">
                <a16:creationId xmlns:a16="http://schemas.microsoft.com/office/drawing/2014/main" id="{F4194AB6-BFAB-48F7-87C3-C94D864589C4}"/>
              </a:ext>
            </a:extLst>
          </p:cNvPr>
          <p:cNvSpPr>
            <a:spLocks xmlns:a="http://schemas.openxmlformats.org/drawingml/2006/main" noGrp="1"/>
          </p:cNvSpPr>
          <p:nvPr/>
        </p:nvSpPr>
        <p:spPr>
          <a:xfrm xmlns:a="http://schemas.openxmlformats.org/drawingml/2006/main">
            <a:off x="3867150" y="28765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12" name="">
            <a:extLst xmlns:a="http://schemas.openxmlformats.org/drawingml/2006/main">
              <a:ext uri="{FF2B5EF4-FFF2-40B4-BE49-F238E27FC236}">
                <a16:creationId xmlns:a16="http://schemas.microsoft.com/office/drawing/2014/main" id="{B5245B3F-8A06-48FE-BB02-BBC924053129}"/>
              </a:ext>
            </a:extLst>
          </p:cNvPr>
          <p:cNvSpPr>
            <a:spLocks xmlns:a="http://schemas.openxmlformats.org/drawingml/2006/main" noGrp="1"/>
          </p:cNvSpPr>
          <p:nvPr/>
        </p:nvSpPr>
        <p:spPr>
          <a:xfrm xmlns:a="http://schemas.openxmlformats.org/drawingml/2006/main">
            <a:off x="4133850" y="2152650"/>
            <a:ext cx="1524000" cy="1657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13" name="">
            <a:extLst xmlns:a="http://schemas.openxmlformats.org/drawingml/2006/main">
              <a:ext uri="{FF2B5EF4-FFF2-40B4-BE49-F238E27FC236}">
                <a16:creationId xmlns:a16="http://schemas.microsoft.com/office/drawing/2014/main" id="{97026472-5850-48A2-991E-033125A50255}"/>
              </a:ext>
            </a:extLst>
          </p:cNvPr>
          <p:cNvSpPr>
            <a:spLocks xmlns:a="http://schemas.openxmlformats.org/drawingml/2006/main" noGrp="1"/>
          </p:cNvSpPr>
          <p:nvPr/>
        </p:nvSpPr>
        <p:spPr>
          <a:xfrm xmlns:a="http://schemas.openxmlformats.org/drawingml/2006/main">
            <a:off x="424815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61616"/>
                </a:solidFill>
              </a:defRPr>
            </a:pPr>
            <a:r>
              <a:rPr sz="1425" b="1">
                <a:solidFill>
                  <a:srgbClr val="161616"/>
                </a:solidFill>
              </a:rPr>
              <a:t>Flask API</a:t>
            </a:r>
          </a:p>
        </p:txBody>
      </p:sp>
      <p:sp>
        <p:nvSpPr>
          <p:cNvPr id="14" name="">
            <a:extLst xmlns:a="http://schemas.openxmlformats.org/drawingml/2006/main">
              <a:ext uri="{FF2B5EF4-FFF2-40B4-BE49-F238E27FC236}">
                <a16:creationId xmlns:a16="http://schemas.microsoft.com/office/drawing/2014/main" id="{5A116C0A-26D4-46EF-BA56-E097331F2363}"/>
              </a:ext>
            </a:extLst>
          </p:cNvPr>
          <p:cNvSpPr>
            <a:spLocks xmlns:a="http://schemas.openxmlformats.org/drawingml/2006/main" noGrp="1"/>
          </p:cNvSpPr>
          <p:nvPr/>
        </p:nvSpPr>
        <p:spPr>
          <a:xfrm xmlns:a="http://schemas.openxmlformats.org/drawingml/2006/main">
            <a:off x="426720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Stable local HTTP routes</a:t>
            </a:r>
          </a:p>
        </p:txBody>
      </p:sp>
      <p:sp>
        <p:nvSpPr>
          <p:cNvPr id="15" name="">
            <a:extLst xmlns:a="http://schemas.openxmlformats.org/drawingml/2006/main">
              <a:ext uri="{FF2B5EF4-FFF2-40B4-BE49-F238E27FC236}">
                <a16:creationId xmlns:a16="http://schemas.microsoft.com/office/drawing/2014/main" id="{05C3AA22-D733-4017-89D0-0B0543D2C88F}"/>
              </a:ext>
            </a:extLst>
          </p:cNvPr>
          <p:cNvSpPr>
            <a:spLocks xmlns:a="http://schemas.openxmlformats.org/drawingml/2006/main" noGrp="1"/>
          </p:cNvSpPr>
          <p:nvPr/>
        </p:nvSpPr>
        <p:spPr>
          <a:xfrm xmlns:a="http://schemas.openxmlformats.org/drawingml/2006/main">
            <a:off x="5676900" y="28765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16" name="">
            <a:extLst xmlns:a="http://schemas.openxmlformats.org/drawingml/2006/main">
              <a:ext uri="{FF2B5EF4-FFF2-40B4-BE49-F238E27FC236}">
                <a16:creationId xmlns:a16="http://schemas.microsoft.com/office/drawing/2014/main" id="{51AC5A75-268A-435D-BA61-DB4387753A06}"/>
              </a:ext>
            </a:extLst>
          </p:cNvPr>
          <p:cNvSpPr>
            <a:spLocks xmlns:a="http://schemas.openxmlformats.org/drawingml/2006/main" noGrp="1"/>
          </p:cNvSpPr>
          <p:nvPr/>
        </p:nvSpPr>
        <p:spPr>
          <a:xfrm xmlns:a="http://schemas.openxmlformats.org/drawingml/2006/main">
            <a:off x="5943600" y="2152650"/>
            <a:ext cx="1524000" cy="1657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17" name="">
            <a:extLst xmlns:a="http://schemas.openxmlformats.org/drawingml/2006/main">
              <a:ext uri="{FF2B5EF4-FFF2-40B4-BE49-F238E27FC236}">
                <a16:creationId xmlns:a16="http://schemas.microsoft.com/office/drawing/2014/main" id="{A664AD00-6B18-4A85-B1A2-094B01B1495F}"/>
              </a:ext>
            </a:extLst>
          </p:cNvPr>
          <p:cNvSpPr>
            <a:spLocks xmlns:a="http://schemas.openxmlformats.org/drawingml/2006/main" noGrp="1"/>
          </p:cNvSpPr>
          <p:nvPr/>
        </p:nvSpPr>
        <p:spPr>
          <a:xfrm xmlns:a="http://schemas.openxmlformats.org/drawingml/2006/main">
            <a:off x="605790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61616"/>
                </a:solidFill>
              </a:defRPr>
            </a:pPr>
            <a:r>
              <a:rPr sz="1425" b="1">
                <a:solidFill>
                  <a:srgbClr val="161616"/>
                </a:solidFill>
              </a:rPr>
              <a:t>Core controls</a:t>
            </a:r>
          </a:p>
        </p:txBody>
      </p:sp>
      <p:sp>
        <p:nvSpPr>
          <p:cNvPr id="18" name="">
            <a:extLst xmlns:a="http://schemas.openxmlformats.org/drawingml/2006/main">
              <a:ext uri="{FF2B5EF4-FFF2-40B4-BE49-F238E27FC236}">
                <a16:creationId xmlns:a16="http://schemas.microsoft.com/office/drawing/2014/main" id="{83902AF6-790B-47A6-8316-6B414431BB5A}"/>
              </a:ext>
            </a:extLst>
          </p:cNvPr>
          <p:cNvSpPr>
            <a:spLocks xmlns:a="http://schemas.openxmlformats.org/drawingml/2006/main" noGrp="1"/>
          </p:cNvSpPr>
          <p:nvPr/>
        </p:nvSpPr>
        <p:spPr>
          <a:xfrm xmlns:a="http://schemas.openxmlformats.org/drawingml/2006/main">
            <a:off x="607695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Aggregate grocery and classify expiry</a:t>
            </a:r>
          </a:p>
        </p:txBody>
      </p:sp>
      <p:sp>
        <p:nvSpPr>
          <p:cNvPr id="19" name="">
            <a:extLst xmlns:a="http://schemas.openxmlformats.org/drawingml/2006/main">
              <a:ext uri="{FF2B5EF4-FFF2-40B4-BE49-F238E27FC236}">
                <a16:creationId xmlns:a16="http://schemas.microsoft.com/office/drawing/2014/main" id="{BD31431A-AB8E-4DAA-B55B-0099E3C11C5E}"/>
              </a:ext>
            </a:extLst>
          </p:cNvPr>
          <p:cNvSpPr>
            <a:spLocks xmlns:a="http://schemas.openxmlformats.org/drawingml/2006/main" noGrp="1"/>
          </p:cNvSpPr>
          <p:nvPr/>
        </p:nvSpPr>
        <p:spPr>
          <a:xfrm xmlns:a="http://schemas.openxmlformats.org/drawingml/2006/main">
            <a:off x="7486650" y="28765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20" name="">
            <a:extLst xmlns:a="http://schemas.openxmlformats.org/drawingml/2006/main">
              <a:ext uri="{FF2B5EF4-FFF2-40B4-BE49-F238E27FC236}">
                <a16:creationId xmlns:a16="http://schemas.microsoft.com/office/drawing/2014/main" id="{E8624A61-A8A7-417E-967F-25A9CFB6EF4C}"/>
              </a:ext>
            </a:extLst>
          </p:cNvPr>
          <p:cNvSpPr>
            <a:spLocks xmlns:a="http://schemas.openxmlformats.org/drawingml/2006/main" noGrp="1"/>
          </p:cNvSpPr>
          <p:nvPr/>
        </p:nvSpPr>
        <p:spPr>
          <a:xfrm xmlns:a="http://schemas.openxmlformats.org/drawingml/2006/main">
            <a:off x="7753350" y="2152650"/>
            <a:ext cx="1524000" cy="1657350"/>
          </a:xfrm>
          <a:prstGeom xmlns:a="http://schemas.openxmlformats.org/drawingml/2006/main" prst="rect">
            <a:avLst/>
          </a:prstGeom>
          <a:solidFill xmlns:a="http://schemas.openxmlformats.org/drawingml/2006/main">
            <a:srgbClr val="FFF2EA"/>
          </a:solidFill>
          <a:ln xmlns:a="http://schemas.openxmlformats.org/drawingml/2006/main" w="9525">
            <a:solidFill>
              <a:srgbClr val="F36B2A"/>
            </a:solidFill>
            <a:prstDash val="solid"/>
          </a:ln>
        </p:spPr>
      </p:sp>
      <p:sp>
        <p:nvSpPr>
          <p:cNvPr id="21" name="">
            <a:extLst xmlns:a="http://schemas.openxmlformats.org/drawingml/2006/main">
              <a:ext uri="{FF2B5EF4-FFF2-40B4-BE49-F238E27FC236}">
                <a16:creationId xmlns:a16="http://schemas.microsoft.com/office/drawing/2014/main" id="{1A4FDE8E-AA32-4AB4-9585-8FEE78FE832C}"/>
              </a:ext>
            </a:extLst>
          </p:cNvPr>
          <p:cNvSpPr>
            <a:spLocks xmlns:a="http://schemas.openxmlformats.org/drawingml/2006/main" noGrp="1"/>
          </p:cNvSpPr>
          <p:nvPr/>
        </p:nvSpPr>
        <p:spPr>
          <a:xfrm xmlns:a="http://schemas.openxmlformats.org/drawingml/2006/main">
            <a:off x="786765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F36B2A"/>
                </a:solidFill>
              </a:defRPr>
            </a:pPr>
            <a:r>
              <a:rPr sz="1425" b="1">
                <a:solidFill>
                  <a:srgbClr val="F36B2A"/>
                </a:solidFill>
              </a:rPr>
              <a:t>Safety gate</a:t>
            </a:r>
          </a:p>
        </p:txBody>
      </p:sp>
      <p:sp>
        <p:nvSpPr>
          <p:cNvPr id="22" name="">
            <a:extLst xmlns:a="http://schemas.openxmlformats.org/drawingml/2006/main">
              <a:ext uri="{FF2B5EF4-FFF2-40B4-BE49-F238E27FC236}">
                <a16:creationId xmlns:a16="http://schemas.microsoft.com/office/drawing/2014/main" id="{1BC347BA-B992-434F-8469-2964DEA82061}"/>
              </a:ext>
            </a:extLst>
          </p:cNvPr>
          <p:cNvSpPr>
            <a:spLocks xmlns:a="http://schemas.openxmlformats.org/drawingml/2006/main" noGrp="1"/>
          </p:cNvSpPr>
          <p:nvPr/>
        </p:nvSpPr>
        <p:spPr>
          <a:xfrm xmlns:a="http://schemas.openxmlformats.org/drawingml/2006/main">
            <a:off x="788670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Allergen alias blocking</a:t>
            </a:r>
          </a:p>
        </p:txBody>
      </p:sp>
      <p:sp>
        <p:nvSpPr>
          <p:cNvPr id="23" name="">
            <a:extLst xmlns:a="http://schemas.openxmlformats.org/drawingml/2006/main">
              <a:ext uri="{FF2B5EF4-FFF2-40B4-BE49-F238E27FC236}">
                <a16:creationId xmlns:a16="http://schemas.microsoft.com/office/drawing/2014/main" id="{5D277B8C-5C79-4DF8-A1EB-03622F200DCE}"/>
              </a:ext>
            </a:extLst>
          </p:cNvPr>
          <p:cNvSpPr>
            <a:spLocks xmlns:a="http://schemas.openxmlformats.org/drawingml/2006/main" noGrp="1"/>
          </p:cNvSpPr>
          <p:nvPr/>
        </p:nvSpPr>
        <p:spPr>
          <a:xfrm xmlns:a="http://schemas.openxmlformats.org/drawingml/2006/main">
            <a:off x="9296400" y="28765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24" name="">
            <a:extLst xmlns:a="http://schemas.openxmlformats.org/drawingml/2006/main">
              <a:ext uri="{FF2B5EF4-FFF2-40B4-BE49-F238E27FC236}">
                <a16:creationId xmlns:a16="http://schemas.microsoft.com/office/drawing/2014/main" id="{A51CDDDB-1DAF-43B4-83D0-79314BD249F0}"/>
              </a:ext>
            </a:extLst>
          </p:cNvPr>
          <p:cNvSpPr>
            <a:spLocks xmlns:a="http://schemas.openxmlformats.org/drawingml/2006/main" noGrp="1"/>
          </p:cNvSpPr>
          <p:nvPr/>
        </p:nvSpPr>
        <p:spPr>
          <a:xfrm xmlns:a="http://schemas.openxmlformats.org/drawingml/2006/main">
            <a:off x="9563100" y="2152650"/>
            <a:ext cx="1524000" cy="1657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25" name="">
            <a:extLst xmlns:a="http://schemas.openxmlformats.org/drawingml/2006/main">
              <a:ext uri="{FF2B5EF4-FFF2-40B4-BE49-F238E27FC236}">
                <a16:creationId xmlns:a16="http://schemas.microsoft.com/office/drawing/2014/main" id="{A05F63F1-A402-416C-8BF0-7206CCA91D6F}"/>
              </a:ext>
            </a:extLst>
          </p:cNvPr>
          <p:cNvSpPr>
            <a:spLocks xmlns:a="http://schemas.openxmlformats.org/drawingml/2006/main" noGrp="1"/>
          </p:cNvSpPr>
          <p:nvPr/>
        </p:nvSpPr>
        <p:spPr>
          <a:xfrm xmlns:a="http://schemas.openxmlformats.org/drawingml/2006/main">
            <a:off x="9677400" y="23431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61616"/>
                </a:solidFill>
              </a:defRPr>
            </a:pPr>
            <a:r>
              <a:rPr sz="1425" b="1">
                <a:solidFill>
                  <a:srgbClr val="161616"/>
                </a:solidFill>
              </a:rPr>
              <a:t>Evidence</a:t>
            </a:r>
          </a:p>
        </p:txBody>
      </p:sp>
      <p:sp>
        <p:nvSpPr>
          <p:cNvPr id="26" name="">
            <a:extLst xmlns:a="http://schemas.openxmlformats.org/drawingml/2006/main">
              <a:ext uri="{FF2B5EF4-FFF2-40B4-BE49-F238E27FC236}">
                <a16:creationId xmlns:a16="http://schemas.microsoft.com/office/drawing/2014/main" id="{E9C86E5C-C5F8-4CB6-92AC-CEAFDCAC99F4}"/>
              </a:ext>
            </a:extLst>
          </p:cNvPr>
          <p:cNvSpPr>
            <a:spLocks xmlns:a="http://schemas.openxmlformats.org/drawingml/2006/main" noGrp="1"/>
          </p:cNvSpPr>
          <p:nvPr/>
        </p:nvSpPr>
        <p:spPr>
          <a:xfrm xmlns:a="http://schemas.openxmlformats.org/drawingml/2006/main">
            <a:off x="9696450" y="283845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B616B"/>
                </a:solidFill>
              </a:defRPr>
            </a:pPr>
            <a:r>
              <a:rPr sz="1125" b="0">
                <a:solidFill>
                  <a:srgbClr val="5B616B"/>
                </a:solidFill>
              </a:rPr>
              <a:t>UI decision plus release scenarios</a:t>
            </a:r>
          </a:p>
        </p:txBody>
      </p:sp>
      <p:sp>
        <p:nvSpPr>
          <p:cNvPr id="27" name="">
            <a:extLst xmlns:a="http://schemas.openxmlformats.org/drawingml/2006/main">
              <a:ext uri="{FF2B5EF4-FFF2-40B4-BE49-F238E27FC236}">
                <a16:creationId xmlns:a16="http://schemas.microsoft.com/office/drawing/2014/main" id="{B928B502-8186-470F-82AD-D9AF0A3B10F4}"/>
              </a:ext>
            </a:extLst>
          </p:cNvPr>
          <p:cNvSpPr>
            <a:spLocks xmlns:a="http://schemas.openxmlformats.org/drawingml/2006/main" noGrp="1"/>
          </p:cNvSpPr>
          <p:nvPr/>
        </p:nvSpPr>
        <p:spPr>
          <a:xfrm xmlns:a="http://schemas.openxmlformats.org/drawingml/2006/main">
            <a:off x="514350" y="45148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Design decision</a:t>
            </a:r>
          </a:p>
        </p:txBody>
      </p:sp>
      <p:sp>
        <p:nvSpPr>
          <p:cNvPr id="28" name="">
            <a:extLst xmlns:a="http://schemas.openxmlformats.org/drawingml/2006/main">
              <a:ext uri="{FF2B5EF4-FFF2-40B4-BE49-F238E27FC236}">
                <a16:creationId xmlns:a16="http://schemas.microsoft.com/office/drawing/2014/main" id="{E240ED8C-CF42-4B2D-91FA-43668C6B07C6}"/>
              </a:ext>
            </a:extLst>
          </p:cNvPr>
          <p:cNvSpPr>
            <a:spLocks xmlns:a="http://schemas.openxmlformats.org/drawingml/2006/main" noGrp="1"/>
          </p:cNvSpPr>
          <p:nvPr/>
        </p:nvSpPr>
        <p:spPr>
          <a:xfrm xmlns:a="http://schemas.openxmlformats.org/drawingml/2006/main">
            <a:off x="2628900" y="45148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61616"/>
                </a:solidFill>
              </a:defRPr>
            </a:pPr>
            <a:r>
              <a:rPr sz="1875" b="1">
                <a:solidFill>
                  <a:srgbClr val="161616"/>
                </a:solidFill>
              </a:rPr>
              <a:t>The browser never decides safety; Flask delegates to deterministic, test-covered functions.</a:t>
            </a:r>
          </a:p>
        </p:txBody>
      </p:sp>
      <p:sp>
        <p:nvSpPr>
          <p:cNvPr id="29" name="">
            <a:extLst xmlns:a="http://schemas.openxmlformats.org/drawingml/2006/main">
              <a:ext uri="{FF2B5EF4-FFF2-40B4-BE49-F238E27FC236}">
                <a16:creationId xmlns:a16="http://schemas.microsoft.com/office/drawing/2014/main" id="{65E0E97A-34BE-4263-B0B5-6B4FA7D36F59}"/>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30" name="">
            <a:extLst xmlns:a="http://schemas.openxmlformats.org/drawingml/2006/main">
              <a:ext uri="{FF2B5EF4-FFF2-40B4-BE49-F238E27FC236}">
                <a16:creationId xmlns:a16="http://schemas.microsoft.com/office/drawing/2014/main" id="{C1397771-D996-4368-9B6C-F0BC8EFD9D0B}"/>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- 5/14</a:t>
            </a:r>
          </a:p>
        </p:txBody>
      </p:sp>
    </p:spTree>
    <p:extLst>
      <p:ext uri="{BB962C8B-B14F-4D97-AF65-F5344CB8AC3E}">
        <p14:creationId xmlns:p14="http://schemas.microsoft.com/office/powerpoint/2010/main" val="9337577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90D401B-0AB9-4819-B845-782CD969DD34}"/>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Prepared by Zixuan Liang</a:t>
            </a:r>
          </a:p>
        </p:txBody>
      </p:sp>
      <p:sp>
        <p:nvSpPr>
          <p:cNvPr id="2" name="">
            <a:extLst xmlns:a="http://schemas.openxmlformats.org/drawingml/2006/main">
              <a:ext uri="{FF2B5EF4-FFF2-40B4-BE49-F238E27FC236}">
                <a16:creationId xmlns:a16="http://schemas.microsoft.com/office/drawing/2014/main" id="{77FC7422-8357-4DDA-979E-9D3241D49271}"/>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Role of each group member</a:t>
            </a:r>
          </a:p>
        </p:txBody>
      </p:sp>
      <p:sp>
        <p:nvSpPr>
          <p:cNvPr id="3" name="">
            <a:extLst xmlns:a="http://schemas.openxmlformats.org/drawingml/2006/main">
              <a:ext uri="{FF2B5EF4-FFF2-40B4-BE49-F238E27FC236}">
                <a16:creationId xmlns:a16="http://schemas.microsoft.com/office/drawing/2014/main" id="{9AC386B0-CE20-4572-A646-B6105D18AA51}"/>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CE2F5FCB-05A5-4D4B-89B1-7ADD33A88032}"/>
              </a:ext>
            </a:extLst>
          </p:cNvPr>
          <p:cNvSpPr>
            <a:spLocks xmlns:a="http://schemas.openxmlformats.org/drawingml/2006/main" noGrp="1"/>
          </p:cNvSpPr>
          <p:nvPr/>
        </p:nvSpPr>
        <p:spPr>
          <a:xfrm xmlns:a="http://schemas.openxmlformats.org/drawingml/2006/main">
            <a:off x="514350" y="16764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5B616B"/>
                </a:solidFill>
              </a:defRPr>
            </a:pPr>
            <a:r>
              <a:rPr sz="1725" b="0">
                <a:solidFill>
                  <a:srgbClr val="5B616B"/>
                </a:solidFill>
              </a:rPr>
              <a:t>This was completed as an individual project, so Zixuan Liang owned each presentation section and project artifact.</a:t>
            </a:r>
          </a:p>
        </p:txBody>
      </p:sp>
      <p:sp>
        <p:nvSpPr>
          <p:cNvPr id="5" name="">
            <a:extLst xmlns:a="http://schemas.openxmlformats.org/drawingml/2006/main">
              <a:ext uri="{FF2B5EF4-FFF2-40B4-BE49-F238E27FC236}">
                <a16:creationId xmlns:a16="http://schemas.microsoft.com/office/drawing/2014/main" id="{81AB861E-FD5F-4BD9-9794-7F92792D0092}"/>
              </a:ext>
            </a:extLst>
          </p:cNvPr>
          <p:cNvSpPr>
            <a:spLocks xmlns:a="http://schemas.openxmlformats.org/drawingml/2006/main" noGrp="1"/>
          </p:cNvSpPr>
          <p:nvPr/>
        </p:nvSpPr>
        <p:spPr>
          <a:xfrm xmlns:a="http://schemas.openxmlformats.org/drawingml/2006/main">
            <a:off x="514350" y="249555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6" name="">
            <a:extLst xmlns:a="http://schemas.openxmlformats.org/drawingml/2006/main">
              <a:ext uri="{FF2B5EF4-FFF2-40B4-BE49-F238E27FC236}">
                <a16:creationId xmlns:a16="http://schemas.microsoft.com/office/drawing/2014/main" id="{1C50A99E-4B94-49BC-B37E-FB3F79482D48}"/>
              </a:ext>
            </a:extLst>
          </p:cNvPr>
          <p:cNvSpPr>
            <a:spLocks xmlns:a="http://schemas.openxmlformats.org/drawingml/2006/main" noGrp="1"/>
          </p:cNvSpPr>
          <p:nvPr/>
        </p:nvSpPr>
        <p:spPr>
          <a:xfrm xmlns:a="http://schemas.openxmlformats.org/drawingml/2006/main">
            <a:off x="514350" y="2495550"/>
            <a:ext cx="57150" cy="1162050"/>
          </a:xfrm>
          <a:prstGeom xmlns:a="http://schemas.openxmlformats.org/drawingml/2006/main" prst="rect">
            <a:avLst/>
          </a:prstGeom>
          <a:solidFill xmlns:a="http://schemas.openxmlformats.org/drawingml/2006/main">
            <a:srgbClr val="1D4E89"/>
          </a:solidFill>
          <a:ln xmlns:a="http://schemas.openxmlformats.org/drawingml/2006/main" w="0">
            <a:solidFill>
              <a:srgbClr val="1D4E89"/>
            </a:solidFill>
            <a:prstDash val="solid"/>
          </a:ln>
        </p:spPr>
      </p:sp>
      <p:sp>
        <p:nvSpPr>
          <p:cNvPr id="7" name="">
            <a:extLst xmlns:a="http://schemas.openxmlformats.org/drawingml/2006/main">
              <a:ext uri="{FF2B5EF4-FFF2-40B4-BE49-F238E27FC236}">
                <a16:creationId xmlns:a16="http://schemas.microsoft.com/office/drawing/2014/main" id="{82A918B5-36D8-44D0-B3AD-30E42EB746A8}"/>
              </a:ext>
            </a:extLst>
          </p:cNvPr>
          <p:cNvSpPr>
            <a:spLocks xmlns:a="http://schemas.openxmlformats.org/drawingml/2006/main" noGrp="1"/>
          </p:cNvSpPr>
          <p:nvPr/>
        </p:nvSpPr>
        <p:spPr>
          <a:xfrm xmlns:a="http://schemas.openxmlformats.org/drawingml/2006/main">
            <a:off x="685800" y="266700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Project and requirements</a:t>
            </a:r>
          </a:p>
        </p:txBody>
      </p:sp>
      <p:sp>
        <p:nvSpPr>
          <p:cNvPr id="8" name="">
            <a:extLst xmlns:a="http://schemas.openxmlformats.org/drawingml/2006/main">
              <a:ext uri="{FF2B5EF4-FFF2-40B4-BE49-F238E27FC236}">
                <a16:creationId xmlns:a16="http://schemas.microsoft.com/office/drawing/2014/main" id="{16617382-5773-4698-A04D-098EC0F7133A}"/>
              </a:ext>
            </a:extLst>
          </p:cNvPr>
          <p:cNvSpPr>
            <a:spLocks xmlns:a="http://schemas.openxmlformats.org/drawingml/2006/main" noGrp="1"/>
          </p:cNvSpPr>
          <p:nvPr/>
        </p:nvSpPr>
        <p:spPr>
          <a:xfrm xmlns:a="http://schemas.openxmlformats.org/drawingml/2006/main">
            <a:off x="685800" y="300990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Defined the PantryPilot concept, V1/V1.1 scope, requirements, adverse conditions, and quality goals.</a:t>
            </a:r>
          </a:p>
        </p:txBody>
      </p:sp>
      <p:sp>
        <p:nvSpPr>
          <p:cNvPr id="9" name="">
            <a:extLst xmlns:a="http://schemas.openxmlformats.org/drawingml/2006/main">
              <a:ext uri="{FF2B5EF4-FFF2-40B4-BE49-F238E27FC236}">
                <a16:creationId xmlns:a16="http://schemas.microsoft.com/office/drawing/2014/main" id="{ACBC0A66-84CC-4021-AB57-D324688EC441}"/>
              </a:ext>
            </a:extLst>
          </p:cNvPr>
          <p:cNvSpPr>
            <a:spLocks xmlns:a="http://schemas.openxmlformats.org/drawingml/2006/main" noGrp="1"/>
          </p:cNvSpPr>
          <p:nvPr/>
        </p:nvSpPr>
        <p:spPr>
          <a:xfrm xmlns:a="http://schemas.openxmlformats.org/drawingml/2006/main">
            <a:off x="6076950" y="249555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0" name="">
            <a:extLst xmlns:a="http://schemas.openxmlformats.org/drawingml/2006/main">
              <a:ext uri="{FF2B5EF4-FFF2-40B4-BE49-F238E27FC236}">
                <a16:creationId xmlns:a16="http://schemas.microsoft.com/office/drawing/2014/main" id="{4F32FF3E-1E6F-4A84-B077-9D595CD22F31}"/>
              </a:ext>
            </a:extLst>
          </p:cNvPr>
          <p:cNvSpPr>
            <a:spLocks xmlns:a="http://schemas.openxmlformats.org/drawingml/2006/main" noGrp="1"/>
          </p:cNvSpPr>
          <p:nvPr/>
        </p:nvSpPr>
        <p:spPr>
          <a:xfrm xmlns:a="http://schemas.openxmlformats.org/drawingml/2006/main">
            <a:off x="6076950" y="2495550"/>
            <a:ext cx="57150" cy="1162050"/>
          </a:xfrm>
          <a:prstGeom xmlns:a="http://schemas.openxmlformats.org/drawingml/2006/main" prst="rect">
            <a:avLst/>
          </a:prstGeom>
          <a:solidFill xmlns:a="http://schemas.openxmlformats.org/drawingml/2006/main">
            <a:srgbClr val="F36B2A"/>
          </a:solidFill>
          <a:ln xmlns:a="http://schemas.openxmlformats.org/drawingml/2006/main" w="0">
            <a:solidFill>
              <a:srgbClr val="F36B2A"/>
            </a:solidFill>
            <a:prstDash val="solid"/>
          </a:ln>
        </p:spPr>
      </p:sp>
      <p:sp>
        <p:nvSpPr>
          <p:cNvPr id="11" name="">
            <a:extLst xmlns:a="http://schemas.openxmlformats.org/drawingml/2006/main">
              <a:ext uri="{FF2B5EF4-FFF2-40B4-BE49-F238E27FC236}">
                <a16:creationId xmlns:a16="http://schemas.microsoft.com/office/drawing/2014/main" id="{440C637F-35E8-4A50-874D-7F0806024D40}"/>
              </a:ext>
            </a:extLst>
          </p:cNvPr>
          <p:cNvSpPr>
            <a:spLocks xmlns:a="http://schemas.openxmlformats.org/drawingml/2006/main" noGrp="1"/>
          </p:cNvSpPr>
          <p:nvPr/>
        </p:nvSpPr>
        <p:spPr>
          <a:xfrm xmlns:a="http://schemas.openxmlformats.org/drawingml/2006/main">
            <a:off x="6248400" y="266700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Risk management</a:t>
            </a:r>
          </a:p>
        </p:txBody>
      </p:sp>
      <p:sp>
        <p:nvSpPr>
          <p:cNvPr id="12" name="">
            <a:extLst xmlns:a="http://schemas.openxmlformats.org/drawingml/2006/main">
              <a:ext uri="{FF2B5EF4-FFF2-40B4-BE49-F238E27FC236}">
                <a16:creationId xmlns:a16="http://schemas.microsoft.com/office/drawing/2014/main" id="{64504708-1214-407B-9C09-C1D3D5313998}"/>
              </a:ext>
            </a:extLst>
          </p:cNvPr>
          <p:cNvSpPr>
            <a:spLocks xmlns:a="http://schemas.openxmlformats.org/drawingml/2006/main" noGrp="1"/>
          </p:cNvSpPr>
          <p:nvPr/>
        </p:nvSpPr>
        <p:spPr>
          <a:xfrm xmlns:a="http://schemas.openxmlformats.org/drawingml/2006/main">
            <a:off x="6248400" y="300990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Built and updated the risk table, likelihood-impact scores, mitigation strategy, and weekly tracking history.</a:t>
            </a:r>
          </a:p>
        </p:txBody>
      </p:sp>
      <p:sp>
        <p:nvSpPr>
          <p:cNvPr id="13" name="">
            <a:extLst xmlns:a="http://schemas.openxmlformats.org/drawingml/2006/main">
              <a:ext uri="{FF2B5EF4-FFF2-40B4-BE49-F238E27FC236}">
                <a16:creationId xmlns:a16="http://schemas.microsoft.com/office/drawing/2014/main" id="{24CD3B21-EE0C-4A62-93EC-F62CA8B6FDA8}"/>
              </a:ext>
            </a:extLst>
          </p:cNvPr>
          <p:cNvSpPr>
            <a:spLocks xmlns:a="http://schemas.openxmlformats.org/drawingml/2006/main" noGrp="1"/>
          </p:cNvSpPr>
          <p:nvPr/>
        </p:nvSpPr>
        <p:spPr>
          <a:xfrm xmlns:a="http://schemas.openxmlformats.org/drawingml/2006/main">
            <a:off x="514350" y="415290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4" name="">
            <a:extLst xmlns:a="http://schemas.openxmlformats.org/drawingml/2006/main">
              <a:ext uri="{FF2B5EF4-FFF2-40B4-BE49-F238E27FC236}">
                <a16:creationId xmlns:a16="http://schemas.microsoft.com/office/drawing/2014/main" id="{889447FE-D5DA-42EB-B9EF-0F2BE2CAA906}"/>
              </a:ext>
            </a:extLst>
          </p:cNvPr>
          <p:cNvSpPr>
            <a:spLocks xmlns:a="http://schemas.openxmlformats.org/drawingml/2006/main" noGrp="1"/>
          </p:cNvSpPr>
          <p:nvPr/>
        </p:nvSpPr>
        <p:spPr>
          <a:xfrm xmlns:a="http://schemas.openxmlformats.org/drawingml/2006/main">
            <a:off x="514350" y="4152900"/>
            <a:ext cx="57150" cy="1162050"/>
          </a:xfrm>
          <a:prstGeom xmlns:a="http://schemas.openxmlformats.org/drawingml/2006/main" prst="rect">
            <a:avLst/>
          </a:prstGeom>
          <a:solidFill xmlns:a="http://schemas.openxmlformats.org/drawingml/2006/main">
            <a:srgbClr val="147A55"/>
          </a:solidFill>
          <a:ln xmlns:a="http://schemas.openxmlformats.org/drawingml/2006/main" w="0">
            <a:solidFill>
              <a:srgbClr val="147A55"/>
            </a:solidFill>
            <a:prstDash val="solid"/>
          </a:ln>
        </p:spPr>
      </p:sp>
      <p:sp>
        <p:nvSpPr>
          <p:cNvPr id="15" name="">
            <a:extLst xmlns:a="http://schemas.openxmlformats.org/drawingml/2006/main">
              <a:ext uri="{FF2B5EF4-FFF2-40B4-BE49-F238E27FC236}">
                <a16:creationId xmlns:a16="http://schemas.microsoft.com/office/drawing/2014/main" id="{42092A5E-13F3-4B83-8640-EFFCBD439B89}"/>
              </a:ext>
            </a:extLst>
          </p:cNvPr>
          <p:cNvSpPr>
            <a:spLocks xmlns:a="http://schemas.openxmlformats.org/drawingml/2006/main" noGrp="1"/>
          </p:cNvSpPr>
          <p:nvPr/>
        </p:nvSpPr>
        <p:spPr>
          <a:xfrm xmlns:a="http://schemas.openxmlformats.org/drawingml/2006/main">
            <a:off x="685800" y="432435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Configuration management</a:t>
            </a:r>
          </a:p>
        </p:txBody>
      </p:sp>
      <p:sp>
        <p:nvSpPr>
          <p:cNvPr id="16" name="">
            <a:extLst xmlns:a="http://schemas.openxmlformats.org/drawingml/2006/main">
              <a:ext uri="{FF2B5EF4-FFF2-40B4-BE49-F238E27FC236}">
                <a16:creationId xmlns:a16="http://schemas.microsoft.com/office/drawing/2014/main" id="{53338549-F4C9-4D4A-80BB-2A3E4F1F5021}"/>
              </a:ext>
            </a:extLst>
          </p:cNvPr>
          <p:cNvSpPr>
            <a:spLocks xmlns:a="http://schemas.openxmlformats.org/drawingml/2006/main" noGrp="1"/>
          </p:cNvSpPr>
          <p:nvPr/>
        </p:nvSpPr>
        <p:spPr>
          <a:xfrm xmlns:a="http://schemas.openxmlformats.org/drawingml/2006/main">
            <a:off x="685800" y="46672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Consolidated the project into GitHub, preserved tags/history, controlled the Flask UI files, and updated the CI and CM evidence.</a:t>
            </a:r>
          </a:p>
        </p:txBody>
      </p:sp>
      <p:sp>
        <p:nvSpPr>
          <p:cNvPr id="17" name="">
            <a:extLst xmlns:a="http://schemas.openxmlformats.org/drawingml/2006/main">
              <a:ext uri="{FF2B5EF4-FFF2-40B4-BE49-F238E27FC236}">
                <a16:creationId xmlns:a16="http://schemas.microsoft.com/office/drawing/2014/main" id="{79AC1BE8-AA42-489A-99D0-C74F93C14B3C}"/>
              </a:ext>
            </a:extLst>
          </p:cNvPr>
          <p:cNvSpPr>
            <a:spLocks xmlns:a="http://schemas.openxmlformats.org/drawingml/2006/main" noGrp="1"/>
          </p:cNvSpPr>
          <p:nvPr/>
        </p:nvSpPr>
        <p:spPr>
          <a:xfrm xmlns:a="http://schemas.openxmlformats.org/drawingml/2006/main">
            <a:off x="6076950" y="415290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8" name="">
            <a:extLst xmlns:a="http://schemas.openxmlformats.org/drawingml/2006/main">
              <a:ext uri="{FF2B5EF4-FFF2-40B4-BE49-F238E27FC236}">
                <a16:creationId xmlns:a16="http://schemas.microsoft.com/office/drawing/2014/main" id="{A099A764-922D-42DA-9746-44070CCF43E3}"/>
              </a:ext>
            </a:extLst>
          </p:cNvPr>
          <p:cNvSpPr>
            <a:spLocks xmlns:a="http://schemas.openxmlformats.org/drawingml/2006/main" noGrp="1"/>
          </p:cNvSpPr>
          <p:nvPr/>
        </p:nvSpPr>
        <p:spPr>
          <a:xfrm xmlns:a="http://schemas.openxmlformats.org/drawingml/2006/main">
            <a:off x="6076950" y="4152900"/>
            <a:ext cx="57150" cy="1162050"/>
          </a:xfrm>
          <a:prstGeom xmlns:a="http://schemas.openxmlformats.org/drawingml/2006/main" prst="rect">
            <a:avLst/>
          </a:prstGeom>
          <a:solidFill xmlns:a="http://schemas.openxmlformats.org/drawingml/2006/main">
            <a:srgbClr val="161616"/>
          </a:solidFill>
          <a:ln xmlns:a="http://schemas.openxmlformats.org/drawingml/2006/main" w="0">
            <a:solidFill>
              <a:srgbClr val="161616"/>
            </a:solidFill>
            <a:prstDash val="solid"/>
          </a:ln>
        </p:spPr>
      </p:sp>
      <p:sp>
        <p:nvSpPr>
          <p:cNvPr id="19" name="">
            <a:extLst xmlns:a="http://schemas.openxmlformats.org/drawingml/2006/main">
              <a:ext uri="{FF2B5EF4-FFF2-40B4-BE49-F238E27FC236}">
                <a16:creationId xmlns:a16="http://schemas.microsoft.com/office/drawing/2014/main" id="{CBACA645-714B-4F6B-84FF-470829A5812E}"/>
              </a:ext>
            </a:extLst>
          </p:cNvPr>
          <p:cNvSpPr>
            <a:spLocks xmlns:a="http://schemas.openxmlformats.org/drawingml/2006/main" noGrp="1"/>
          </p:cNvSpPr>
          <p:nvPr/>
        </p:nvSpPr>
        <p:spPr>
          <a:xfrm xmlns:a="http://schemas.openxmlformats.org/drawingml/2006/main">
            <a:off x="6248400" y="4324350"/>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System testing</a:t>
            </a:r>
          </a:p>
        </p:txBody>
      </p:sp>
      <p:sp>
        <p:nvSpPr>
          <p:cNvPr id="20" name="">
            <a:extLst xmlns:a="http://schemas.openxmlformats.org/drawingml/2006/main">
              <a:ext uri="{FF2B5EF4-FFF2-40B4-BE49-F238E27FC236}">
                <a16:creationId xmlns:a16="http://schemas.microsoft.com/office/drawing/2014/main" id="{A70527AA-F74D-4E33-A923-2ED0DEABFB40}"/>
              </a:ext>
            </a:extLst>
          </p:cNvPr>
          <p:cNvSpPr>
            <a:spLocks xmlns:a="http://schemas.openxmlformats.org/drawingml/2006/main" noGrp="1"/>
          </p:cNvSpPr>
          <p:nvPr/>
        </p:nvSpPr>
        <p:spPr>
          <a:xfrm xmlns:a="http://schemas.openxmlformats.org/drawingml/2006/main">
            <a:off x="6248400" y="46672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Implemented the web demo, six release scenarios, five Flask endpoint tests, responsive browser QA, and the final test report.</a:t>
            </a:r>
          </a:p>
        </p:txBody>
      </p:sp>
      <p:sp>
        <p:nvSpPr>
          <p:cNvPr id="21" name="">
            <a:extLst xmlns:a="http://schemas.openxmlformats.org/drawingml/2006/main">
              <a:ext uri="{FF2B5EF4-FFF2-40B4-BE49-F238E27FC236}">
                <a16:creationId xmlns:a16="http://schemas.microsoft.com/office/drawing/2014/main" id="{C9699F25-099A-4CAC-9B81-B232138F1059}"/>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22" name="">
            <a:extLst xmlns:a="http://schemas.openxmlformats.org/drawingml/2006/main">
              <a:ext uri="{FF2B5EF4-FFF2-40B4-BE49-F238E27FC236}">
                <a16:creationId xmlns:a16="http://schemas.microsoft.com/office/drawing/2014/main" id="{381A71FC-C7D9-4383-B8B9-E12F09755471}"/>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- 6/14</a:t>
            </a:r>
          </a:p>
        </p:txBody>
      </p:sp>
    </p:spTree>
    <p:extLst>
      <p:ext uri="{BB962C8B-B14F-4D97-AF65-F5344CB8AC3E}">
        <p14:creationId xmlns:p14="http://schemas.microsoft.com/office/powerpoint/2010/main" val="12858481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CC19A9E-D116-412E-8CCB-B0FEF18F0AEF}"/>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Risk score = likelihood x impact</a:t>
            </a:r>
          </a:p>
        </p:txBody>
      </p:sp>
      <p:sp>
        <p:nvSpPr>
          <p:cNvPr id="2" name="">
            <a:extLst xmlns:a="http://schemas.openxmlformats.org/drawingml/2006/main">
              <a:ext uri="{FF2B5EF4-FFF2-40B4-BE49-F238E27FC236}">
                <a16:creationId xmlns:a16="http://schemas.microsoft.com/office/drawing/2014/main" id="{7810640A-3CB5-44F1-B377-F867108C2498}"/>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Risk identification and tracking method</a:t>
            </a:r>
          </a:p>
        </p:txBody>
      </p:sp>
      <p:sp>
        <p:nvSpPr>
          <p:cNvPr id="3" name="">
            <a:extLst xmlns:a="http://schemas.openxmlformats.org/drawingml/2006/main">
              <a:ext uri="{FF2B5EF4-FFF2-40B4-BE49-F238E27FC236}">
                <a16:creationId xmlns:a16="http://schemas.microsoft.com/office/drawing/2014/main" id="{74827193-27E7-41E2-A5AD-2F1D82FEB0D5}"/>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BA4B2A2D-BE17-4E28-85E8-6EFFB3FA73CD}"/>
              </a:ext>
            </a:extLst>
          </p:cNvPr>
          <p:cNvSpPr>
            <a:spLocks xmlns:a="http://schemas.openxmlformats.org/drawingml/2006/main" noGrp="1"/>
          </p:cNvSpPr>
          <p:nvPr/>
        </p:nvSpPr>
        <p:spPr>
          <a:xfrm xmlns:a="http://schemas.openxmlformats.org/drawingml/2006/main">
            <a:off x="514350" y="1809750"/>
            <a:ext cx="32004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6DB2303D-B9E3-4F89-B1B1-E70DE67161C7}"/>
              </a:ext>
            </a:extLst>
          </p:cNvPr>
          <p:cNvSpPr>
            <a:spLocks xmlns:a="http://schemas.openxmlformats.org/drawingml/2006/main" noGrp="1"/>
          </p:cNvSpPr>
          <p:nvPr/>
        </p:nvSpPr>
        <p:spPr>
          <a:xfrm xmlns:a="http://schemas.openxmlformats.org/drawingml/2006/main">
            <a:off x="514350" y="1809750"/>
            <a:ext cx="57150" cy="1428750"/>
          </a:xfrm>
          <a:prstGeom xmlns:a="http://schemas.openxmlformats.org/drawingml/2006/main" prst="rect">
            <a:avLst/>
          </a:prstGeom>
          <a:solidFill xmlns:a="http://schemas.openxmlformats.org/drawingml/2006/main">
            <a:srgbClr val="1D4E89"/>
          </a:solidFill>
          <a:ln xmlns:a="http://schemas.openxmlformats.org/drawingml/2006/main" w="0">
            <a:solidFill>
              <a:srgbClr val="1D4E89"/>
            </a:solidFill>
            <a:prstDash val="solid"/>
          </a:ln>
        </p:spPr>
      </p:sp>
      <p:sp>
        <p:nvSpPr>
          <p:cNvPr id="6" name="">
            <a:extLst xmlns:a="http://schemas.openxmlformats.org/drawingml/2006/main">
              <a:ext uri="{FF2B5EF4-FFF2-40B4-BE49-F238E27FC236}">
                <a16:creationId xmlns:a16="http://schemas.microsoft.com/office/drawing/2014/main" id="{71786B6D-2321-442D-9E81-9C8218BD0E1E}"/>
              </a:ext>
            </a:extLst>
          </p:cNvPr>
          <p:cNvSpPr>
            <a:spLocks xmlns:a="http://schemas.openxmlformats.org/drawingml/2006/main" noGrp="1"/>
          </p:cNvSpPr>
          <p:nvPr/>
        </p:nvSpPr>
        <p:spPr>
          <a:xfrm xmlns:a="http://schemas.openxmlformats.org/drawingml/2006/main">
            <a:off x="685800" y="1981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Identification</a:t>
            </a:r>
          </a:p>
        </p:txBody>
      </p:sp>
      <p:sp>
        <p:nvSpPr>
          <p:cNvPr id="7" name="">
            <a:extLst xmlns:a="http://schemas.openxmlformats.org/drawingml/2006/main">
              <a:ext uri="{FF2B5EF4-FFF2-40B4-BE49-F238E27FC236}">
                <a16:creationId xmlns:a16="http://schemas.microsoft.com/office/drawing/2014/main" id="{1B235557-6D29-4536-B255-F362A05E36BC}"/>
              </a:ext>
            </a:extLst>
          </p:cNvPr>
          <p:cNvSpPr>
            <a:spLocks xmlns:a="http://schemas.openxmlformats.org/drawingml/2006/main" noGrp="1"/>
          </p:cNvSpPr>
          <p:nvPr/>
        </p:nvSpPr>
        <p:spPr>
          <a:xfrm xmlns:a="http://schemas.openxmlformats.org/drawingml/2006/main">
            <a:off x="685800" y="23241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Risks were identified from safety-sensitive outputs, external dependencies, optimization complexity, data handling, and release scope.</a:t>
            </a:r>
          </a:p>
        </p:txBody>
      </p:sp>
      <p:sp>
        <p:nvSpPr>
          <p:cNvPr id="8" name="">
            <a:extLst xmlns:a="http://schemas.openxmlformats.org/drawingml/2006/main">
              <a:ext uri="{FF2B5EF4-FFF2-40B4-BE49-F238E27FC236}">
                <a16:creationId xmlns:a16="http://schemas.microsoft.com/office/drawing/2014/main" id="{E0927B9B-B833-45C6-B1DA-11BA54A4093B}"/>
              </a:ext>
            </a:extLst>
          </p:cNvPr>
          <p:cNvSpPr>
            <a:spLocks xmlns:a="http://schemas.openxmlformats.org/drawingml/2006/main" noGrp="1"/>
          </p:cNvSpPr>
          <p:nvPr/>
        </p:nvSpPr>
        <p:spPr>
          <a:xfrm xmlns:a="http://schemas.openxmlformats.org/drawingml/2006/main">
            <a:off x="4229100" y="1809750"/>
            <a:ext cx="32004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9" name="">
            <a:extLst xmlns:a="http://schemas.openxmlformats.org/drawingml/2006/main">
              <a:ext uri="{FF2B5EF4-FFF2-40B4-BE49-F238E27FC236}">
                <a16:creationId xmlns:a16="http://schemas.microsoft.com/office/drawing/2014/main" id="{560586A9-3A9F-4B1B-879F-14B4886D1B64}"/>
              </a:ext>
            </a:extLst>
          </p:cNvPr>
          <p:cNvSpPr>
            <a:spLocks xmlns:a="http://schemas.openxmlformats.org/drawingml/2006/main" noGrp="1"/>
          </p:cNvSpPr>
          <p:nvPr/>
        </p:nvSpPr>
        <p:spPr>
          <a:xfrm xmlns:a="http://schemas.openxmlformats.org/drawingml/2006/main">
            <a:off x="4229100" y="1809750"/>
            <a:ext cx="57150" cy="1428750"/>
          </a:xfrm>
          <a:prstGeom xmlns:a="http://schemas.openxmlformats.org/drawingml/2006/main" prst="rect">
            <a:avLst/>
          </a:prstGeom>
          <a:solidFill xmlns:a="http://schemas.openxmlformats.org/drawingml/2006/main">
            <a:srgbClr val="F36B2A"/>
          </a:solidFill>
          <a:ln xmlns:a="http://schemas.openxmlformats.org/drawingml/2006/main" w="0">
            <a:solidFill>
              <a:srgbClr val="F36B2A"/>
            </a:solidFill>
            <a:prstDash val="solid"/>
          </a:ln>
        </p:spPr>
      </p:sp>
      <p:sp>
        <p:nvSpPr>
          <p:cNvPr id="10" name="">
            <a:extLst xmlns:a="http://schemas.openxmlformats.org/drawingml/2006/main">
              <a:ext uri="{FF2B5EF4-FFF2-40B4-BE49-F238E27FC236}">
                <a16:creationId xmlns:a16="http://schemas.microsoft.com/office/drawing/2014/main" id="{0BC52491-A0F0-4007-B615-4B294DAA1AF6}"/>
              </a:ext>
            </a:extLst>
          </p:cNvPr>
          <p:cNvSpPr>
            <a:spLocks xmlns:a="http://schemas.openxmlformats.org/drawingml/2006/main" noGrp="1"/>
          </p:cNvSpPr>
          <p:nvPr/>
        </p:nvSpPr>
        <p:spPr>
          <a:xfrm xmlns:a="http://schemas.openxmlformats.org/drawingml/2006/main">
            <a:off x="4400550" y="1981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Scoring</a:t>
            </a:r>
          </a:p>
        </p:txBody>
      </p:sp>
      <p:sp>
        <p:nvSpPr>
          <p:cNvPr id="11" name="">
            <a:extLst xmlns:a="http://schemas.openxmlformats.org/drawingml/2006/main">
              <a:ext uri="{FF2B5EF4-FFF2-40B4-BE49-F238E27FC236}">
                <a16:creationId xmlns:a16="http://schemas.microsoft.com/office/drawing/2014/main" id="{B5F8130B-0154-447F-AF3E-27823723D5E3}"/>
              </a:ext>
            </a:extLst>
          </p:cNvPr>
          <p:cNvSpPr>
            <a:spLocks xmlns:a="http://schemas.openxmlformats.org/drawingml/2006/main" noGrp="1"/>
          </p:cNvSpPr>
          <p:nvPr/>
        </p:nvSpPr>
        <p:spPr>
          <a:xfrm xmlns:a="http://schemas.openxmlformats.org/drawingml/2006/main">
            <a:off x="4400550" y="23241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Each risk received a probability score and an impact score from 1 to 5; total priority equals probability times impact.</a:t>
            </a:r>
          </a:p>
        </p:txBody>
      </p:sp>
      <p:sp>
        <p:nvSpPr>
          <p:cNvPr id="12" name="">
            <a:extLst xmlns:a="http://schemas.openxmlformats.org/drawingml/2006/main">
              <a:ext uri="{FF2B5EF4-FFF2-40B4-BE49-F238E27FC236}">
                <a16:creationId xmlns:a16="http://schemas.microsoft.com/office/drawing/2014/main" id="{7815A629-8F1D-4881-B137-F6E2597A6320}"/>
              </a:ext>
            </a:extLst>
          </p:cNvPr>
          <p:cNvSpPr>
            <a:spLocks xmlns:a="http://schemas.openxmlformats.org/drawingml/2006/main" noGrp="1"/>
          </p:cNvSpPr>
          <p:nvPr/>
        </p:nvSpPr>
        <p:spPr>
          <a:xfrm xmlns:a="http://schemas.openxmlformats.org/drawingml/2006/main">
            <a:off x="7943850" y="1809750"/>
            <a:ext cx="32004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3" name="">
            <a:extLst xmlns:a="http://schemas.openxmlformats.org/drawingml/2006/main">
              <a:ext uri="{FF2B5EF4-FFF2-40B4-BE49-F238E27FC236}">
                <a16:creationId xmlns:a16="http://schemas.microsoft.com/office/drawing/2014/main" id="{534F3483-B341-46D2-85A6-DEC8F9DE18CB}"/>
              </a:ext>
            </a:extLst>
          </p:cNvPr>
          <p:cNvSpPr>
            <a:spLocks xmlns:a="http://schemas.openxmlformats.org/drawingml/2006/main" noGrp="1"/>
          </p:cNvSpPr>
          <p:nvPr/>
        </p:nvSpPr>
        <p:spPr>
          <a:xfrm xmlns:a="http://schemas.openxmlformats.org/drawingml/2006/main">
            <a:off x="7943850" y="1809750"/>
            <a:ext cx="57150" cy="1428750"/>
          </a:xfrm>
          <a:prstGeom xmlns:a="http://schemas.openxmlformats.org/drawingml/2006/main" prst="rect">
            <a:avLst/>
          </a:prstGeom>
          <a:solidFill xmlns:a="http://schemas.openxmlformats.org/drawingml/2006/main">
            <a:srgbClr val="147A55"/>
          </a:solidFill>
          <a:ln xmlns:a="http://schemas.openxmlformats.org/drawingml/2006/main" w="0">
            <a:solidFill>
              <a:srgbClr val="147A55"/>
            </a:solidFill>
            <a:prstDash val="solid"/>
          </a:ln>
        </p:spPr>
      </p:sp>
      <p:sp>
        <p:nvSpPr>
          <p:cNvPr id="14" name="">
            <a:extLst xmlns:a="http://schemas.openxmlformats.org/drawingml/2006/main">
              <a:ext uri="{FF2B5EF4-FFF2-40B4-BE49-F238E27FC236}">
                <a16:creationId xmlns:a16="http://schemas.microsoft.com/office/drawing/2014/main" id="{80445362-D416-44D9-963D-8CF8ADC1B949}"/>
              </a:ext>
            </a:extLst>
          </p:cNvPr>
          <p:cNvSpPr>
            <a:spLocks xmlns:a="http://schemas.openxmlformats.org/drawingml/2006/main" noGrp="1"/>
          </p:cNvSpPr>
          <p:nvPr/>
        </p:nvSpPr>
        <p:spPr>
          <a:xfrm xmlns:a="http://schemas.openxmlformats.org/drawingml/2006/main">
            <a:off x="8115300" y="1981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Tracking</a:t>
            </a:r>
          </a:p>
        </p:txBody>
      </p:sp>
      <p:sp>
        <p:nvSpPr>
          <p:cNvPr id="15" name="">
            <a:extLst xmlns:a="http://schemas.openxmlformats.org/drawingml/2006/main">
              <a:ext uri="{FF2B5EF4-FFF2-40B4-BE49-F238E27FC236}">
                <a16:creationId xmlns:a16="http://schemas.microsoft.com/office/drawing/2014/main" id="{ABD8C309-D65F-4800-A7C5-17661FADC364}"/>
              </a:ext>
            </a:extLst>
          </p:cNvPr>
          <p:cNvSpPr>
            <a:spLocks xmlns:a="http://schemas.openxmlformats.org/drawingml/2006/main" noGrp="1"/>
          </p:cNvSpPr>
          <p:nvPr/>
        </p:nvSpPr>
        <p:spPr>
          <a:xfrm xmlns:a="http://schemas.openxmlformats.org/drawingml/2006/main">
            <a:off x="8115300" y="23241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Risk status was reviewed weekly and linked to controls, tests, CI checks, release notes, or retirement rationale.</a:t>
            </a:r>
          </a:p>
        </p:txBody>
      </p:sp>
      <p:sp>
        <p:nvSpPr>
          <p:cNvPr id="16" name="">
            <a:extLst xmlns:a="http://schemas.openxmlformats.org/drawingml/2006/main">
              <a:ext uri="{FF2B5EF4-FFF2-40B4-BE49-F238E27FC236}">
                <a16:creationId xmlns:a16="http://schemas.microsoft.com/office/drawing/2014/main" id="{74019C31-3CAA-4325-AE44-13909346511E}"/>
              </a:ext>
            </a:extLst>
          </p:cNvPr>
          <p:cNvSpPr>
            <a:spLocks xmlns:a="http://schemas.openxmlformats.org/drawingml/2006/main" noGrp="1"/>
          </p:cNvSpPr>
          <p:nvPr/>
        </p:nvSpPr>
        <p:spPr>
          <a:xfrm xmlns:a="http://schemas.openxmlformats.org/drawingml/2006/main">
            <a:off x="514350" y="3848100"/>
            <a:ext cx="10096500" cy="121920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17" name="">
            <a:extLst xmlns:a="http://schemas.openxmlformats.org/drawingml/2006/main">
              <a:ext uri="{FF2B5EF4-FFF2-40B4-BE49-F238E27FC236}">
                <a16:creationId xmlns:a16="http://schemas.microsoft.com/office/drawing/2014/main" id="{339F3942-F2F3-4D61-B5F1-0FC2FE546575}"/>
              </a:ext>
            </a:extLst>
          </p:cNvPr>
          <p:cNvSpPr>
            <a:spLocks xmlns:a="http://schemas.openxmlformats.org/drawingml/2006/main" noGrp="1"/>
          </p:cNvSpPr>
          <p:nvPr/>
        </p:nvSpPr>
        <p:spPr>
          <a:xfrm xmlns:a="http://schemas.openxmlformats.org/drawingml/2006/main">
            <a:off x="742950" y="4114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Current risk posture</a:t>
            </a:r>
          </a:p>
        </p:txBody>
      </p:sp>
      <p:sp>
        <p:nvSpPr>
          <p:cNvPr id="18" name="">
            <a:extLst xmlns:a="http://schemas.openxmlformats.org/drawingml/2006/main">
              <a:ext uri="{FF2B5EF4-FFF2-40B4-BE49-F238E27FC236}">
                <a16:creationId xmlns:a16="http://schemas.microsoft.com/office/drawing/2014/main" id="{38EFDA47-5D75-42C3-8C25-A39027D1A234}"/>
              </a:ext>
            </a:extLst>
          </p:cNvPr>
          <p:cNvSpPr>
            <a:spLocks xmlns:a="http://schemas.openxmlformats.org/drawingml/2006/main" noGrp="1"/>
          </p:cNvSpPr>
          <p:nvPr/>
        </p:nvSpPr>
        <p:spPr>
          <a:xfrm xmlns:a="http://schemas.openxmlformats.org/drawingml/2006/main">
            <a:off x="3181350" y="4038600"/>
            <a:ext cx="704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61616"/>
                </a:solidFill>
              </a:defRPr>
            </a:pPr>
            <a:r>
              <a:rPr sz="1725" b="1">
                <a:solidFill>
                  <a:srgbClr val="161616"/>
                </a:solidFill>
              </a:rPr>
              <a:t>R1-R5 remain active; R6 and new R8 UI/demo consistency are monitored; R7 scope expansion remains retired/controlled.</a:t>
            </a:r>
          </a:p>
        </p:txBody>
      </p:sp>
      <p:sp>
        <p:nvSpPr>
          <p:cNvPr id="19" name="">
            <a:extLst xmlns:a="http://schemas.openxmlformats.org/drawingml/2006/main">
              <a:ext uri="{FF2B5EF4-FFF2-40B4-BE49-F238E27FC236}">
                <a16:creationId xmlns:a16="http://schemas.microsoft.com/office/drawing/2014/main" id="{4107A17D-05CE-4BDC-ACD7-2F7D812CE032}"/>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20" name="">
            <a:extLst xmlns:a="http://schemas.openxmlformats.org/drawingml/2006/main">
              <a:ext uri="{FF2B5EF4-FFF2-40B4-BE49-F238E27FC236}">
                <a16:creationId xmlns:a16="http://schemas.microsoft.com/office/drawing/2014/main" id="{DF8E0DED-C67D-4192-81F0-9FF9BD13D831}"/>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- 7/14</a:t>
            </a:r>
          </a:p>
        </p:txBody>
      </p:sp>
    </p:spTree>
    <p:extLst>
      <p:ext uri="{BB962C8B-B14F-4D97-AF65-F5344CB8AC3E}">
        <p14:creationId xmlns:p14="http://schemas.microsoft.com/office/powerpoint/2010/main" val="4706871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8D6A67-C6D9-45F7-956D-8DC2A48463F6}"/>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Risk identification and tracking</a:t>
            </a:r>
          </a:p>
        </p:txBody>
      </p:sp>
      <p:sp>
        <p:nvSpPr>
          <p:cNvPr id="2" name="">
            <a:extLst xmlns:a="http://schemas.openxmlformats.org/drawingml/2006/main">
              <a:ext uri="{FF2B5EF4-FFF2-40B4-BE49-F238E27FC236}">
                <a16:creationId xmlns:a16="http://schemas.microsoft.com/office/drawing/2014/main" id="{CA2F7D6D-E407-4533-954C-DBAA61179BD5}"/>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Top project risks by score</a:t>
            </a:r>
          </a:p>
        </p:txBody>
      </p:sp>
      <p:sp>
        <p:nvSpPr>
          <p:cNvPr id="3" name="">
            <a:extLst xmlns:a="http://schemas.openxmlformats.org/drawingml/2006/main">
              <a:ext uri="{FF2B5EF4-FFF2-40B4-BE49-F238E27FC236}">
                <a16:creationId xmlns:a16="http://schemas.microsoft.com/office/drawing/2014/main" id="{7B419413-9C47-4C05-A243-C6BCC5892E06}"/>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graphicFrame>
        <p:nvGraphicFramePr>
          <p:cNvPr id="16" name="Chart"/>
          <p:cNvGraphicFramePr/>
          <p:nvPr/>
        </p:nvGraphicFramePr>
        <p:xfrm>
          <a:off xmlns:a="http://schemas.openxmlformats.org/drawingml/2006/main" x="514350" y="1790700"/>
          <a:ext xmlns:a="http://schemas.openxmlformats.org/drawingml/2006/main" cx="6191250" cy="3562350"/>
        </p:xfrm>
        <a:graphic xmlns:a="http://schemas.openxmlformats.org/drawingml/2006/main">
          <a:graphicData uri="http://schemas.openxmlformats.org/drawingml/2006/chart">
            <c:chart xmlns:r="http://schemas.openxmlformats.org/officeDocument/2006/relationships" xmlns:c="http://schemas.openxmlformats.org/drawingml/2006/chart" r:id="Ra6c3a63f06da443b"/>
          </a:graphicData>
        </a:graphic>
      </p:graphicFrame>
      <p:sp>
        <p:nvSpPr>
          <p:cNvPr id="5" name="">
            <a:extLst xmlns:a="http://schemas.openxmlformats.org/drawingml/2006/main">
              <a:ext uri="{FF2B5EF4-FFF2-40B4-BE49-F238E27FC236}">
                <a16:creationId xmlns:a16="http://schemas.microsoft.com/office/drawing/2014/main" id="{499DC1A1-229D-445D-ACFD-FECE496EBE64}"/>
              </a:ext>
            </a:extLst>
          </p:cNvPr>
          <p:cNvSpPr>
            <a:spLocks xmlns:a="http://schemas.openxmlformats.org/drawingml/2006/main" noGrp="1"/>
          </p:cNvSpPr>
          <p:nvPr/>
        </p:nvSpPr>
        <p:spPr>
          <a:xfrm xmlns:a="http://schemas.openxmlformats.org/drawingml/2006/main">
            <a:off x="7239000" y="1809750"/>
            <a:ext cx="3790950" cy="33337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6" name="">
            <a:extLst xmlns:a="http://schemas.openxmlformats.org/drawingml/2006/main">
              <a:ext uri="{FF2B5EF4-FFF2-40B4-BE49-F238E27FC236}">
                <a16:creationId xmlns:a16="http://schemas.microsoft.com/office/drawing/2014/main" id="{B616AB53-5705-470E-97F0-ED7289AA57B3}"/>
              </a:ext>
            </a:extLst>
          </p:cNvPr>
          <p:cNvSpPr>
            <a:spLocks xmlns:a="http://schemas.openxmlformats.org/drawingml/2006/main" noGrp="1"/>
          </p:cNvSpPr>
          <p:nvPr/>
        </p:nvSpPr>
        <p:spPr>
          <a:xfrm xmlns:a="http://schemas.openxmlformats.org/drawingml/2006/main">
            <a:off x="7524750" y="2095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161616"/>
                </a:solidFill>
              </a:defRPr>
            </a:pPr>
            <a:r>
              <a:rPr sz="1800" b="1">
                <a:solidFill>
                  <a:srgbClr val="161616"/>
                </a:solidFill>
              </a:rPr>
              <a:t>Priority conclusion</a:t>
            </a:r>
          </a:p>
        </p:txBody>
      </p:sp>
      <p:sp>
        <p:nvSpPr>
          <p:cNvPr id="7" name="">
            <a:extLst xmlns:a="http://schemas.openxmlformats.org/drawingml/2006/main">
              <a:ext uri="{FF2B5EF4-FFF2-40B4-BE49-F238E27FC236}">
                <a16:creationId xmlns:a16="http://schemas.microsoft.com/office/drawing/2014/main" id="{220EB9A4-6698-42F2-90B5-18DB38FA0E1B}"/>
              </a:ext>
            </a:extLst>
          </p:cNvPr>
          <p:cNvSpPr>
            <a:spLocks xmlns:a="http://schemas.openxmlformats.org/drawingml/2006/main" noGrp="1"/>
          </p:cNvSpPr>
          <p:nvPr/>
        </p:nvSpPr>
        <p:spPr>
          <a:xfrm xmlns:a="http://schemas.openxmlformats.org/drawingml/2006/main">
            <a:off x="7524750" y="2590800"/>
            <a:ext cx="30480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61616"/>
                </a:solidFill>
              </a:defRPr>
            </a:pPr>
            <a:r>
              <a:rPr sz="1425" b="0">
                <a:solidFill>
                  <a:srgbClr val="161616"/>
                </a:solidFill>
              </a:rPr>
              <a:t>- Highest: unsafe LLM output to an allergic user</a:t>
            </a:r>
          </a:p>
          <a:p xmlns:a="http://schemas.openxmlformats.org/drawingml/2006/main">
            <a:pPr algn="l">
              <a:buNone/>
              <a:defRPr sz="1425" b="0">
                <a:solidFill>
                  <a:srgbClr val="161616"/>
                </a:solidFill>
              </a:defRPr>
            </a:pPr>
            <a:r>
              <a:rPr sz="1425" b="0">
                <a:solidFill>
                  <a:srgbClr val="161616"/>
                </a:solidFill>
              </a:rPr>
              <a:t>- Critical: optimizer infeasibility or runtime</a:t>
            </a:r>
          </a:p>
          <a:p xmlns:a="http://schemas.openxmlformats.org/drawingml/2006/main">
            <a:pPr algn="l">
              <a:buNone/>
              <a:defRPr sz="1425" b="0">
                <a:solidFill>
                  <a:srgbClr val="161616"/>
                </a:solidFill>
              </a:defRPr>
            </a:pPr>
            <a:r>
              <a:rPr sz="1425" b="0">
                <a:solidFill>
                  <a:srgbClr val="161616"/>
                </a:solidFill>
              </a:rPr>
              <a:t>- R8 UI/demo consistency: 8 (medium)</a:t>
            </a:r>
          </a:p>
          <a:p xmlns:a="http://schemas.openxmlformats.org/drawingml/2006/main">
            <a:pPr algn="l">
              <a:buNone/>
              <a:defRPr sz="1425" b="0">
                <a:solidFill>
                  <a:srgbClr val="161616"/>
                </a:solidFill>
              </a:defRPr>
            </a:pPr>
            <a:r>
              <a:rPr sz="1425" b="0">
                <a:solidFill>
                  <a:srgbClr val="161616"/>
                </a:solidFill>
              </a:rPr>
              <a:t>- Five web tests keep the backend as source of truth</a:t>
            </a:r>
          </a:p>
        </p:txBody>
      </p:sp>
      <p:sp>
        <p:nvSpPr>
          <p:cNvPr id="8" name="">
            <a:extLst xmlns:a="http://schemas.openxmlformats.org/drawingml/2006/main">
              <a:ext uri="{FF2B5EF4-FFF2-40B4-BE49-F238E27FC236}">
                <a16:creationId xmlns:a16="http://schemas.microsoft.com/office/drawing/2014/main" id="{A22E969B-7BAE-448E-904D-6AE27452627C}"/>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9" name="">
            <a:extLst xmlns:a="http://schemas.openxmlformats.org/drawingml/2006/main">
              <a:ext uri="{FF2B5EF4-FFF2-40B4-BE49-F238E27FC236}">
                <a16:creationId xmlns:a16="http://schemas.microsoft.com/office/drawing/2014/main" id="{A079A6F0-FC2E-47AD-ABF7-011AE5D816E5}"/>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- 8/14</a:t>
            </a:r>
          </a:p>
        </p:txBody>
      </p:sp>
    </p:spTree>
    <p:extLst>
      <p:ext uri="{BB962C8B-B14F-4D97-AF65-F5344CB8AC3E}">
        <p14:creationId xmlns:p14="http://schemas.microsoft.com/office/powerpoint/2010/main" val="6671779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5AA440-E3EA-4CE7-B9D0-A04E63BA8D6F}"/>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Risk mitigation and control</a:t>
            </a:r>
          </a:p>
        </p:txBody>
      </p:sp>
      <p:sp>
        <p:nvSpPr>
          <p:cNvPr id="2" name="">
            <a:extLst xmlns:a="http://schemas.openxmlformats.org/drawingml/2006/main">
              <a:ext uri="{FF2B5EF4-FFF2-40B4-BE49-F238E27FC236}">
                <a16:creationId xmlns:a16="http://schemas.microsoft.com/office/drawing/2014/main" id="{2962E72B-A4D6-4513-BE45-86C5E4DE93B6}"/>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How the main risks were reduced</a:t>
            </a:r>
          </a:p>
        </p:txBody>
      </p:sp>
      <p:sp>
        <p:nvSpPr>
          <p:cNvPr id="3" name="">
            <a:extLst xmlns:a="http://schemas.openxmlformats.org/drawingml/2006/main">
              <a:ext uri="{FF2B5EF4-FFF2-40B4-BE49-F238E27FC236}">
                <a16:creationId xmlns:a16="http://schemas.microsoft.com/office/drawing/2014/main" id="{CD6AB784-6417-43C0-A04F-5EE20C445A3B}"/>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graphicFrame>
        <p:nvGraphicFramePr>
          <p:cNvPr id="14" name=""/>
          <p:cNvGraphicFramePr/>
          <p:nvPr/>
        </p:nvGraphicFramePr>
        <p:xfrm>
          <a:off xmlns:a="http://schemas.openxmlformats.org/drawingml/2006/main" x="514350" y="1733550"/>
          <a:ext xmlns:a="http://schemas.openxmlformats.org/drawingml/2006/main" cx="10668000" cy="3714750"/>
        </p:xfrm>
        <a:graphic xmlns:a="http://schemas.openxmlformats.org/drawingml/2006/main">
          <a:graphicData uri="http://schemas.openxmlformats.org/drawingml/2006/table">
            <a:tbl>
              <a:tblPr firstRow="1" bandRow="1"/>
              <a:tblGrid>
                <a:gridCol w="2667000"/>
                <a:gridCol w="3867150"/>
                <a:gridCol w="4133850"/>
              </a:tblGrid>
              <a:tr h="619125">
                <a:tc>
                  <a:txBody>
                    <a:bodyPr/>
                    <a:lstStyle/>
                    <a:p>
                      <a:r>
                        <a:rPr sz="1125" b="1">
                          <a:solidFill>
                            <a:srgbClr val="161616"/>
                          </a:solidFill>
                        </a:rPr>
                        <a:t>Risk</a:t>
                      </a:r>
                    </a:p>
                  </a:txBody>
                  <a:tcPr marL="91440" marR="91440" marT="45720" marB="45720">
                    <a:solidFill>
                      <a:srgbClr val="ECEFF3"/>
                    </a:solidFill>
                  </a:tcPr>
                </a:tc>
                <a:tc>
                  <a:txBody>
                    <a:bodyPr/>
                    <a:lstStyle/>
                    <a:p>
                      <a:r>
                        <a:rPr sz="1125" b="1">
                          <a:solidFill>
                            <a:srgbClr val="161616"/>
                          </a:solidFill>
                        </a:rPr>
                        <a:t>Reduction control</a:t>
                      </a:r>
                    </a:p>
                  </a:txBody>
                  <a:tcPr marL="91440" marR="91440" marT="45720" marB="45720">
                    <a:solidFill>
                      <a:srgbClr val="ECEFF3"/>
                    </a:solidFill>
                  </a:tcPr>
                </a:tc>
                <a:tc>
                  <a:txBody>
                    <a:bodyPr/>
                    <a:lstStyle/>
                    <a:p>
                      <a:r>
                        <a:rPr sz="1125" b="1">
                          <a:solidFill>
                            <a:srgbClr val="161616"/>
                          </a:solidFill>
                        </a:rPr>
                        <a:t>Verification evidence</a:t>
                      </a:r>
                    </a:p>
                  </a:txBody>
                  <a:tcPr marL="91440" marR="91440" marT="45720" marB="45720">
                    <a:solidFill>
                      <a:srgbClr val="ECEFF3"/>
                    </a:solidFill>
                  </a:tcPr>
                </a:tc>
              </a:tr>
              <a:tr h="619125">
                <a:tc>
                  <a:txBody>
                    <a:bodyPr/>
                    <a:lstStyle/>
                    <a:p>
                      <a:r>
                        <a:rPr sz="900">
                          <a:solidFill>
                            <a:srgbClr val="161616"/>
                          </a:solidFill>
                        </a:rPr>
                        <a:t>Unsafe allergen output</a:t>
                      </a:r>
                    </a:p>
                  </a:txBody>
                  <a:tcPr marL="91440" marR="91440" marT="45720" marB="45720"/>
                </a:tc>
                <a:tc>
                  <a:txBody>
                    <a:bodyPr/>
                    <a:lstStyle/>
                    <a:p>
                      <a:r>
                        <a:rPr sz="900">
                          <a:solidFill>
                            <a:srgbClr val="161616"/>
                          </a:solidFill>
                        </a:rPr>
                        <a:t>Deterministic allergen filter blocks conflict before display</a:t>
                      </a:r>
                    </a:p>
                  </a:txBody>
                  <a:tcPr marL="91440" marR="91440" marT="45720" marB="45720"/>
                </a:tc>
                <a:tc>
                  <a:txBody>
                    <a:bodyPr/>
                    <a:lstStyle/>
                    <a:p>
                      <a:r>
                        <a:rPr sz="900">
                          <a:solidFill>
                            <a:srgbClr val="161616"/>
                          </a:solidFill>
                        </a:rPr>
                        <a:t>System test V1.1-ST-01 returned safe=false for soy conflict</a:t>
                      </a:r>
                    </a:p>
                  </a:txBody>
                  <a:tcPr marL="91440" marR="91440" marT="45720" marB="45720"/>
                </a:tc>
              </a:tr>
              <a:tr h="619125">
                <a:tc>
                  <a:txBody>
                    <a:bodyPr/>
                    <a:lstStyle/>
                    <a:p>
                      <a:r>
                        <a:rPr sz="900">
                          <a:solidFill>
                            <a:srgbClr val="161616"/>
                          </a:solidFill>
                        </a:rPr>
                        <a:t>Optimizer failure</a:t>
                      </a:r>
                    </a:p>
                  </a:txBody>
                  <a:tcPr marL="91440" marR="91440" marT="45720" marB="45720"/>
                </a:tc>
                <a:tc>
                  <a:txBody>
                    <a:bodyPr/>
                    <a:lstStyle/>
                    <a:p>
                      <a:r>
                        <a:rPr sz="900">
                          <a:solidFill>
                            <a:srgbClr val="161616"/>
                          </a:solidFill>
                        </a:rPr>
                        <a:t>Bounded solver concept and explicit future relaxation order</a:t>
                      </a:r>
                    </a:p>
                  </a:txBody>
                  <a:tcPr marL="91440" marR="91440" marT="45720" marB="45720"/>
                </a:tc>
                <a:tc>
                  <a:txBody>
                    <a:bodyPr/>
                    <a:lstStyle/>
                    <a:p>
                      <a:r>
                        <a:rPr sz="900">
                          <a:solidFill>
                            <a:srgbClr val="161616"/>
                          </a:solidFill>
                        </a:rPr>
                        <a:t>Kept out of V1.1 release baseline</a:t>
                      </a:r>
                    </a:p>
                  </a:txBody>
                  <a:tcPr marL="91440" marR="91440" marT="45720" marB="45720"/>
                </a:tc>
              </a:tr>
              <a:tr h="619125">
                <a:tc>
                  <a:txBody>
                    <a:bodyPr/>
                    <a:lstStyle/>
                    <a:p>
                      <a:r>
                        <a:rPr sz="900">
                          <a:solidFill>
                            <a:srgbClr val="161616"/>
                          </a:solidFill>
                        </a:rPr>
                        <a:t>Recipe API instability</a:t>
                      </a:r>
                    </a:p>
                  </a:txBody>
                  <a:tcPr marL="91440" marR="91440" marT="45720" marB="45720"/>
                </a:tc>
                <a:tc>
                  <a:txBody>
                    <a:bodyPr/>
                    <a:lstStyle/>
                    <a:p>
                      <a:r>
                        <a:rPr sz="900">
                          <a:solidFill>
                            <a:srgbClr val="161616"/>
                          </a:solidFill>
                        </a:rPr>
                        <a:t>Offline fixtures/cache strategy and normalized ingredient model</a:t>
                      </a:r>
                    </a:p>
                  </a:txBody>
                  <a:tcPr marL="91440" marR="91440" marT="45720" marB="45720"/>
                </a:tc>
                <a:tc>
                  <a:txBody>
                    <a:bodyPr/>
                    <a:lstStyle/>
                    <a:p>
                      <a:r>
                        <a:rPr sz="900">
                          <a:solidFill>
                            <a:srgbClr val="161616"/>
                          </a:solidFill>
                        </a:rPr>
                        <a:t>System tests avoid external network dependency</a:t>
                      </a:r>
                    </a:p>
                  </a:txBody>
                  <a:tcPr marL="91440" marR="91440" marT="45720" marB="45720"/>
                </a:tc>
              </a:tr>
              <a:tr h="619125">
                <a:tc>
                  <a:txBody>
                    <a:bodyPr/>
                    <a:lstStyle/>
                    <a:p>
                      <a:r>
                        <a:rPr sz="900">
                          <a:solidFill>
                            <a:srgbClr val="161616"/>
                          </a:solidFill>
                        </a:rPr>
                        <a:t>Pantry expiry boundary</a:t>
                      </a:r>
                    </a:p>
                  </a:txBody>
                  <a:tcPr marL="91440" marR="91440" marT="45720" marB="45720"/>
                </a:tc>
                <a:tc>
                  <a:txBody>
                    <a:bodyPr/>
                    <a:lstStyle/>
                    <a:p>
                      <a:r>
                        <a:rPr sz="900">
                          <a:solidFill>
                            <a:srgbClr val="161616"/>
                          </a:solidFill>
                        </a:rPr>
                        <a:t>Inclusive 3-day rule; expired items excluded</a:t>
                      </a:r>
                    </a:p>
                  </a:txBody>
                  <a:tcPr marL="91440" marR="91440" marT="45720" marB="45720"/>
                </a:tc>
                <a:tc>
                  <a:txBody>
                    <a:bodyPr/>
                    <a:lstStyle/>
                    <a:p>
                      <a:r>
                        <a:rPr sz="900">
                          <a:solidFill>
                            <a:srgbClr val="161616"/>
                          </a:solidFill>
                        </a:rPr>
                        <a:t>V1.1-ST-03 passed today/+3/+4/yesterday boundary checks</a:t>
                      </a:r>
                    </a:p>
                  </a:txBody>
                  <a:tcPr marL="91440" marR="91440" marT="45720" marB="45720"/>
                </a:tc>
              </a:tr>
              <a:tr h="619125">
                <a:tc>
                  <a:txBody>
                    <a:bodyPr/>
                    <a:lstStyle/>
                    <a:p>
                      <a:r>
                        <a:rPr sz="900">
                          <a:solidFill>
                            <a:srgbClr val="161616"/>
                          </a:solidFill>
                        </a:rPr>
                        <a:t>UI/demo consistency</a:t>
                      </a:r>
                    </a:p>
                  </a:txBody>
                  <a:tcPr marL="91440" marR="91440" marT="45720" marB="45720"/>
                </a:tc>
                <a:tc>
                  <a:txBody>
                    <a:bodyPr/>
                    <a:lstStyle/>
                    <a:p>
                      <a:r>
                        <a:rPr sz="900">
                          <a:solidFill>
                            <a:srgbClr val="161616"/>
                          </a:solidFill>
                        </a:rPr>
                        <a:t>Flask API is source of truth; assets are local; demo state is resettable</a:t>
                      </a:r>
                    </a:p>
                  </a:txBody>
                  <a:tcPr marL="91440" marR="91440" marT="45720" marB="45720"/>
                </a:tc>
                <a:tc>
                  <a:txBody>
                    <a:bodyPr/>
                    <a:lstStyle/>
                    <a:p>
                      <a:r>
                        <a:rPr sz="900">
                          <a:solidFill>
                            <a:srgbClr val="161616"/>
                          </a:solidFill>
                        </a:rPr>
                        <a:t>WEB-01 through WEB-05 pass; desktop/mobile browser review completed</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D232617-C77E-4F6E-9027-76AAE640E9A7}"/>
              </a:ext>
            </a:extLst>
          </p:cNvPr>
          <p:cNvSpPr>
            <a:spLocks xmlns:a="http://schemas.openxmlformats.org/drawingml/2006/main" noGrp="1"/>
          </p:cNvSpPr>
          <p:nvPr/>
        </p:nvSpPr>
        <p:spPr>
          <a:xfrm xmlns:a="http://schemas.openxmlformats.org/drawingml/2006/main">
            <a:off x="514350" y="57531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5B616B"/>
                </a:solidFill>
              </a:defRPr>
            </a:pPr>
            <a:r>
              <a:rPr sz="1575" b="1">
                <a:solidFill>
                  <a:srgbClr val="5B616B"/>
                </a:solidFill>
              </a:rPr>
              <a:t>Control rule: each major risk requires a design control and repeatable evidence.</a:t>
            </a:r>
          </a:p>
        </p:txBody>
      </p:sp>
      <p:sp>
        <p:nvSpPr>
          <p:cNvPr id="6" name="">
            <a:extLst xmlns:a="http://schemas.openxmlformats.org/drawingml/2006/main">
              <a:ext uri="{FF2B5EF4-FFF2-40B4-BE49-F238E27FC236}">
                <a16:creationId xmlns:a16="http://schemas.microsoft.com/office/drawing/2014/main" id="{AD30A1B5-1DD3-4008-9261-5CFBBE3F7EF5}"/>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7" name="">
            <a:extLst xmlns:a="http://schemas.openxmlformats.org/drawingml/2006/main">
              <a:ext uri="{FF2B5EF4-FFF2-40B4-BE49-F238E27FC236}">
                <a16:creationId xmlns:a16="http://schemas.microsoft.com/office/drawing/2014/main" id="{C1AF54D6-A4DE-42CF-8B4B-3D30B5DA852A}"/>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- 9/14</a:t>
            </a:r>
          </a:p>
        </p:txBody>
      </p:sp>
    </p:spTree>
    <p:extLst>
      <p:ext uri="{BB962C8B-B14F-4D97-AF65-F5344CB8AC3E}">
        <p14:creationId xmlns:p14="http://schemas.microsoft.com/office/powerpoint/2010/main" val="13648977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C2E1683-5D69-4739-8F57-827A5EA35646}"/>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GitHub-based CM</a:t>
            </a:r>
          </a:p>
        </p:txBody>
      </p:sp>
      <p:sp>
        <p:nvSpPr>
          <p:cNvPr id="2" name="">
            <a:extLst xmlns:a="http://schemas.openxmlformats.org/drawingml/2006/main">
              <a:ext uri="{FF2B5EF4-FFF2-40B4-BE49-F238E27FC236}">
                <a16:creationId xmlns:a16="http://schemas.microsoft.com/office/drawing/2014/main" id="{6908A9C1-D932-49D1-9FE1-FC1C06F82A1D}"/>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Configuration management approach</a:t>
            </a:r>
          </a:p>
        </p:txBody>
      </p:sp>
      <p:sp>
        <p:nvSpPr>
          <p:cNvPr id="3" name="">
            <a:extLst xmlns:a="http://schemas.openxmlformats.org/drawingml/2006/main">
              <a:ext uri="{FF2B5EF4-FFF2-40B4-BE49-F238E27FC236}">
                <a16:creationId xmlns:a16="http://schemas.microsoft.com/office/drawing/2014/main" id="{41E16065-491E-46A0-8CC2-7AD67899789C}"/>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FCE88C9C-EBAA-41D4-BD8E-4B41B098F1CB}"/>
              </a:ext>
            </a:extLst>
          </p:cNvPr>
          <p:cNvSpPr>
            <a:spLocks xmlns:a="http://schemas.openxmlformats.org/drawingml/2006/main" noGrp="1"/>
          </p:cNvSpPr>
          <p:nvPr/>
        </p:nvSpPr>
        <p:spPr>
          <a:xfrm xmlns:a="http://schemas.openxmlformats.org/drawingml/2006/main">
            <a:off x="514350" y="2000250"/>
            <a:ext cx="1771650" cy="2038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BDB1B2E4-1F0C-4D36-B016-A75591CF77C0}"/>
              </a:ext>
            </a:extLst>
          </p:cNvPr>
          <p:cNvSpPr>
            <a:spLocks xmlns:a="http://schemas.openxmlformats.org/drawingml/2006/main" noGrp="1"/>
          </p:cNvSpPr>
          <p:nvPr/>
        </p:nvSpPr>
        <p:spPr>
          <a:xfrm xmlns:a="http://schemas.openxmlformats.org/drawingml/2006/main">
            <a:off x="685800" y="2171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36B2A"/>
                </a:solidFill>
              </a:defRPr>
            </a:pPr>
            <a:r>
              <a:rPr sz="2550" b="1">
                <a:solidFill>
                  <a:srgbClr val="F36B2A"/>
                </a:solidFill>
              </a:rPr>
              <a:t>1</a:t>
            </a:r>
          </a:p>
        </p:txBody>
      </p:sp>
      <p:sp>
        <p:nvSpPr>
          <p:cNvPr id="6" name="">
            <a:extLst xmlns:a="http://schemas.openxmlformats.org/drawingml/2006/main">
              <a:ext uri="{FF2B5EF4-FFF2-40B4-BE49-F238E27FC236}">
                <a16:creationId xmlns:a16="http://schemas.microsoft.com/office/drawing/2014/main" id="{C60D22D4-C54C-459E-BBED-58B4A9214E2D}"/>
              </a:ext>
            </a:extLst>
          </p:cNvPr>
          <p:cNvSpPr>
            <a:spLocks xmlns:a="http://schemas.openxmlformats.org/drawingml/2006/main" noGrp="1"/>
          </p:cNvSpPr>
          <p:nvPr/>
        </p:nvSpPr>
        <p:spPr>
          <a:xfrm xmlns:a="http://schemas.openxmlformats.org/drawingml/2006/main">
            <a:off x="6858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Main baseline</a:t>
            </a:r>
          </a:p>
        </p:txBody>
      </p:sp>
      <p:sp>
        <p:nvSpPr>
          <p:cNvPr id="7" name="">
            <a:extLst xmlns:a="http://schemas.openxmlformats.org/drawingml/2006/main">
              <a:ext uri="{FF2B5EF4-FFF2-40B4-BE49-F238E27FC236}">
                <a16:creationId xmlns:a16="http://schemas.microsoft.com/office/drawing/2014/main" id="{E04D3978-1A5B-40B5-9898-71EEF28EEF68}"/>
              </a:ext>
            </a:extLst>
          </p:cNvPr>
          <p:cNvSpPr>
            <a:spLocks xmlns:a="http://schemas.openxmlformats.org/drawingml/2006/main" noGrp="1"/>
          </p:cNvSpPr>
          <p:nvPr/>
        </p:nvSpPr>
        <p:spPr>
          <a:xfrm xmlns:a="http://schemas.openxmlformats.org/drawingml/2006/main">
            <a:off x="685800" y="3238500"/>
            <a:ext cx="129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Stable release branch</a:t>
            </a:r>
          </a:p>
        </p:txBody>
      </p:sp>
      <p:sp>
        <p:nvSpPr>
          <p:cNvPr id="8" name="">
            <a:extLst xmlns:a="http://schemas.openxmlformats.org/drawingml/2006/main">
              <a:ext uri="{FF2B5EF4-FFF2-40B4-BE49-F238E27FC236}">
                <a16:creationId xmlns:a16="http://schemas.microsoft.com/office/drawing/2014/main" id="{5CBC4552-D310-419C-BD1A-EE3F5B3C32DB}"/>
              </a:ext>
            </a:extLst>
          </p:cNvPr>
          <p:cNvSpPr>
            <a:spLocks xmlns:a="http://schemas.openxmlformats.org/drawingml/2006/main" noGrp="1"/>
          </p:cNvSpPr>
          <p:nvPr/>
        </p:nvSpPr>
        <p:spPr>
          <a:xfrm xmlns:a="http://schemas.openxmlformats.org/drawingml/2006/main">
            <a:off x="2305050" y="28956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9" name="">
            <a:extLst xmlns:a="http://schemas.openxmlformats.org/drawingml/2006/main">
              <a:ext uri="{FF2B5EF4-FFF2-40B4-BE49-F238E27FC236}">
                <a16:creationId xmlns:a16="http://schemas.microsoft.com/office/drawing/2014/main" id="{6B5C31DD-51C5-4F34-AED1-38FB9AAA92EC}"/>
              </a:ext>
            </a:extLst>
          </p:cNvPr>
          <p:cNvSpPr>
            <a:spLocks xmlns:a="http://schemas.openxmlformats.org/drawingml/2006/main" noGrp="1"/>
          </p:cNvSpPr>
          <p:nvPr/>
        </p:nvSpPr>
        <p:spPr>
          <a:xfrm xmlns:a="http://schemas.openxmlformats.org/drawingml/2006/main">
            <a:off x="2628900" y="2000250"/>
            <a:ext cx="1771650" cy="2038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10" name="">
            <a:extLst xmlns:a="http://schemas.openxmlformats.org/drawingml/2006/main">
              <a:ext uri="{FF2B5EF4-FFF2-40B4-BE49-F238E27FC236}">
                <a16:creationId xmlns:a16="http://schemas.microsoft.com/office/drawing/2014/main" id="{9DD93B51-35F2-4106-953C-2797657F5CFC}"/>
              </a:ext>
            </a:extLst>
          </p:cNvPr>
          <p:cNvSpPr>
            <a:spLocks xmlns:a="http://schemas.openxmlformats.org/drawingml/2006/main" noGrp="1"/>
          </p:cNvSpPr>
          <p:nvPr/>
        </p:nvSpPr>
        <p:spPr>
          <a:xfrm xmlns:a="http://schemas.openxmlformats.org/drawingml/2006/main">
            <a:off x="2800350" y="2171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36B2A"/>
                </a:solidFill>
              </a:defRPr>
            </a:pPr>
            <a:r>
              <a:rPr sz="2550" b="1">
                <a:solidFill>
                  <a:srgbClr val="F36B2A"/>
                </a:solidFill>
              </a:rPr>
              <a:t>2</a:t>
            </a:r>
          </a:p>
        </p:txBody>
      </p:sp>
      <p:sp>
        <p:nvSpPr>
          <p:cNvPr id="11" name="">
            <a:extLst xmlns:a="http://schemas.openxmlformats.org/drawingml/2006/main">
              <a:ext uri="{FF2B5EF4-FFF2-40B4-BE49-F238E27FC236}">
                <a16:creationId xmlns:a16="http://schemas.microsoft.com/office/drawing/2014/main" id="{F5B27E2C-6B1A-4B04-B446-76D7083E3A1C}"/>
              </a:ext>
            </a:extLst>
          </p:cNvPr>
          <p:cNvSpPr>
            <a:spLocks xmlns:a="http://schemas.openxmlformats.org/drawingml/2006/main" noGrp="1"/>
          </p:cNvSpPr>
          <p:nvPr/>
        </p:nvSpPr>
        <p:spPr>
          <a:xfrm xmlns:a="http://schemas.openxmlformats.org/drawingml/2006/main">
            <a:off x="280035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Feature branch</a:t>
            </a:r>
          </a:p>
        </p:txBody>
      </p:sp>
      <p:sp>
        <p:nvSpPr>
          <p:cNvPr id="12" name="">
            <a:extLst xmlns:a="http://schemas.openxmlformats.org/drawingml/2006/main">
              <a:ext uri="{FF2B5EF4-FFF2-40B4-BE49-F238E27FC236}">
                <a16:creationId xmlns:a16="http://schemas.microsoft.com/office/drawing/2014/main" id="{CE1D3D40-888F-4D48-BA7F-99D7058C22DF}"/>
              </a:ext>
            </a:extLst>
          </p:cNvPr>
          <p:cNvSpPr>
            <a:spLocks xmlns:a="http://schemas.openxmlformats.org/drawingml/2006/main" noGrp="1"/>
          </p:cNvSpPr>
          <p:nvPr/>
        </p:nvSpPr>
        <p:spPr>
          <a:xfrm xmlns:a="http://schemas.openxmlformats.org/drawingml/2006/main">
            <a:off x="2800350" y="3238500"/>
            <a:ext cx="129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feature/safety-grocery-controls</a:t>
            </a:r>
          </a:p>
        </p:txBody>
      </p:sp>
      <p:sp>
        <p:nvSpPr>
          <p:cNvPr id="13" name="">
            <a:extLst xmlns:a="http://schemas.openxmlformats.org/drawingml/2006/main">
              <a:ext uri="{FF2B5EF4-FFF2-40B4-BE49-F238E27FC236}">
                <a16:creationId xmlns:a16="http://schemas.microsoft.com/office/drawing/2014/main" id="{99C4DE42-2295-4910-BA97-0F6AD7B31F29}"/>
              </a:ext>
            </a:extLst>
          </p:cNvPr>
          <p:cNvSpPr>
            <a:spLocks xmlns:a="http://schemas.openxmlformats.org/drawingml/2006/main" noGrp="1"/>
          </p:cNvSpPr>
          <p:nvPr/>
        </p:nvSpPr>
        <p:spPr>
          <a:xfrm xmlns:a="http://schemas.openxmlformats.org/drawingml/2006/main">
            <a:off x="4419600" y="28956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14" name="">
            <a:extLst xmlns:a="http://schemas.openxmlformats.org/drawingml/2006/main">
              <a:ext uri="{FF2B5EF4-FFF2-40B4-BE49-F238E27FC236}">
                <a16:creationId xmlns:a16="http://schemas.microsoft.com/office/drawing/2014/main" id="{E149D6E2-AD69-4A00-BF34-8D242974C4EC}"/>
              </a:ext>
            </a:extLst>
          </p:cNvPr>
          <p:cNvSpPr>
            <a:spLocks xmlns:a="http://schemas.openxmlformats.org/drawingml/2006/main" noGrp="1"/>
          </p:cNvSpPr>
          <p:nvPr/>
        </p:nvSpPr>
        <p:spPr>
          <a:xfrm xmlns:a="http://schemas.openxmlformats.org/drawingml/2006/main">
            <a:off x="4743450" y="2000250"/>
            <a:ext cx="1771650" cy="2038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15" name="">
            <a:extLst xmlns:a="http://schemas.openxmlformats.org/drawingml/2006/main">
              <a:ext uri="{FF2B5EF4-FFF2-40B4-BE49-F238E27FC236}">
                <a16:creationId xmlns:a16="http://schemas.microsoft.com/office/drawing/2014/main" id="{4FC75447-92DC-4458-BFBD-9DB099390BA5}"/>
              </a:ext>
            </a:extLst>
          </p:cNvPr>
          <p:cNvSpPr>
            <a:spLocks xmlns:a="http://schemas.openxmlformats.org/drawingml/2006/main" noGrp="1"/>
          </p:cNvSpPr>
          <p:nvPr/>
        </p:nvSpPr>
        <p:spPr>
          <a:xfrm xmlns:a="http://schemas.openxmlformats.org/drawingml/2006/main">
            <a:off x="4914900" y="2171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36B2A"/>
                </a:solidFill>
              </a:defRPr>
            </a:pPr>
            <a:r>
              <a:rPr sz="2550" b="1">
                <a:solidFill>
                  <a:srgbClr val="F36B2A"/>
                </a:solidFill>
              </a:rPr>
              <a:t>3</a:t>
            </a:r>
          </a:p>
        </p:txBody>
      </p:sp>
      <p:sp>
        <p:nvSpPr>
          <p:cNvPr id="16" name="">
            <a:extLst xmlns:a="http://schemas.openxmlformats.org/drawingml/2006/main">
              <a:ext uri="{FF2B5EF4-FFF2-40B4-BE49-F238E27FC236}">
                <a16:creationId xmlns:a16="http://schemas.microsoft.com/office/drawing/2014/main" id="{38B76045-3076-46E9-BE69-CA4730DE0BC0}"/>
              </a:ext>
            </a:extLst>
          </p:cNvPr>
          <p:cNvSpPr>
            <a:spLocks xmlns:a="http://schemas.openxmlformats.org/drawingml/2006/main" noGrp="1"/>
          </p:cNvSpPr>
          <p:nvPr/>
        </p:nvSpPr>
        <p:spPr>
          <a:xfrm xmlns:a="http://schemas.openxmlformats.org/drawingml/2006/main">
            <a:off x="49149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Pull request</a:t>
            </a:r>
          </a:p>
        </p:txBody>
      </p:sp>
      <p:sp>
        <p:nvSpPr>
          <p:cNvPr id="17" name="">
            <a:extLst xmlns:a="http://schemas.openxmlformats.org/drawingml/2006/main">
              <a:ext uri="{FF2B5EF4-FFF2-40B4-BE49-F238E27FC236}">
                <a16:creationId xmlns:a16="http://schemas.microsoft.com/office/drawing/2014/main" id="{06CC0440-D87B-42AD-8959-9D25EAC4F27B}"/>
              </a:ext>
            </a:extLst>
          </p:cNvPr>
          <p:cNvSpPr>
            <a:spLocks xmlns:a="http://schemas.openxmlformats.org/drawingml/2006/main" noGrp="1"/>
          </p:cNvSpPr>
          <p:nvPr/>
        </p:nvSpPr>
        <p:spPr>
          <a:xfrm xmlns:a="http://schemas.openxmlformats.org/drawingml/2006/main">
            <a:off x="4914900" y="3238500"/>
            <a:ext cx="129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Scope, tests, and review evidence</a:t>
            </a:r>
          </a:p>
        </p:txBody>
      </p:sp>
      <p:sp>
        <p:nvSpPr>
          <p:cNvPr id="18" name="">
            <a:extLst xmlns:a="http://schemas.openxmlformats.org/drawingml/2006/main">
              <a:ext uri="{FF2B5EF4-FFF2-40B4-BE49-F238E27FC236}">
                <a16:creationId xmlns:a16="http://schemas.microsoft.com/office/drawing/2014/main" id="{22B4812B-8BDD-47F8-9DB9-8EA54CCFD339}"/>
              </a:ext>
            </a:extLst>
          </p:cNvPr>
          <p:cNvSpPr>
            <a:spLocks xmlns:a="http://schemas.openxmlformats.org/drawingml/2006/main" noGrp="1"/>
          </p:cNvSpPr>
          <p:nvPr/>
        </p:nvSpPr>
        <p:spPr>
          <a:xfrm xmlns:a="http://schemas.openxmlformats.org/drawingml/2006/main">
            <a:off x="6534150" y="28956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19" name="">
            <a:extLst xmlns:a="http://schemas.openxmlformats.org/drawingml/2006/main">
              <a:ext uri="{FF2B5EF4-FFF2-40B4-BE49-F238E27FC236}">
                <a16:creationId xmlns:a16="http://schemas.microsoft.com/office/drawing/2014/main" id="{AEA73D94-6659-4DB5-9AC1-234D279DFC29}"/>
              </a:ext>
            </a:extLst>
          </p:cNvPr>
          <p:cNvSpPr>
            <a:spLocks xmlns:a="http://schemas.openxmlformats.org/drawingml/2006/main" noGrp="1"/>
          </p:cNvSpPr>
          <p:nvPr/>
        </p:nvSpPr>
        <p:spPr>
          <a:xfrm xmlns:a="http://schemas.openxmlformats.org/drawingml/2006/main">
            <a:off x="6858000" y="2000250"/>
            <a:ext cx="1771650" cy="2038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20" name="">
            <a:extLst xmlns:a="http://schemas.openxmlformats.org/drawingml/2006/main">
              <a:ext uri="{FF2B5EF4-FFF2-40B4-BE49-F238E27FC236}">
                <a16:creationId xmlns:a16="http://schemas.microsoft.com/office/drawing/2014/main" id="{BB524CD7-CDB8-48D5-8D17-5588DA435DA3}"/>
              </a:ext>
            </a:extLst>
          </p:cNvPr>
          <p:cNvSpPr>
            <a:spLocks xmlns:a="http://schemas.openxmlformats.org/drawingml/2006/main" noGrp="1"/>
          </p:cNvSpPr>
          <p:nvPr/>
        </p:nvSpPr>
        <p:spPr>
          <a:xfrm xmlns:a="http://schemas.openxmlformats.org/drawingml/2006/main">
            <a:off x="7029450" y="2171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36B2A"/>
                </a:solidFill>
              </a:defRPr>
            </a:pPr>
            <a:r>
              <a:rPr sz="2550" b="1">
                <a:solidFill>
                  <a:srgbClr val="F36B2A"/>
                </a:solidFill>
              </a:rPr>
              <a:t>4</a:t>
            </a:r>
          </a:p>
        </p:txBody>
      </p:sp>
      <p:sp>
        <p:nvSpPr>
          <p:cNvPr id="21" name="">
            <a:extLst xmlns:a="http://schemas.openxmlformats.org/drawingml/2006/main">
              <a:ext uri="{FF2B5EF4-FFF2-40B4-BE49-F238E27FC236}">
                <a16:creationId xmlns:a16="http://schemas.microsoft.com/office/drawing/2014/main" id="{3EE6BAF2-E9F7-4C91-B324-016729D32D32}"/>
              </a:ext>
            </a:extLst>
          </p:cNvPr>
          <p:cNvSpPr>
            <a:spLocks xmlns:a="http://schemas.openxmlformats.org/drawingml/2006/main" noGrp="1"/>
          </p:cNvSpPr>
          <p:nvPr/>
        </p:nvSpPr>
        <p:spPr>
          <a:xfrm xmlns:a="http://schemas.openxmlformats.org/drawingml/2006/main">
            <a:off x="702945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CI gate</a:t>
            </a:r>
          </a:p>
        </p:txBody>
      </p:sp>
      <p:sp>
        <p:nvSpPr>
          <p:cNvPr id="22" name="">
            <a:extLst xmlns:a="http://schemas.openxmlformats.org/drawingml/2006/main">
              <a:ext uri="{FF2B5EF4-FFF2-40B4-BE49-F238E27FC236}">
                <a16:creationId xmlns:a16="http://schemas.microsoft.com/office/drawing/2014/main" id="{C6FC7CE2-0512-4E68-B8C7-EDAF07054038}"/>
              </a:ext>
            </a:extLst>
          </p:cNvPr>
          <p:cNvSpPr>
            <a:spLocks xmlns:a="http://schemas.openxmlformats.org/drawingml/2006/main" noGrp="1"/>
          </p:cNvSpPr>
          <p:nvPr/>
        </p:nvSpPr>
        <p:spPr>
          <a:xfrm xmlns:a="http://schemas.openxmlformats.org/drawingml/2006/main">
            <a:off x="7029450" y="3238500"/>
            <a:ext cx="129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11 pytest tests plus 6 system scenarios</a:t>
            </a:r>
          </a:p>
        </p:txBody>
      </p:sp>
      <p:sp>
        <p:nvSpPr>
          <p:cNvPr id="23" name="">
            <a:extLst xmlns:a="http://schemas.openxmlformats.org/drawingml/2006/main">
              <a:ext uri="{FF2B5EF4-FFF2-40B4-BE49-F238E27FC236}">
                <a16:creationId xmlns:a16="http://schemas.microsoft.com/office/drawing/2014/main" id="{ECDEB925-4B0D-4081-BD5B-4256E9C5C83F}"/>
              </a:ext>
            </a:extLst>
          </p:cNvPr>
          <p:cNvSpPr>
            <a:spLocks xmlns:a="http://schemas.openxmlformats.org/drawingml/2006/main" noGrp="1"/>
          </p:cNvSpPr>
          <p:nvPr/>
        </p:nvSpPr>
        <p:spPr>
          <a:xfrm xmlns:a="http://schemas.openxmlformats.org/drawingml/2006/main">
            <a:off x="8648700" y="28956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B9C0CA"/>
                </a:solidFill>
              </a:defRPr>
            </a:pPr>
            <a:r>
              <a:rPr sz="1575" b="1">
                <a:solidFill>
                  <a:srgbClr val="B9C0CA"/>
                </a:solidFill>
              </a:rPr>
              <a:t>-&gt;</a:t>
            </a:r>
          </a:p>
        </p:txBody>
      </p:sp>
      <p:sp>
        <p:nvSpPr>
          <p:cNvPr id="24" name="">
            <a:extLst xmlns:a="http://schemas.openxmlformats.org/drawingml/2006/main">
              <a:ext uri="{FF2B5EF4-FFF2-40B4-BE49-F238E27FC236}">
                <a16:creationId xmlns:a16="http://schemas.microsoft.com/office/drawing/2014/main" id="{5D342A8E-C46F-454C-A7F8-50D0B7B50D2E}"/>
              </a:ext>
            </a:extLst>
          </p:cNvPr>
          <p:cNvSpPr>
            <a:spLocks xmlns:a="http://schemas.openxmlformats.org/drawingml/2006/main" noGrp="1"/>
          </p:cNvSpPr>
          <p:nvPr/>
        </p:nvSpPr>
        <p:spPr>
          <a:xfrm xmlns:a="http://schemas.openxmlformats.org/drawingml/2006/main">
            <a:off x="8972550" y="2000250"/>
            <a:ext cx="1771650" cy="20383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25" name="">
            <a:extLst xmlns:a="http://schemas.openxmlformats.org/drawingml/2006/main">
              <a:ext uri="{FF2B5EF4-FFF2-40B4-BE49-F238E27FC236}">
                <a16:creationId xmlns:a16="http://schemas.microsoft.com/office/drawing/2014/main" id="{D3F36958-37D6-4427-80D5-F775818E9DEB}"/>
              </a:ext>
            </a:extLst>
          </p:cNvPr>
          <p:cNvSpPr>
            <a:spLocks xmlns:a="http://schemas.openxmlformats.org/drawingml/2006/main" noGrp="1"/>
          </p:cNvSpPr>
          <p:nvPr/>
        </p:nvSpPr>
        <p:spPr>
          <a:xfrm xmlns:a="http://schemas.openxmlformats.org/drawingml/2006/main">
            <a:off x="9144000" y="2171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36B2A"/>
                </a:solidFill>
              </a:defRPr>
            </a:pPr>
            <a:r>
              <a:rPr sz="2550" b="1">
                <a:solidFill>
                  <a:srgbClr val="F36B2A"/>
                </a:solidFill>
              </a:rPr>
              <a:t>5</a:t>
            </a:r>
          </a:p>
        </p:txBody>
      </p:sp>
      <p:sp>
        <p:nvSpPr>
          <p:cNvPr id="26" name="">
            <a:extLst xmlns:a="http://schemas.openxmlformats.org/drawingml/2006/main">
              <a:ext uri="{FF2B5EF4-FFF2-40B4-BE49-F238E27FC236}">
                <a16:creationId xmlns:a16="http://schemas.microsoft.com/office/drawing/2014/main" id="{3F021E42-6B75-4CEC-BD6A-98E5E91AF947}"/>
              </a:ext>
            </a:extLst>
          </p:cNvPr>
          <p:cNvSpPr>
            <a:spLocks xmlns:a="http://schemas.openxmlformats.org/drawingml/2006/main" noGrp="1"/>
          </p:cNvSpPr>
          <p:nvPr/>
        </p:nvSpPr>
        <p:spPr>
          <a:xfrm xmlns:a="http://schemas.openxmlformats.org/drawingml/2006/main">
            <a:off x="91440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61616"/>
                </a:solidFill>
              </a:defRPr>
            </a:pPr>
            <a:r>
              <a:rPr sz="1650" b="1">
                <a:solidFill>
                  <a:srgbClr val="161616"/>
                </a:solidFill>
              </a:rPr>
              <a:t>Release tag</a:t>
            </a:r>
          </a:p>
        </p:txBody>
      </p:sp>
      <p:sp>
        <p:nvSpPr>
          <p:cNvPr id="27" name="">
            <a:extLst xmlns:a="http://schemas.openxmlformats.org/drawingml/2006/main">
              <a:ext uri="{FF2B5EF4-FFF2-40B4-BE49-F238E27FC236}">
                <a16:creationId xmlns:a16="http://schemas.microsoft.com/office/drawing/2014/main" id="{9EECC2E0-107F-417F-88D0-B3E63CB760CA}"/>
              </a:ext>
            </a:extLst>
          </p:cNvPr>
          <p:cNvSpPr>
            <a:spLocks xmlns:a="http://schemas.openxmlformats.org/drawingml/2006/main" noGrp="1"/>
          </p:cNvSpPr>
          <p:nvPr/>
        </p:nvSpPr>
        <p:spPr>
          <a:xfrm xmlns:a="http://schemas.openxmlformats.org/drawingml/2006/main">
            <a:off x="9144000" y="3238500"/>
            <a:ext cx="129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v1.1.0 tagged; web demo [Unreleased]</a:t>
            </a:r>
          </a:p>
        </p:txBody>
      </p:sp>
      <p:sp>
        <p:nvSpPr>
          <p:cNvPr id="28" name="">
            <a:extLst xmlns:a="http://schemas.openxmlformats.org/drawingml/2006/main">
              <a:ext uri="{FF2B5EF4-FFF2-40B4-BE49-F238E27FC236}">
                <a16:creationId xmlns:a16="http://schemas.microsoft.com/office/drawing/2014/main" id="{C93C55A8-7654-45BD-97B9-88F6F56CF0FA}"/>
              </a:ext>
            </a:extLst>
          </p:cNvPr>
          <p:cNvSpPr>
            <a:spLocks xmlns:a="http://schemas.openxmlformats.org/drawingml/2006/main" noGrp="1"/>
          </p:cNvSpPr>
          <p:nvPr/>
        </p:nvSpPr>
        <p:spPr>
          <a:xfrm xmlns:a="http://schemas.openxmlformats.org/drawingml/2006/main">
            <a:off x="514350" y="4762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61616"/>
                </a:solidFill>
              </a:defRPr>
            </a:pPr>
            <a:r>
              <a:rPr sz="1725" b="1">
                <a:solidFill>
                  <a:srgbClr val="161616"/>
                </a:solidFill>
              </a:rPr>
              <a:t>Controlled items</a:t>
            </a:r>
          </a:p>
        </p:txBody>
      </p:sp>
      <p:sp>
        <p:nvSpPr>
          <p:cNvPr id="29" name="">
            <a:extLst xmlns:a="http://schemas.openxmlformats.org/drawingml/2006/main">
              <a:ext uri="{FF2B5EF4-FFF2-40B4-BE49-F238E27FC236}">
                <a16:creationId xmlns:a16="http://schemas.microsoft.com/office/drawing/2014/main" id="{77BBF9D7-56DE-4B5D-B4E5-21610E6720C9}"/>
              </a:ext>
            </a:extLst>
          </p:cNvPr>
          <p:cNvSpPr>
            <a:spLocks xmlns:a="http://schemas.openxmlformats.org/drawingml/2006/main" noGrp="1"/>
          </p:cNvSpPr>
          <p:nvPr/>
        </p:nvSpPr>
        <p:spPr>
          <a:xfrm xmlns:a="http://schemas.openxmlformats.org/drawingml/2006/main">
            <a:off x="2571750" y="4762500"/>
            <a:ext cx="838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B616B"/>
                </a:solidFill>
              </a:defRPr>
            </a:pPr>
            <a:r>
              <a:rPr sz="1500" b="0">
                <a:solidFill>
                  <a:srgbClr val="5B616B"/>
                </a:solidFill>
              </a:rPr>
              <a:t>Backend and Flask source, template, JavaScript, CSS, local assets, tests, requirements, CI workflow, changelog, reports, and release records.</a:t>
            </a:r>
          </a:p>
        </p:txBody>
      </p:sp>
      <p:sp>
        <p:nvSpPr>
          <p:cNvPr id="30" name="">
            <a:extLst xmlns:a="http://schemas.openxmlformats.org/drawingml/2006/main">
              <a:ext uri="{FF2B5EF4-FFF2-40B4-BE49-F238E27FC236}">
                <a16:creationId xmlns:a16="http://schemas.microsoft.com/office/drawing/2014/main" id="{482A63F9-0B06-405F-8383-761320AB419B}"/>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31" name="">
            <a:extLst xmlns:a="http://schemas.openxmlformats.org/drawingml/2006/main">
              <a:ext uri="{FF2B5EF4-FFF2-40B4-BE49-F238E27FC236}">
                <a16:creationId xmlns:a16="http://schemas.microsoft.com/office/drawing/2014/main" id="{FB9BCBA2-B3AE-4D44-9F85-118F6F6DED91}"/>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- 10/14</a:t>
            </a:r>
          </a:p>
        </p:txBody>
      </p:sp>
    </p:spTree>
    <p:extLst>
      <p:ext uri="{BB962C8B-B14F-4D97-AF65-F5344CB8AC3E}">
        <p14:creationId xmlns:p14="http://schemas.microsoft.com/office/powerpoint/2010/main" val="9920216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C0CE7D-BDD6-4648-B73F-43D76207309E}"/>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Repository and release records</a:t>
            </a:r>
          </a:p>
        </p:txBody>
      </p:sp>
      <p:sp>
        <p:nvSpPr>
          <p:cNvPr id="2" name="">
            <a:extLst xmlns:a="http://schemas.openxmlformats.org/drawingml/2006/main">
              <a:ext uri="{FF2B5EF4-FFF2-40B4-BE49-F238E27FC236}">
                <a16:creationId xmlns:a16="http://schemas.microsoft.com/office/drawing/2014/main" id="{76339A85-3F8E-4835-9EC3-D3F770EE46B5}"/>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Configuration management evidence</a:t>
            </a:r>
          </a:p>
        </p:txBody>
      </p:sp>
      <p:sp>
        <p:nvSpPr>
          <p:cNvPr id="3" name="">
            <a:extLst xmlns:a="http://schemas.openxmlformats.org/drawingml/2006/main">
              <a:ext uri="{FF2B5EF4-FFF2-40B4-BE49-F238E27FC236}">
                <a16:creationId xmlns:a16="http://schemas.microsoft.com/office/drawing/2014/main" id="{5B4BE28A-B6FE-40EB-ABCA-9403AADB4A6D}"/>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graphicFrame>
        <p:nvGraphicFramePr>
          <p:cNvPr id="13" name=""/>
          <p:cNvGraphicFramePr/>
          <p:nvPr/>
        </p:nvGraphicFramePr>
        <p:xfrm>
          <a:off xmlns:a="http://schemas.openxmlformats.org/drawingml/2006/main" x="514350" y="1695450"/>
          <a:ext xmlns:a="http://schemas.openxmlformats.org/drawingml/2006/main" cx="10668000" cy="3771900"/>
        </p:xfrm>
        <a:graphic xmlns:a="http://schemas.openxmlformats.org/drawingml/2006/main">
          <a:graphicData uri="http://schemas.openxmlformats.org/drawingml/2006/table">
            <a:tbl>
              <a:tblPr firstRow="1" bandRow="1"/>
              <a:tblGrid>
                <a:gridCol w="2909455"/>
                <a:gridCol w="7758545"/>
              </a:tblGrid>
              <a:tr h="538843">
                <a:tc>
                  <a:txBody>
                    <a:bodyPr/>
                    <a:lstStyle/>
                    <a:p>
                      <a:r>
                        <a:rPr sz="1200" b="1">
                          <a:solidFill>
                            <a:srgbClr val="161616"/>
                          </a:solidFill>
                        </a:rPr>
                        <a:t>Evidence</a:t>
                      </a:r>
                    </a:p>
                  </a:txBody>
                  <a:tcPr marL="91440" marR="91440" marT="45720" marB="45720">
                    <a:solidFill>
                      <a:srgbClr val="ECEFF3"/>
                    </a:solidFill>
                  </a:tcPr>
                </a:tc>
                <a:tc>
                  <a:txBody>
                    <a:bodyPr/>
                    <a:lstStyle/>
                    <a:p>
                      <a:r>
                        <a:rPr sz="1200" b="1">
                          <a:solidFill>
                            <a:srgbClr val="161616"/>
                          </a:solidFill>
                        </a:rPr>
                        <a:t>Project record</a:t>
                      </a:r>
                    </a:p>
                  </a:txBody>
                  <a:tcPr marL="91440" marR="91440" marT="45720" marB="45720">
                    <a:solidFill>
                      <a:srgbClr val="ECEFF3"/>
                    </a:solidFill>
                  </a:tcPr>
                </a:tc>
              </a:tr>
              <a:tr h="538843">
                <a:tc>
                  <a:txBody>
                    <a:bodyPr/>
                    <a:lstStyle/>
                    <a:p>
                      <a:r>
                        <a:rPr sz="1050">
                          <a:solidFill>
                            <a:srgbClr val="161616"/>
                          </a:solidFill>
                        </a:rPr>
                        <a:t>Repository package</a:t>
                      </a:r>
                    </a:p>
                  </a:txBody>
                  <a:tcPr marL="91440" marR="91440" marT="45720" marB="45720"/>
                </a:tc>
                <a:tc>
                  <a:txBody>
                    <a:bodyPr/>
                    <a:lstStyle/>
                    <a:p>
                      <a:r>
                        <a:rPr sz="1050">
                          <a:solidFill>
                            <a:srgbClr val="161616"/>
                          </a:solidFill>
                        </a:rPr>
                        <a:t>github.com/liangzixuan/cisc-594 / PantryPilot_CM_Generic_Files</a:t>
                      </a:r>
                    </a:p>
                  </a:txBody>
                  <a:tcPr marL="91440" marR="91440" marT="45720" marB="45720"/>
                </a:tc>
              </a:tr>
              <a:tr h="538843">
                <a:tc>
                  <a:txBody>
                    <a:bodyPr/>
                    <a:lstStyle/>
                    <a:p>
                      <a:r>
                        <a:rPr sz="1050">
                          <a:solidFill>
                            <a:srgbClr val="161616"/>
                          </a:solidFill>
                        </a:rPr>
                        <a:t>Branches</a:t>
                      </a:r>
                    </a:p>
                  </a:txBody>
                  <a:tcPr marL="91440" marR="91440" marT="45720" marB="45720"/>
                </a:tc>
                <a:tc>
                  <a:txBody>
                    <a:bodyPr/>
                    <a:lstStyle/>
                    <a:p>
                      <a:r>
                        <a:rPr sz="1050">
                          <a:solidFill>
                            <a:srgbClr val="161616"/>
                          </a:solidFill>
                        </a:rPr>
                        <a:t>main; feature/safety-grocery-controls; full history preserved in root repo</a:t>
                      </a:r>
                    </a:p>
                  </a:txBody>
                  <a:tcPr marL="91440" marR="91440" marT="45720" marB="45720"/>
                </a:tc>
              </a:tr>
              <a:tr h="538843">
                <a:tc>
                  <a:txBody>
                    <a:bodyPr/>
                    <a:lstStyle/>
                    <a:p>
                      <a:r>
                        <a:rPr sz="1050">
                          <a:solidFill>
                            <a:srgbClr val="161616"/>
                          </a:solidFill>
                        </a:rPr>
                        <a:t>Release tags</a:t>
                      </a:r>
                    </a:p>
                  </a:txBody>
                  <a:tcPr marL="91440" marR="91440" marT="45720" marB="45720"/>
                </a:tc>
                <a:tc>
                  <a:txBody>
                    <a:bodyPr/>
                    <a:lstStyle/>
                    <a:p>
                      <a:r>
                        <a:rPr sz="1050">
                          <a:solidFill>
                            <a:srgbClr val="161616"/>
                          </a:solidFill>
                        </a:rPr>
                        <a:t>v1.0.0 and v1.1.0 tagged; Flask demo recorded under [Unreleased]</a:t>
                      </a:r>
                    </a:p>
                  </a:txBody>
                  <a:tcPr marL="91440" marR="91440" marT="45720" marB="45720"/>
                </a:tc>
              </a:tr>
              <a:tr h="538843">
                <a:tc>
                  <a:txBody>
                    <a:bodyPr/>
                    <a:lstStyle/>
                    <a:p>
                      <a:r>
                        <a:rPr sz="1050">
                          <a:solidFill>
                            <a:srgbClr val="161616"/>
                          </a:solidFill>
                        </a:rPr>
                        <a:t>Key commits</a:t>
                      </a:r>
                    </a:p>
                  </a:txBody>
                  <a:tcPr marL="91440" marR="91440" marT="45720" marB="45720"/>
                </a:tc>
                <a:tc>
                  <a:txBody>
                    <a:bodyPr/>
                    <a:lstStyle/>
                    <a:p>
                      <a:r>
                        <a:rPr sz="1050">
                          <a:solidFill>
                            <a:srgbClr val="161616"/>
                          </a:solidFill>
                        </a:rPr>
                        <a:t>842ae5e baseline; 72a997e feature; 834e64e release; 51e7a65 history merge</a:t>
                      </a:r>
                    </a:p>
                  </a:txBody>
                  <a:tcPr marL="91440" marR="91440" marT="45720" marB="45720"/>
                </a:tc>
              </a:tr>
              <a:tr h="538843">
                <a:tc>
                  <a:txBody>
                    <a:bodyPr/>
                    <a:lstStyle/>
                    <a:p>
                      <a:r>
                        <a:rPr sz="1050">
                          <a:solidFill>
                            <a:srgbClr val="161616"/>
                          </a:solidFill>
                        </a:rPr>
                        <a:t>CI workflow</a:t>
                      </a:r>
                    </a:p>
                  </a:txBody>
                  <a:tcPr marL="91440" marR="91440" marT="45720" marB="45720"/>
                </a:tc>
                <a:tc>
                  <a:txBody>
                    <a:bodyPr/>
                    <a:lstStyle/>
                    <a:p>
                      <a:r>
                        <a:rPr sz="1050">
                          <a:solidFill>
                            <a:srgbClr val="161616"/>
                          </a:solidFill>
                        </a:rPr>
                        <a:t>.github/workflows/pantrypilot-ci.yml runs pytest and system_test_runner.py</a:t>
                      </a:r>
                    </a:p>
                  </a:txBody>
                  <a:tcPr marL="91440" marR="91440" marT="45720" marB="45720"/>
                </a:tc>
              </a:tr>
              <a:tr h="538843">
                <a:tc>
                  <a:txBody>
                    <a:bodyPr/>
                    <a:lstStyle/>
                    <a:p>
                      <a:r>
                        <a:rPr sz="1050">
                          <a:solidFill>
                            <a:srgbClr val="161616"/>
                          </a:solidFill>
                        </a:rPr>
                        <a:t>Traceability</a:t>
                      </a:r>
                    </a:p>
                  </a:txBody>
                  <a:tcPr marL="91440" marR="91440" marT="45720" marB="45720"/>
                </a:tc>
                <a:tc>
                  <a:txBody>
                    <a:bodyPr/>
                    <a:lstStyle/>
                    <a:p>
                      <a:r>
                        <a:rPr sz="1050">
                          <a:solidFill>
                            <a:srgbClr val="161616"/>
                          </a:solidFill>
                        </a:rPr>
                        <a:t>CHANGELOG, release notes, tests, updated reports, and Git history preserve traceability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E6A648B-ADB6-41B8-901F-5127B17ED875}"/>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6" name="">
            <a:extLst xmlns:a="http://schemas.openxmlformats.org/drawingml/2006/main">
              <a:ext uri="{FF2B5EF4-FFF2-40B4-BE49-F238E27FC236}">
                <a16:creationId xmlns:a16="http://schemas.microsoft.com/office/drawing/2014/main" id="{FDCDEAFA-76AD-41FE-A872-57C0F30FAD33}"/>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- 11/14</a:t>
            </a:r>
          </a:p>
        </p:txBody>
      </p:sp>
    </p:spTree>
    <p:extLst>
      <p:ext uri="{BB962C8B-B14F-4D97-AF65-F5344CB8AC3E}">
        <p14:creationId xmlns:p14="http://schemas.microsoft.com/office/powerpoint/2010/main" val="12003490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794533C-160D-47ED-8FAF-1D3916F5AC1A}"/>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Methodology and environment</a:t>
            </a:r>
          </a:p>
        </p:txBody>
      </p:sp>
      <p:sp>
        <p:nvSpPr>
          <p:cNvPr id="2" name="">
            <a:extLst xmlns:a="http://schemas.openxmlformats.org/drawingml/2006/main">
              <a:ext uri="{FF2B5EF4-FFF2-40B4-BE49-F238E27FC236}">
                <a16:creationId xmlns:a16="http://schemas.microsoft.com/office/drawing/2014/main" id="{B38DDBCB-7290-4CEA-AFDA-2F7CD2C5C1DB}"/>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System testing approach</a:t>
            </a:r>
          </a:p>
        </p:txBody>
      </p:sp>
      <p:sp>
        <p:nvSpPr>
          <p:cNvPr id="3" name="">
            <a:extLst xmlns:a="http://schemas.openxmlformats.org/drawingml/2006/main">
              <a:ext uri="{FF2B5EF4-FFF2-40B4-BE49-F238E27FC236}">
                <a16:creationId xmlns:a16="http://schemas.microsoft.com/office/drawing/2014/main" id="{27E1DED9-C168-4D06-B6D1-C35934C3C2A0}"/>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6DB3AE00-5AA1-4221-8CAE-4E5B2F6E7426}"/>
              </a:ext>
            </a:extLst>
          </p:cNvPr>
          <p:cNvSpPr>
            <a:spLocks xmlns:a="http://schemas.openxmlformats.org/drawingml/2006/main" noGrp="1"/>
          </p:cNvSpPr>
          <p:nvPr/>
        </p:nvSpPr>
        <p:spPr>
          <a:xfrm xmlns:a="http://schemas.openxmlformats.org/drawingml/2006/main">
            <a:off x="514350" y="1714500"/>
            <a:ext cx="32956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5" name="">
            <a:extLst xmlns:a="http://schemas.openxmlformats.org/drawingml/2006/main">
              <a:ext uri="{FF2B5EF4-FFF2-40B4-BE49-F238E27FC236}">
                <a16:creationId xmlns:a16="http://schemas.microsoft.com/office/drawing/2014/main" id="{31097E86-62A1-4BE8-A5F8-93CDD5A125C0}"/>
              </a:ext>
            </a:extLst>
          </p:cNvPr>
          <p:cNvSpPr>
            <a:spLocks xmlns:a="http://schemas.openxmlformats.org/drawingml/2006/main" noGrp="1"/>
          </p:cNvSpPr>
          <p:nvPr/>
        </p:nvSpPr>
        <p:spPr>
          <a:xfrm xmlns:a="http://schemas.openxmlformats.org/drawingml/2006/main">
            <a:off x="514350" y="1714500"/>
            <a:ext cx="57150" cy="1466850"/>
          </a:xfrm>
          <a:prstGeom xmlns:a="http://schemas.openxmlformats.org/drawingml/2006/main" prst="rect">
            <a:avLst/>
          </a:prstGeom>
          <a:solidFill xmlns:a="http://schemas.openxmlformats.org/drawingml/2006/main">
            <a:srgbClr val="1D4E89"/>
          </a:solidFill>
          <a:ln xmlns:a="http://schemas.openxmlformats.org/drawingml/2006/main" w="0">
            <a:solidFill>
              <a:srgbClr val="1D4E89"/>
            </a:solidFill>
            <a:prstDash val="solid"/>
          </a:ln>
        </p:spPr>
      </p:sp>
      <p:sp>
        <p:nvSpPr>
          <p:cNvPr id="6" name="">
            <a:extLst xmlns:a="http://schemas.openxmlformats.org/drawingml/2006/main">
              <a:ext uri="{FF2B5EF4-FFF2-40B4-BE49-F238E27FC236}">
                <a16:creationId xmlns:a16="http://schemas.microsoft.com/office/drawing/2014/main" id="{D8601900-B8AD-436F-93C9-D9F253BDD0DF}"/>
              </a:ext>
            </a:extLst>
          </p:cNvPr>
          <p:cNvSpPr>
            <a:spLocks xmlns:a="http://schemas.openxmlformats.org/drawingml/2006/main" noGrp="1"/>
          </p:cNvSpPr>
          <p:nvPr/>
        </p:nvSpPr>
        <p:spPr>
          <a:xfrm xmlns:a="http://schemas.openxmlformats.org/drawingml/2006/main">
            <a:off x="685800" y="1885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Methodology</a:t>
            </a:r>
          </a:p>
        </p:txBody>
      </p:sp>
      <p:sp>
        <p:nvSpPr>
          <p:cNvPr id="7" name="">
            <a:extLst xmlns:a="http://schemas.openxmlformats.org/drawingml/2006/main">
              <a:ext uri="{FF2B5EF4-FFF2-40B4-BE49-F238E27FC236}">
                <a16:creationId xmlns:a16="http://schemas.microsoft.com/office/drawing/2014/main" id="{36FDBAAA-F99A-43B8-972A-28F932016075}"/>
              </a:ext>
            </a:extLst>
          </p:cNvPr>
          <p:cNvSpPr>
            <a:spLocks xmlns:a="http://schemas.openxmlformats.org/drawingml/2006/main" noGrp="1"/>
          </p:cNvSpPr>
          <p:nvPr/>
        </p:nvSpPr>
        <p:spPr>
          <a:xfrm xmlns:a="http://schemas.openxmlformats.org/drawingml/2006/main">
            <a:off x="685800" y="22288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Six release scenarios cover core behavior; five Flask test-client cases verify routes, requests, decisions, and evidence reporting.</a:t>
            </a:r>
          </a:p>
        </p:txBody>
      </p:sp>
      <p:sp>
        <p:nvSpPr>
          <p:cNvPr id="8" name="">
            <a:extLst xmlns:a="http://schemas.openxmlformats.org/drawingml/2006/main">
              <a:ext uri="{FF2B5EF4-FFF2-40B4-BE49-F238E27FC236}">
                <a16:creationId xmlns:a16="http://schemas.microsoft.com/office/drawing/2014/main" id="{655CFFBF-BCDC-4BB6-8EC4-A51A51AE615D}"/>
              </a:ext>
            </a:extLst>
          </p:cNvPr>
          <p:cNvSpPr>
            <a:spLocks xmlns:a="http://schemas.openxmlformats.org/drawingml/2006/main" noGrp="1"/>
          </p:cNvSpPr>
          <p:nvPr/>
        </p:nvSpPr>
        <p:spPr>
          <a:xfrm xmlns:a="http://schemas.openxmlformats.org/drawingml/2006/main">
            <a:off x="4229100" y="1714500"/>
            <a:ext cx="32956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9" name="">
            <a:extLst xmlns:a="http://schemas.openxmlformats.org/drawingml/2006/main">
              <a:ext uri="{FF2B5EF4-FFF2-40B4-BE49-F238E27FC236}">
                <a16:creationId xmlns:a16="http://schemas.microsoft.com/office/drawing/2014/main" id="{6D63869E-8126-4F4E-889B-9D31939412E7}"/>
              </a:ext>
            </a:extLst>
          </p:cNvPr>
          <p:cNvSpPr>
            <a:spLocks xmlns:a="http://schemas.openxmlformats.org/drawingml/2006/main" noGrp="1"/>
          </p:cNvSpPr>
          <p:nvPr/>
        </p:nvSpPr>
        <p:spPr>
          <a:xfrm xmlns:a="http://schemas.openxmlformats.org/drawingml/2006/main">
            <a:off x="4229100" y="1714500"/>
            <a:ext cx="57150" cy="1466850"/>
          </a:xfrm>
          <a:prstGeom xmlns:a="http://schemas.openxmlformats.org/drawingml/2006/main" prst="rect">
            <a:avLst/>
          </a:prstGeom>
          <a:solidFill xmlns:a="http://schemas.openxmlformats.org/drawingml/2006/main">
            <a:srgbClr val="147A55"/>
          </a:solidFill>
          <a:ln xmlns:a="http://schemas.openxmlformats.org/drawingml/2006/main" w="0">
            <a:solidFill>
              <a:srgbClr val="147A55"/>
            </a:solidFill>
            <a:prstDash val="solid"/>
          </a:ln>
        </p:spPr>
      </p:sp>
      <p:sp>
        <p:nvSpPr>
          <p:cNvPr id="10" name="">
            <a:extLst xmlns:a="http://schemas.openxmlformats.org/drawingml/2006/main">
              <a:ext uri="{FF2B5EF4-FFF2-40B4-BE49-F238E27FC236}">
                <a16:creationId xmlns:a16="http://schemas.microsoft.com/office/drawing/2014/main" id="{007A9336-C913-46AB-A38B-F4905D43E4EA}"/>
              </a:ext>
            </a:extLst>
          </p:cNvPr>
          <p:cNvSpPr>
            <a:spLocks xmlns:a="http://schemas.openxmlformats.org/drawingml/2006/main" noGrp="1"/>
          </p:cNvSpPr>
          <p:nvPr/>
        </p:nvSpPr>
        <p:spPr>
          <a:xfrm xmlns:a="http://schemas.openxmlformats.org/drawingml/2006/main">
            <a:off x="4400550" y="1885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Environment</a:t>
            </a:r>
          </a:p>
        </p:txBody>
      </p:sp>
      <p:sp>
        <p:nvSpPr>
          <p:cNvPr id="11" name="">
            <a:extLst xmlns:a="http://schemas.openxmlformats.org/drawingml/2006/main">
              <a:ext uri="{FF2B5EF4-FFF2-40B4-BE49-F238E27FC236}">
                <a16:creationId xmlns:a16="http://schemas.microsoft.com/office/drawing/2014/main" id="{B8D98D7E-A1C6-46FA-99E1-0C8AA36FDEB8}"/>
              </a:ext>
            </a:extLst>
          </p:cNvPr>
          <p:cNvSpPr>
            <a:spLocks xmlns:a="http://schemas.openxmlformats.org/drawingml/2006/main" noGrp="1"/>
          </p:cNvSpPr>
          <p:nvPr/>
        </p:nvSpPr>
        <p:spPr>
          <a:xfrm xmlns:a="http://schemas.openxmlformats.org/drawingml/2006/main">
            <a:off x="4400550" y="22288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macOS 26.5.1, Python 3.11.15, CI Python 3.12, Flask 3.1.1, pytest 8.2.2, Chrome 150.0.7871.129.</a:t>
            </a:r>
          </a:p>
        </p:txBody>
      </p:sp>
      <p:sp>
        <p:nvSpPr>
          <p:cNvPr id="12" name="">
            <a:extLst xmlns:a="http://schemas.openxmlformats.org/drawingml/2006/main">
              <a:ext uri="{FF2B5EF4-FFF2-40B4-BE49-F238E27FC236}">
                <a16:creationId xmlns:a16="http://schemas.microsoft.com/office/drawing/2014/main" id="{00614751-BDE5-40B5-81B8-D80635BE7FD4}"/>
              </a:ext>
            </a:extLst>
          </p:cNvPr>
          <p:cNvSpPr>
            <a:spLocks xmlns:a="http://schemas.openxmlformats.org/drawingml/2006/main" noGrp="1"/>
          </p:cNvSpPr>
          <p:nvPr/>
        </p:nvSpPr>
        <p:spPr>
          <a:xfrm xmlns:a="http://schemas.openxmlformats.org/drawingml/2006/main">
            <a:off x="7943850" y="1714500"/>
            <a:ext cx="32956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9C0CA"/>
            </a:solidFill>
            <a:prstDash val="solid"/>
          </a:ln>
        </p:spPr>
      </p:sp>
      <p:sp>
        <p:nvSpPr>
          <p:cNvPr id="13" name="">
            <a:extLst xmlns:a="http://schemas.openxmlformats.org/drawingml/2006/main">
              <a:ext uri="{FF2B5EF4-FFF2-40B4-BE49-F238E27FC236}">
                <a16:creationId xmlns:a16="http://schemas.microsoft.com/office/drawing/2014/main" id="{2E62EBC0-08C5-4D4F-905E-34097B01E357}"/>
              </a:ext>
            </a:extLst>
          </p:cNvPr>
          <p:cNvSpPr>
            <a:spLocks xmlns:a="http://schemas.openxmlformats.org/drawingml/2006/main" noGrp="1"/>
          </p:cNvSpPr>
          <p:nvPr/>
        </p:nvSpPr>
        <p:spPr>
          <a:xfrm xmlns:a="http://schemas.openxmlformats.org/drawingml/2006/main">
            <a:off x="7943850" y="1714500"/>
            <a:ext cx="57150" cy="1466850"/>
          </a:xfrm>
          <a:prstGeom xmlns:a="http://schemas.openxmlformats.org/drawingml/2006/main" prst="rect">
            <a:avLst/>
          </a:prstGeom>
          <a:solidFill xmlns:a="http://schemas.openxmlformats.org/drawingml/2006/main">
            <a:srgbClr val="F36B2A"/>
          </a:solidFill>
          <a:ln xmlns:a="http://schemas.openxmlformats.org/drawingml/2006/main" w="0">
            <a:solidFill>
              <a:srgbClr val="F36B2A"/>
            </a:solidFill>
            <a:prstDash val="solid"/>
          </a:ln>
        </p:spPr>
      </p:sp>
      <p:sp>
        <p:nvSpPr>
          <p:cNvPr id="14" name="">
            <a:extLst xmlns:a="http://schemas.openxmlformats.org/drawingml/2006/main">
              <a:ext uri="{FF2B5EF4-FFF2-40B4-BE49-F238E27FC236}">
                <a16:creationId xmlns:a16="http://schemas.microsoft.com/office/drawing/2014/main" id="{C0088C8A-9682-47C5-8D42-FEC951BD3569}"/>
              </a:ext>
            </a:extLst>
          </p:cNvPr>
          <p:cNvSpPr>
            <a:spLocks xmlns:a="http://schemas.openxmlformats.org/drawingml/2006/main" noGrp="1"/>
          </p:cNvSpPr>
          <p:nvPr/>
        </p:nvSpPr>
        <p:spPr>
          <a:xfrm xmlns:a="http://schemas.openxmlformats.org/drawingml/2006/main">
            <a:off x="8115300" y="1885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61616"/>
                </a:solidFill>
              </a:defRPr>
            </a:pPr>
            <a:r>
              <a:rPr sz="1500" b="1">
                <a:solidFill>
                  <a:srgbClr val="161616"/>
                </a:solidFill>
              </a:rPr>
              <a:t>Setup</a:t>
            </a:r>
          </a:p>
        </p:txBody>
      </p:sp>
      <p:sp>
        <p:nvSpPr>
          <p:cNvPr id="15" name="">
            <a:extLst xmlns:a="http://schemas.openxmlformats.org/drawingml/2006/main">
              <a:ext uri="{FF2B5EF4-FFF2-40B4-BE49-F238E27FC236}">
                <a16:creationId xmlns:a16="http://schemas.microsoft.com/office/drawing/2014/main" id="{ED1E6DBA-D764-4975-8229-B039985BF8F9}"/>
              </a:ext>
            </a:extLst>
          </p:cNvPr>
          <p:cNvSpPr>
            <a:spLocks xmlns:a="http://schemas.openxmlformats.org/drawingml/2006/main" noGrp="1"/>
          </p:cNvSpPr>
          <p:nvPr/>
        </p:nvSpPr>
        <p:spPr>
          <a:xfrm xmlns:a="http://schemas.openxmlformats.org/drawingml/2006/main">
            <a:off x="8115300" y="22288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B616B"/>
                </a:solidFill>
              </a:defRPr>
            </a:pPr>
            <a:r>
              <a:rPr sz="1200" b="0">
                <a:solidFill>
                  <a:srgbClr val="5B616B"/>
                </a:solidFill>
              </a:rPr>
              <a:t>Install requirements; run pytest and system_test_runner.py; start the demo with python -m src.web_app.</a:t>
            </a:r>
          </a:p>
        </p:txBody>
      </p:sp>
      <p:graphicFrame>
        <p:nvGraphicFramePr>
          <p:cNvPr id="37" name=""/>
          <p:cNvGraphicFramePr/>
          <p:nvPr/>
        </p:nvGraphicFramePr>
        <p:xfrm>
          <a:off xmlns:a="http://schemas.openxmlformats.org/drawingml/2006/main" x="514350" y="3676650"/>
          <a:ext xmlns:a="http://schemas.openxmlformats.org/drawingml/2006/main" cx="10668000" cy="1695450"/>
        </p:xfrm>
        <a:graphic xmlns:a="http://schemas.openxmlformats.org/drawingml/2006/main">
          <a:graphicData uri="http://schemas.openxmlformats.org/drawingml/2006/table">
            <a:tbl>
              <a:tblPr firstRow="1" bandRow="1"/>
              <a:tblGrid>
                <a:gridCol w="3137647"/>
                <a:gridCol w="7530353"/>
              </a:tblGrid>
              <a:tr h="339090">
                <a:tc>
                  <a:txBody>
                    <a:bodyPr/>
                    <a:lstStyle/>
                    <a:p>
                      <a:r>
                        <a:rPr sz="1125" b="1">
                          <a:solidFill>
                            <a:srgbClr val="161616"/>
                          </a:solidFill>
                        </a:rPr>
                        <a:t>Test class</a:t>
                      </a:r>
                    </a:p>
                  </a:txBody>
                  <a:tcPr marL="91440" marR="91440" marT="45720" marB="45720">
                    <a:solidFill>
                      <a:srgbClr val="ECEFF3"/>
                    </a:solidFill>
                  </a:tcPr>
                </a:tc>
                <a:tc>
                  <a:txBody>
                    <a:bodyPr/>
                    <a:lstStyle/>
                    <a:p>
                      <a:r>
                        <a:rPr sz="1125" b="1">
                          <a:solidFill>
                            <a:srgbClr val="161616"/>
                          </a:solidFill>
                        </a:rPr>
                        <a:t>Coverage target</a:t>
                      </a:r>
                    </a:p>
                  </a:txBody>
                  <a:tcPr marL="91440" marR="91440" marT="45720" marB="45720">
                    <a:solidFill>
                      <a:srgbClr val="ECEFF3"/>
                    </a:solidFill>
                  </a:tcPr>
                </a:tc>
              </a:tr>
              <a:tr h="339090">
                <a:tc>
                  <a:txBody>
                    <a:bodyPr/>
                    <a:lstStyle/>
                    <a:p>
                      <a:r>
                        <a:rPr sz="975">
                          <a:solidFill>
                            <a:srgbClr val="161616"/>
                          </a:solidFill>
                        </a:rPr>
                        <a:t>Release readiness</a:t>
                      </a:r>
                    </a:p>
                  </a:txBody>
                  <a:tcPr marL="91440" marR="91440" marT="45720" marB="45720"/>
                </a:tc>
                <a:tc>
                  <a:txBody>
                    <a:bodyPr/>
                    <a:lstStyle/>
                    <a:p>
                      <a:r>
                        <a:rPr sz="975">
                          <a:solidFill>
                            <a:srgbClr val="161616"/>
                          </a:solidFill>
                        </a:rPr>
                        <a:t>Version identity and required quality gates</a:t>
                      </a:r>
                    </a:p>
                  </a:txBody>
                  <a:tcPr marL="91440" marR="91440" marT="45720" marB="45720"/>
                </a:tc>
              </a:tr>
              <a:tr h="339090">
                <a:tc>
                  <a:txBody>
                    <a:bodyPr/>
                    <a:lstStyle/>
                    <a:p>
                      <a:r>
                        <a:rPr sz="975">
                          <a:solidFill>
                            <a:srgbClr val="161616"/>
                          </a:solidFill>
                        </a:rPr>
                        <a:t>Core + web/API workflow</a:t>
                      </a:r>
                    </a:p>
                  </a:txBody>
                  <a:tcPr marL="91440" marR="91440" marT="45720" marB="45720"/>
                </a:tc>
                <a:tc>
                  <a:txBody>
                    <a:bodyPr/>
                    <a:lstStyle/>
                    <a:p>
                      <a:r>
                        <a:rPr sz="975">
                          <a:solidFill>
                            <a:srgbClr val="161616"/>
                          </a:solidFill>
                        </a:rPr>
                        <a:t>Grocery aggregation plus Flask route, request, response, and quality-summary checks</a:t>
                      </a:r>
                    </a:p>
                  </a:txBody>
                  <a:tcPr marL="91440" marR="91440" marT="45720" marB="45720"/>
                </a:tc>
              </a:tr>
              <a:tr h="339090">
                <a:tc>
                  <a:txBody>
                    <a:bodyPr/>
                    <a:lstStyle/>
                    <a:p>
                      <a:r>
                        <a:rPr sz="975">
                          <a:solidFill>
                            <a:srgbClr val="161616"/>
                          </a:solidFill>
                        </a:rPr>
                        <a:t>Safety behavior</a:t>
                      </a:r>
                    </a:p>
                  </a:txBody>
                  <a:tcPr marL="91440" marR="91440" marT="45720" marB="45720"/>
                </a:tc>
                <a:tc>
                  <a:txBody>
                    <a:bodyPr/>
                    <a:lstStyle/>
                    <a:p>
                      <a:r>
                        <a:rPr sz="975">
                          <a:solidFill>
                            <a:srgbClr val="161616"/>
                          </a:solidFill>
                        </a:rPr>
                        <a:t>Allergen conflict blocked; safe recipe allowed</a:t>
                      </a:r>
                    </a:p>
                  </a:txBody>
                  <a:tcPr marL="91440" marR="91440" marT="45720" marB="45720"/>
                </a:tc>
              </a:tr>
              <a:tr h="339090">
                <a:tc>
                  <a:txBody>
                    <a:bodyPr/>
                    <a:lstStyle/>
                    <a:p>
                      <a:r>
                        <a:rPr sz="975">
                          <a:solidFill>
                            <a:srgbClr val="161616"/>
                          </a:solidFill>
                        </a:rPr>
                        <a:t>Boundary conditions</a:t>
                      </a:r>
                    </a:p>
                  </a:txBody>
                  <a:tcPr marL="91440" marR="91440" marT="45720" marB="45720"/>
                </a:tc>
                <a:tc>
                  <a:txBody>
                    <a:bodyPr/>
                    <a:lstStyle/>
                    <a:p>
                      <a:r>
                        <a:rPr sz="975">
                          <a:solidFill>
                            <a:srgbClr val="161616"/>
                          </a:solidFill>
                        </a:rPr>
                        <a:t>Pantry item expires today, +3 days, +4 days, and yesterday</a:t>
                      </a:r>
                    </a:p>
                  </a:txBody>
                  <a:tcPr marL="91440" marR="91440" marT="45720" marB="45720"/>
                </a:tc>
              </a:tr>
            </a:tbl>
          </a:graphicData>
        </a:graphic>
      </p:graphicFrame>
      <p:sp>
        <p:nvSpPr>
          <p:cNvPr id="17" name="">
            <a:extLst xmlns:a="http://schemas.openxmlformats.org/drawingml/2006/main">
              <a:ext uri="{FF2B5EF4-FFF2-40B4-BE49-F238E27FC236}">
                <a16:creationId xmlns:a16="http://schemas.microsoft.com/office/drawing/2014/main" id="{A49FF242-6472-49D4-BD36-133BB6EDDD40}"/>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18" name="">
            <a:extLst xmlns:a="http://schemas.openxmlformats.org/drawingml/2006/main">
              <a:ext uri="{FF2B5EF4-FFF2-40B4-BE49-F238E27FC236}">
                <a16:creationId xmlns:a16="http://schemas.microsoft.com/office/drawing/2014/main" id="{8389F3C2-62A3-48C8-984C-C37DEF3CA68B}"/>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- 12/14</a:t>
            </a:r>
          </a:p>
        </p:txBody>
      </p:sp>
    </p:spTree>
    <p:extLst>
      <p:ext uri="{BB962C8B-B14F-4D97-AF65-F5344CB8AC3E}">
        <p14:creationId xmlns:p14="http://schemas.microsoft.com/office/powerpoint/2010/main" val="61984504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0D68CF-9020-405B-9F46-3CA5E34C605F}"/>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Actual results</a:t>
            </a:r>
          </a:p>
        </p:txBody>
      </p:sp>
      <p:sp>
        <p:nvSpPr>
          <p:cNvPr id="2" name="">
            <a:extLst xmlns:a="http://schemas.openxmlformats.org/drawingml/2006/main">
              <a:ext uri="{FF2B5EF4-FFF2-40B4-BE49-F238E27FC236}">
                <a16:creationId xmlns:a16="http://schemas.microsoft.com/office/drawing/2014/main" id="{35560918-1592-4ED5-9D5F-1E386884C1FE}"/>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System testing outcome</a:t>
            </a:r>
          </a:p>
        </p:txBody>
      </p:sp>
      <p:sp>
        <p:nvSpPr>
          <p:cNvPr id="3" name="">
            <a:extLst xmlns:a="http://schemas.openxmlformats.org/drawingml/2006/main">
              <a:ext uri="{FF2B5EF4-FFF2-40B4-BE49-F238E27FC236}">
                <a16:creationId xmlns:a16="http://schemas.microsoft.com/office/drawing/2014/main" id="{BDF52B87-744D-4E94-BA47-1674FFC25938}"/>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E0669B9B-8D63-4499-A05E-729C9310A4BD}"/>
              </a:ext>
            </a:extLst>
          </p:cNvPr>
          <p:cNvSpPr>
            <a:spLocks xmlns:a="http://schemas.openxmlformats.org/drawingml/2006/main" noGrp="1"/>
          </p:cNvSpPr>
          <p:nvPr/>
        </p:nvSpPr>
        <p:spPr>
          <a:xfrm xmlns:a="http://schemas.openxmlformats.org/drawingml/2006/main">
            <a:off x="514350" y="173355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5100" b="1">
                <a:solidFill>
                  <a:srgbClr val="147A55"/>
                </a:solidFill>
              </a:defRPr>
            </a:pPr>
            <a:r>
              <a:rPr sz="5100" b="1">
                <a:solidFill>
                  <a:srgbClr val="147A55"/>
                </a:solidFill>
              </a:rPr>
              <a:t>11/11</a:t>
            </a:r>
          </a:p>
        </p:txBody>
      </p:sp>
      <p:sp>
        <p:nvSpPr>
          <p:cNvPr id="5" name="">
            <a:extLst xmlns:a="http://schemas.openxmlformats.org/drawingml/2006/main">
              <a:ext uri="{FF2B5EF4-FFF2-40B4-BE49-F238E27FC236}">
                <a16:creationId xmlns:a16="http://schemas.microsoft.com/office/drawing/2014/main" id="{1752E4B2-0125-47AE-A4F2-6E207945126C}"/>
              </a:ext>
            </a:extLst>
          </p:cNvPr>
          <p:cNvSpPr>
            <a:spLocks xmlns:a="http://schemas.openxmlformats.org/drawingml/2006/main" noGrp="1"/>
          </p:cNvSpPr>
          <p:nvPr/>
        </p:nvSpPr>
        <p:spPr>
          <a:xfrm xmlns:a="http://schemas.openxmlformats.org/drawingml/2006/main">
            <a:off x="27051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61616"/>
                </a:solidFill>
              </a:defRPr>
            </a:pPr>
            <a:r>
              <a:rPr sz="2175" b="1">
                <a:solidFill>
                  <a:srgbClr val="161616"/>
                </a:solidFill>
              </a:rPr>
              <a:t>pytest tests passed</a:t>
            </a:r>
          </a:p>
        </p:txBody>
      </p:sp>
      <p:sp>
        <p:nvSpPr>
          <p:cNvPr id="6" name="">
            <a:extLst xmlns:a="http://schemas.openxmlformats.org/drawingml/2006/main">
              <a:ext uri="{FF2B5EF4-FFF2-40B4-BE49-F238E27FC236}">
                <a16:creationId xmlns:a16="http://schemas.microsoft.com/office/drawing/2014/main" id="{1CA3519E-FEB2-49AE-91BB-FB633CAFF88C}"/>
              </a:ext>
            </a:extLst>
          </p:cNvPr>
          <p:cNvSpPr>
            <a:spLocks xmlns:a="http://schemas.openxmlformats.org/drawingml/2006/main" noGrp="1"/>
          </p:cNvSpPr>
          <p:nvPr/>
        </p:nvSpPr>
        <p:spPr>
          <a:xfrm xmlns:a="http://schemas.openxmlformats.org/drawingml/2006/main">
            <a:off x="2705100" y="24003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B616B"/>
                </a:solidFill>
              </a:defRPr>
            </a:pPr>
            <a:r>
              <a:rPr sz="1425" b="0">
                <a:solidFill>
                  <a:srgbClr val="5B616B"/>
                </a:solidFill>
              </a:rPr>
              <a:t>6 / 6 formal release scenarios also passed; no defects were observed.</a:t>
            </a:r>
          </a:p>
        </p:txBody>
      </p:sp>
      <p:graphicFrame>
        <p:nvGraphicFramePr>
          <p:cNvPr id="19" name=""/>
          <p:cNvGraphicFramePr/>
          <p:nvPr/>
        </p:nvGraphicFramePr>
        <p:xfrm>
          <a:off xmlns:a="http://schemas.openxmlformats.org/drawingml/2006/main" x="514350" y="3028950"/>
          <a:ext xmlns:a="http://schemas.openxmlformats.org/drawingml/2006/main" cx="10668000" cy="2533650"/>
        </p:xfrm>
        <a:graphic xmlns:a="http://schemas.openxmlformats.org/drawingml/2006/main">
          <a:graphicData uri="http://schemas.openxmlformats.org/drawingml/2006/table">
            <a:tbl>
              <a:tblPr firstRow="1" bandRow="1"/>
              <a:tblGrid>
                <a:gridCol w="3833813"/>
                <a:gridCol w="6834188"/>
              </a:tblGrid>
              <a:tr h="361950">
                <a:tc>
                  <a:txBody>
                    <a:bodyPr/>
                    <a:lstStyle/>
                    <a:p>
                      <a:r>
                        <a:rPr sz="1050" b="1">
                          <a:solidFill>
                            <a:srgbClr val="161616"/>
                          </a:solidFill>
                        </a:rPr>
                        <a:t>Scenario</a:t>
                      </a:r>
                    </a:p>
                  </a:txBody>
                  <a:tcPr marL="91440" marR="91440" marT="45720" marB="45720">
                    <a:solidFill>
                      <a:srgbClr val="ECEFF3"/>
                    </a:solidFill>
                  </a:tcPr>
                </a:tc>
                <a:tc>
                  <a:txBody>
                    <a:bodyPr/>
                    <a:lstStyle/>
                    <a:p>
                      <a:r>
                        <a:rPr sz="1050" b="1">
                          <a:solidFill>
                            <a:srgbClr val="161616"/>
                          </a:solidFill>
                        </a:rPr>
                        <a:t>Actual result</a:t>
                      </a:r>
                    </a:p>
                  </a:txBody>
                  <a:tcPr marL="91440" marR="91440" marT="45720" marB="45720">
                    <a:solidFill>
                      <a:srgbClr val="ECEFF3"/>
                    </a:solidFill>
                  </a:tcPr>
                </a:tc>
              </a:tr>
              <a:tr h="361950">
                <a:tc>
                  <a:txBody>
                    <a:bodyPr/>
                    <a:lstStyle/>
                    <a:p>
                      <a:r>
                        <a:rPr sz="825">
                          <a:solidFill>
                            <a:srgbClr val="161616"/>
                          </a:solidFill>
                        </a:rPr>
                        <a:t>V1-ST-01 release identity</a:t>
                      </a:r>
                    </a:p>
                  </a:txBody>
                  <a:tcPr marL="91440" marR="91440" marT="45720" marB="45720"/>
                </a:tc>
                <a:tc>
                  <a:txBody>
                    <a:bodyPr/>
                    <a:lstStyle/>
                    <a:p>
                      <a:r>
                        <a:rPr sz="825">
                          <a:solidFill>
                            <a:srgbClr val="161616"/>
                          </a:solidFill>
                        </a:rPr>
                        <a:t>PantryPilot 1.1.0: Safety &amp; Grocery Controls</a:t>
                      </a:r>
                    </a:p>
                  </a:txBody>
                  <a:tcPr marL="91440" marR="91440" marT="45720" marB="45720"/>
                </a:tc>
              </a:tr>
              <a:tr h="361950">
                <a:tc>
                  <a:txBody>
                    <a:bodyPr/>
                    <a:lstStyle/>
                    <a:p>
                      <a:r>
                        <a:rPr sz="825">
                          <a:solidFill>
                            <a:srgbClr val="161616"/>
                          </a:solidFill>
                        </a:rPr>
                        <a:t>V1-ST-02 quality gates</a:t>
                      </a:r>
                    </a:p>
                  </a:txBody>
                  <a:tcPr marL="91440" marR="91440" marT="45720" marB="45720"/>
                </a:tc>
                <a:tc>
                  <a:txBody>
                    <a:bodyPr/>
                    <a:lstStyle/>
                    <a:p>
                      <a:r>
                        <a:rPr sz="825">
                          <a:solidFill>
                            <a:srgbClr val="161616"/>
                          </a:solidFill>
                        </a:rPr>
                        <a:t>ci_required, pull_request_required, review_required, unit_tests_required</a:t>
                      </a:r>
                    </a:p>
                  </a:txBody>
                  <a:tcPr marL="91440" marR="91440" marT="45720" marB="45720"/>
                </a:tc>
              </a:tr>
              <a:tr h="361950">
                <a:tc>
                  <a:txBody>
                    <a:bodyPr/>
                    <a:lstStyle/>
                    <a:p>
                      <a:r>
                        <a:rPr sz="825">
                          <a:solidFill>
                            <a:srgbClr val="161616"/>
                          </a:solidFill>
                        </a:rPr>
                        <a:t>V1-ST-03 grocery aggregation</a:t>
                      </a:r>
                    </a:p>
                  </a:txBody>
                  <a:tcPr marL="91440" marR="91440" marT="45720" marB="45720"/>
                </a:tc>
                <a:tc>
                  <a:txBody>
                    <a:bodyPr/>
                    <a:lstStyle/>
                    <a:p>
                      <a:r>
                        <a:rPr sz="825">
                          <a:solidFill>
                            <a:srgbClr val="161616"/>
                          </a:solidFill>
                        </a:rPr>
                        <a:t>rice quantity 3.0 cup</a:t>
                      </a:r>
                    </a:p>
                  </a:txBody>
                  <a:tcPr marL="91440" marR="91440" marT="45720" marB="45720"/>
                </a:tc>
              </a:tr>
              <a:tr h="361950">
                <a:tc>
                  <a:txBody>
                    <a:bodyPr/>
                    <a:lstStyle/>
                    <a:p>
                      <a:r>
                        <a:rPr sz="825">
                          <a:solidFill>
                            <a:srgbClr val="161616"/>
                          </a:solidFill>
                        </a:rPr>
                        <a:t>V1.1-ST-01 allergen conflict</a:t>
                      </a:r>
                    </a:p>
                  </a:txBody>
                  <a:tcPr marL="91440" marR="91440" marT="45720" marB="45720"/>
                </a:tc>
                <a:tc>
                  <a:txBody>
                    <a:bodyPr/>
                    <a:lstStyle/>
                    <a:p>
                      <a:r>
                        <a:rPr sz="825">
                          <a:solidFill>
                            <a:srgbClr val="161616"/>
                          </a:solidFill>
                        </a:rPr>
                        <a:t>soy conflict detected; safe=false</a:t>
                      </a:r>
                    </a:p>
                  </a:txBody>
                  <a:tcPr marL="91440" marR="91440" marT="45720" marB="45720"/>
                </a:tc>
              </a:tr>
              <a:tr h="361950">
                <a:tc>
                  <a:txBody>
                    <a:bodyPr/>
                    <a:lstStyle/>
                    <a:p>
                      <a:r>
                        <a:rPr sz="825">
                          <a:solidFill>
                            <a:srgbClr val="161616"/>
                          </a:solidFill>
                        </a:rPr>
                        <a:t>V1.1-ST-02 safe recipe</a:t>
                      </a:r>
                    </a:p>
                  </a:txBody>
                  <a:tcPr marL="91440" marR="91440" marT="45720" marB="45720"/>
                </a:tc>
                <a:tc>
                  <a:txBody>
                    <a:bodyPr/>
                    <a:lstStyle/>
                    <a:p>
                      <a:r>
                        <a:rPr sz="825">
                          <a:solidFill>
                            <a:srgbClr val="161616"/>
                          </a:solidFill>
                        </a:rPr>
                        <a:t>safe=true</a:t>
                      </a:r>
                    </a:p>
                  </a:txBody>
                  <a:tcPr marL="91440" marR="91440" marT="45720" marB="45720"/>
                </a:tc>
              </a:tr>
              <a:tr h="361950">
                <a:tc>
                  <a:txBody>
                    <a:bodyPr/>
                    <a:lstStyle/>
                    <a:p>
                      <a:r>
                        <a:rPr sz="825">
                          <a:solidFill>
                            <a:srgbClr val="161616"/>
                          </a:solidFill>
                        </a:rPr>
                        <a:t>V1.1-ST-03 expiry window</a:t>
                      </a:r>
                    </a:p>
                  </a:txBody>
                  <a:tcPr marL="91440" marR="91440" marT="45720" marB="45720"/>
                </a:tc>
                <a:tc>
                  <a:txBody>
                    <a:bodyPr/>
                    <a:lstStyle/>
                    <a:p>
                      <a:r>
                        <a:rPr sz="825">
                          <a:solidFill>
                            <a:srgbClr val="161616"/>
                          </a:solidFill>
                        </a:rPr>
                        <a:t>today=true, +3=true, +4=false, yesterday=false</a:t>
                      </a:r>
                    </a:p>
                  </a:txBody>
                  <a:tcPr marL="91440" marR="91440" marT="45720" marB="45720"/>
                </a:tc>
              </a:tr>
            </a:tbl>
          </a:graphicData>
        </a:graphic>
      </p:graphicFrame>
      <p:sp>
        <p:nvSpPr>
          <p:cNvPr id="8" name="">
            <a:extLst xmlns:a="http://schemas.openxmlformats.org/drawingml/2006/main">
              <a:ext uri="{FF2B5EF4-FFF2-40B4-BE49-F238E27FC236}">
                <a16:creationId xmlns:a16="http://schemas.microsoft.com/office/drawing/2014/main" id="{530F4DAF-67BF-42DB-983F-A66A147BE443}"/>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9" name="">
            <a:extLst xmlns:a="http://schemas.openxmlformats.org/drawingml/2006/main">
              <a:ext uri="{FF2B5EF4-FFF2-40B4-BE49-F238E27FC236}">
                <a16:creationId xmlns:a16="http://schemas.microsoft.com/office/drawing/2014/main" id="{32C8683A-45BA-4AF9-A95D-5B0243650346}"/>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- 13/14</a:t>
            </a:r>
          </a:p>
        </p:txBody>
      </p:sp>
    </p:spTree>
    <p:extLst>
      <p:ext uri="{BB962C8B-B14F-4D97-AF65-F5344CB8AC3E}">
        <p14:creationId xmlns:p14="http://schemas.microsoft.com/office/powerpoint/2010/main" val="12782467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146A3C-FEA7-440B-8473-7F508B2D8727}"/>
              </a:ext>
            </a:extLst>
          </p:cNvPr>
          <p:cNvSpPr>
            <a:spLocks xmlns:a="http://schemas.openxmlformats.org/drawingml/2006/main" noGrp="1"/>
          </p:cNvSpPr>
          <p:nvPr/>
        </p:nvSpPr>
        <p:spPr>
          <a:xfrm xmlns:a="http://schemas.openxmlformats.org/drawingml/2006/main">
            <a:off x="514350" y="304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B616B"/>
                </a:solidFill>
              </a:defRPr>
            </a:pPr>
            <a:r>
              <a:rPr sz="1050" b="1">
                <a:solidFill>
                  <a:srgbClr val="5B616B"/>
                </a:solidFill>
              </a:rPr>
              <a:t>Closing</a:t>
            </a:r>
          </a:p>
        </p:txBody>
      </p:sp>
      <p:sp>
        <p:nvSpPr>
          <p:cNvPr id="2" name="">
            <a:extLst xmlns:a="http://schemas.openxmlformats.org/drawingml/2006/main">
              <a:ext uri="{FF2B5EF4-FFF2-40B4-BE49-F238E27FC236}">
                <a16:creationId xmlns:a16="http://schemas.microsoft.com/office/drawing/2014/main" id="{ABA629B0-76DA-4729-97C4-60C77FA8537A}"/>
              </a:ext>
            </a:extLst>
          </p:cNvPr>
          <p:cNvSpPr>
            <a:spLocks xmlns:a="http://schemas.openxmlformats.org/drawingml/2006/main" noGrp="1"/>
          </p:cNvSpPr>
          <p:nvPr/>
        </p:nvSpPr>
        <p:spPr>
          <a:xfrm xmlns:a="http://schemas.openxmlformats.org/drawingml/2006/main">
            <a:off x="5143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61616"/>
                </a:solidFill>
              </a:defRPr>
            </a:pPr>
            <a:r>
              <a:rPr sz="2775" b="1">
                <a:solidFill>
                  <a:srgbClr val="161616"/>
                </a:solidFill>
              </a:rPr>
              <a:t>Final takeaway and references</a:t>
            </a:r>
          </a:p>
        </p:txBody>
      </p:sp>
      <p:sp>
        <p:nvSpPr>
          <p:cNvPr id="3" name="">
            <a:extLst xmlns:a="http://schemas.openxmlformats.org/drawingml/2006/main">
              <a:ext uri="{FF2B5EF4-FFF2-40B4-BE49-F238E27FC236}">
                <a16:creationId xmlns:a16="http://schemas.microsoft.com/office/drawing/2014/main" id="{328B4254-7B5A-4C38-9BB8-E66D03DD9194}"/>
              </a:ext>
            </a:extLst>
          </p:cNvPr>
          <p:cNvSpPr>
            <a:spLocks xmlns:a="http://schemas.openxmlformats.org/drawingml/2006/main" noGrp="1"/>
          </p:cNvSpPr>
          <p:nvPr/>
        </p:nvSpPr>
        <p:spPr>
          <a:xfrm xmlns:a="http://schemas.openxmlformats.org/drawingml/2006/main">
            <a:off x="514350" y="1333500"/>
            <a:ext cx="11163300" cy="9525"/>
          </a:xfrm>
          <a:prstGeom xmlns:a="http://schemas.openxmlformats.org/drawingml/2006/main" prst="rect">
            <a:avLst/>
          </a:prstGeom>
          <a:solidFill xmlns:a="http://schemas.openxmlformats.org/drawingml/2006/main">
            <a:srgbClr val="B9C0CA"/>
          </a:solidFill>
          <a:ln xmlns:a="http://schemas.openxmlformats.org/drawingml/2006/main" w="0">
            <a:solidFill>
              <a:srgbClr val="B9C0CA"/>
            </a:solidFill>
            <a:prstDash val="solid"/>
          </a:ln>
        </p:spPr>
      </p:sp>
      <p:sp>
        <p:nvSpPr>
          <p:cNvPr id="4" name="">
            <a:extLst xmlns:a="http://schemas.openxmlformats.org/drawingml/2006/main">
              <a:ext uri="{FF2B5EF4-FFF2-40B4-BE49-F238E27FC236}">
                <a16:creationId xmlns:a16="http://schemas.microsoft.com/office/drawing/2014/main" id="{C0F5F01E-583D-4116-BF51-2CB48DD48AAB}"/>
              </a:ext>
            </a:extLst>
          </p:cNvPr>
          <p:cNvSpPr>
            <a:spLocks xmlns:a="http://schemas.openxmlformats.org/drawingml/2006/main" noGrp="1"/>
          </p:cNvSpPr>
          <p:nvPr/>
        </p:nvSpPr>
        <p:spPr>
          <a:xfrm xmlns:a="http://schemas.openxmlformats.org/drawingml/2006/main">
            <a:off x="514350" y="17907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161616"/>
                </a:solidFill>
              </a:defRPr>
            </a:pPr>
            <a:r>
              <a:rPr sz="2325" b="1">
                <a:solidFill>
                  <a:srgbClr val="161616"/>
                </a:solidFill>
              </a:rPr>
              <a:t>PantryPilot's quality story is visible in working software, not just documents.</a:t>
            </a:r>
          </a:p>
        </p:txBody>
      </p:sp>
      <p:sp>
        <p:nvSpPr>
          <p:cNvPr id="5" name="">
            <a:extLst xmlns:a="http://schemas.openxmlformats.org/drawingml/2006/main">
              <a:ext uri="{FF2B5EF4-FFF2-40B4-BE49-F238E27FC236}">
                <a16:creationId xmlns:a16="http://schemas.microsoft.com/office/drawing/2014/main" id="{43F2C11D-AFC6-49B1-958E-0FA1F5D790B4}"/>
              </a:ext>
            </a:extLst>
          </p:cNvPr>
          <p:cNvSpPr>
            <a:spLocks xmlns:a="http://schemas.openxmlformats.org/drawingml/2006/main" noGrp="1"/>
          </p:cNvSpPr>
          <p:nvPr/>
        </p:nvSpPr>
        <p:spPr>
          <a:xfrm xmlns:a="http://schemas.openxmlformats.org/drawingml/2006/main">
            <a:off x="514350" y="2419350"/>
            <a:ext cx="990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F36B2A"/>
                </a:solidFill>
              </a:defRPr>
            </a:pPr>
            <a:r>
              <a:rPr sz="2250" b="1">
                <a:solidFill>
                  <a:srgbClr val="F36B2A"/>
                </a:solidFill>
              </a:rPr>
              <a:t>The web demo makes the same deterministic safety decisions, versioned controls, risk mitigations, and test evidence inspectable in one flow.</a:t>
            </a:r>
          </a:p>
        </p:txBody>
      </p:sp>
      <p:sp>
        <p:nvSpPr>
          <p:cNvPr id="6" name="">
            <a:extLst xmlns:a="http://schemas.openxmlformats.org/drawingml/2006/main">
              <a:ext uri="{FF2B5EF4-FFF2-40B4-BE49-F238E27FC236}">
                <a16:creationId xmlns:a16="http://schemas.microsoft.com/office/drawing/2014/main" id="{C4ADAB7F-8EC0-4BF3-A8FA-B1E230507D5E}"/>
              </a:ext>
            </a:extLst>
          </p:cNvPr>
          <p:cNvSpPr>
            <a:spLocks xmlns:a="http://schemas.openxmlformats.org/drawingml/2006/main" noGrp="1"/>
          </p:cNvSpPr>
          <p:nvPr/>
        </p:nvSpPr>
        <p:spPr>
          <a:xfrm xmlns:a="http://schemas.openxmlformats.org/drawingml/2006/main">
            <a:off x="514350" y="4038600"/>
            <a:ext cx="10287000" cy="1123950"/>
          </a:xfrm>
          <a:prstGeom xmlns:a="http://schemas.openxmlformats.org/drawingml/2006/main" prst="rect">
            <a:avLst/>
          </a:prstGeom>
          <a:solidFill xmlns:a="http://schemas.openxmlformats.org/drawingml/2006/main">
            <a:srgbClr val="F6F7F9"/>
          </a:solidFill>
          <a:ln xmlns:a="http://schemas.openxmlformats.org/drawingml/2006/main" w="9525">
            <a:solidFill>
              <a:srgbClr val="B9C0CA"/>
            </a:solidFill>
            <a:prstDash val="solid"/>
          </a:ln>
        </p:spPr>
      </p:sp>
      <p:sp>
        <p:nvSpPr>
          <p:cNvPr id="7" name="">
            <a:extLst xmlns:a="http://schemas.openxmlformats.org/drawingml/2006/main">
              <a:ext uri="{FF2B5EF4-FFF2-40B4-BE49-F238E27FC236}">
                <a16:creationId xmlns:a16="http://schemas.microsoft.com/office/drawing/2014/main" id="{279F769A-CC0B-43F1-B1C8-B7C59DFC969F}"/>
              </a:ext>
            </a:extLst>
          </p:cNvPr>
          <p:cNvSpPr>
            <a:spLocks xmlns:a="http://schemas.openxmlformats.org/drawingml/2006/main" noGrp="1"/>
          </p:cNvSpPr>
          <p:nvPr/>
        </p:nvSpPr>
        <p:spPr>
          <a:xfrm xmlns:a="http://schemas.openxmlformats.org/drawingml/2006/main">
            <a:off x="742950" y="4248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161616"/>
                </a:solidFill>
              </a:defRPr>
            </a:pPr>
            <a:r>
              <a:rPr sz="1575" b="1">
                <a:solidFill>
                  <a:srgbClr val="161616"/>
                </a:solidFill>
              </a:rPr>
              <a:t>Project sources</a:t>
            </a:r>
          </a:p>
        </p:txBody>
      </p:sp>
      <p:sp>
        <p:nvSpPr>
          <p:cNvPr id="8" name="">
            <a:extLst xmlns:a="http://schemas.openxmlformats.org/drawingml/2006/main">
              <a:ext uri="{FF2B5EF4-FFF2-40B4-BE49-F238E27FC236}">
                <a16:creationId xmlns:a16="http://schemas.microsoft.com/office/drawing/2014/main" id="{894F5031-233F-4D55-BD29-752CADBB2889}"/>
              </a:ext>
            </a:extLst>
          </p:cNvPr>
          <p:cNvSpPr>
            <a:spLocks xmlns:a="http://schemas.openxmlformats.org/drawingml/2006/main" noGrp="1"/>
          </p:cNvSpPr>
          <p:nvPr/>
        </p:nvSpPr>
        <p:spPr>
          <a:xfrm xmlns:a="http://schemas.openxmlformats.org/drawingml/2006/main">
            <a:off x="2895600" y="4171950"/>
            <a:ext cx="723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B616B"/>
                </a:solidFill>
              </a:defRPr>
            </a:pPr>
            <a:r>
              <a:rPr sz="1350" b="0">
                <a:solidFill>
                  <a:srgbClr val="5B616B"/>
                </a:solidFill>
              </a:rPr>
              <a:t>- Updated risk, CM, and system testing reports</a:t>
            </a:r>
          </a:p>
          <a:p xmlns:a="http://schemas.openxmlformats.org/drawingml/2006/main">
            <a:pPr algn="l">
              <a:buNone/>
              <a:defRPr sz="1350" b="0">
                <a:solidFill>
                  <a:srgbClr val="5B616B"/>
                </a:solidFill>
              </a:defRPr>
            </a:pPr>
            <a:r>
              <a:rPr sz="1350" b="0">
                <a:solidFill>
                  <a:srgbClr val="5B616B"/>
                </a:solidFill>
              </a:rPr>
              <a:t>- CISC-594 GitHub repository and CI workflow</a:t>
            </a:r>
          </a:p>
          <a:p xmlns:a="http://schemas.openxmlformats.org/drawingml/2006/main">
            <a:pPr algn="l">
              <a:buNone/>
              <a:defRPr sz="1350" b="0">
                <a:solidFill>
                  <a:srgbClr val="5B616B"/>
                </a:solidFill>
              </a:defRPr>
            </a:pPr>
            <a:r>
              <a:rPr sz="1350" b="0">
                <a:solidFill>
                  <a:srgbClr val="5B616B"/>
                </a:solidFill>
              </a:rPr>
              <a:t>- PantryPilot Flask demo and local visual assets</a:t>
            </a:r>
          </a:p>
          <a:p xmlns:a="http://schemas.openxmlformats.org/drawingml/2006/main">
            <a:pPr algn="l">
              <a:buNone/>
              <a:defRPr sz="1350" b="0">
                <a:solidFill>
                  <a:srgbClr val="5B616B"/>
                </a:solidFill>
              </a:defRPr>
            </a:pPr>
            <a:r>
              <a:rPr sz="1350" b="0">
                <a:solidFill>
                  <a:srgbClr val="5B616B"/>
                </a:solidFill>
              </a:rPr>
              <a:t>- 11 pytest tests plus 6 release scenarios</a:t>
            </a:r>
          </a:p>
        </p:txBody>
      </p:sp>
      <p:sp>
        <p:nvSpPr>
          <p:cNvPr id="9" name="">
            <a:extLst xmlns:a="http://schemas.openxmlformats.org/drawingml/2006/main">
              <a:ext uri="{FF2B5EF4-FFF2-40B4-BE49-F238E27FC236}">
                <a16:creationId xmlns:a16="http://schemas.microsoft.com/office/drawing/2014/main" id="{F21AC2C2-C415-44A0-8411-38835DC33433}"/>
              </a:ext>
            </a:extLst>
          </p:cNvPr>
          <p:cNvSpPr>
            <a:spLocks xmlns:a="http://schemas.openxmlformats.org/drawingml/2006/main" noGrp="1"/>
          </p:cNvSpPr>
          <p:nvPr/>
        </p:nvSpPr>
        <p:spPr>
          <a:xfrm xmlns:a="http://schemas.openxmlformats.org/drawingml/2006/main">
            <a:off x="514350" y="56578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61616"/>
                </a:solidFill>
              </a:defRPr>
            </a:pPr>
            <a:r>
              <a:rPr sz="2850" b="1">
                <a:solidFill>
                  <a:srgbClr val="161616"/>
                </a:solidFill>
              </a:rPr>
              <a:t>Questions</a:t>
            </a:r>
          </a:p>
        </p:txBody>
      </p:sp>
      <p:sp>
        <p:nvSpPr>
          <p:cNvPr id="10" name="">
            <a:extLst xmlns:a="http://schemas.openxmlformats.org/drawingml/2006/main">
              <a:ext uri="{FF2B5EF4-FFF2-40B4-BE49-F238E27FC236}">
                <a16:creationId xmlns:a16="http://schemas.microsoft.com/office/drawing/2014/main" id="{1305B406-AA6E-4A7A-A4C5-5BC16F92B0F8}"/>
              </a:ext>
            </a:extLst>
          </p:cNvPr>
          <p:cNvSpPr>
            <a:spLocks xmlns:a="http://schemas.openxmlformats.org/drawingml/2006/main" noGrp="1"/>
          </p:cNvSpPr>
          <p:nvPr/>
        </p:nvSpPr>
        <p:spPr>
          <a:xfrm xmlns:a="http://schemas.openxmlformats.org/drawingml/2006/main">
            <a:off x="514350" y="6400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5B616B"/>
                </a:solidFill>
              </a:defRPr>
            </a:pPr>
            <a:r>
              <a:rPr sz="975" b="1">
                <a:solidFill>
                  <a:srgbClr val="5B616B"/>
                </a:solidFill>
              </a:rPr>
              <a:t>Prepared by Zixuan Liang</a:t>
            </a:r>
          </a:p>
        </p:txBody>
      </p:sp>
      <p:sp>
        <p:nvSpPr>
          <p:cNvPr id="11" name="">
            <a:extLst xmlns:a="http://schemas.openxmlformats.org/drawingml/2006/main">
              <a:ext uri="{FF2B5EF4-FFF2-40B4-BE49-F238E27FC236}">
                <a16:creationId xmlns:a16="http://schemas.microsoft.com/office/drawing/2014/main" id="{C2BE54CB-843D-4FB2-BE69-4DA5F9DB92BC}"/>
              </a:ext>
            </a:extLst>
          </p:cNvPr>
          <p:cNvSpPr>
            <a:spLocks xmlns:a="http://schemas.openxmlformats.org/drawingml/2006/main" noGrp="1"/>
          </p:cNvSpPr>
          <p:nvPr/>
        </p:nvSpPr>
        <p:spPr>
          <a:xfrm xmlns:a="http://schemas.openxmlformats.org/drawingml/2006/main">
            <a:off x="7581900" y="64008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5B616B"/>
                </a:solidFill>
              </a:defRPr>
            </a:pPr>
            <a:r>
              <a:rPr sz="975" b="0">
                <a:solidFill>
                  <a:srgbClr val="5B616B"/>
                </a:solidFill>
              </a:rPr>
              <a:t>CISC 594 - Final Project Presentation - 14/14</a:t>
            </a:r>
          </a:p>
        </p:txBody>
      </p:sp>
    </p:spTree>
    <p:extLst>
      <p:ext uri="{BB962C8B-B14F-4D97-AF65-F5344CB8AC3E}">
        <p14:creationId xmlns:p14="http://schemas.microsoft.com/office/powerpoint/2010/main" val="1229081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2026-07-21T20:17:49.3300000Z</dcterms:created>
  <dcterms:modified xsi:type="dcterms:W3CDTF">2026-07-21T20:17:49.3300000Z</dcterms:modified>
</coreProperties>
</file>